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52"/>
  </p:notesMasterIdLst>
  <p:handoutMasterIdLst>
    <p:handoutMasterId r:id="rId53"/>
  </p:handoutMasterIdLst>
  <p:sldIdLst>
    <p:sldId id="298" r:id="rId5"/>
    <p:sldId id="297" r:id="rId6"/>
    <p:sldId id="283" r:id="rId7"/>
    <p:sldId id="292" r:id="rId8"/>
    <p:sldId id="335" r:id="rId9"/>
    <p:sldId id="336" r:id="rId10"/>
    <p:sldId id="293" r:id="rId11"/>
    <p:sldId id="299" r:id="rId12"/>
    <p:sldId id="300" r:id="rId13"/>
    <p:sldId id="301" r:id="rId14"/>
    <p:sldId id="302" r:id="rId15"/>
    <p:sldId id="303" r:id="rId16"/>
    <p:sldId id="304" r:id="rId17"/>
    <p:sldId id="305" r:id="rId18"/>
    <p:sldId id="306" r:id="rId19"/>
    <p:sldId id="307" r:id="rId20"/>
    <p:sldId id="339" r:id="rId21"/>
    <p:sldId id="308" r:id="rId22"/>
    <p:sldId id="309" r:id="rId23"/>
    <p:sldId id="310" r:id="rId24"/>
    <p:sldId id="311" r:id="rId25"/>
    <p:sldId id="312" r:id="rId26"/>
    <p:sldId id="313" r:id="rId27"/>
    <p:sldId id="314" r:id="rId28"/>
    <p:sldId id="315" r:id="rId29"/>
    <p:sldId id="316" r:id="rId30"/>
    <p:sldId id="318" r:id="rId31"/>
    <p:sldId id="340" r:id="rId32"/>
    <p:sldId id="317" r:id="rId33"/>
    <p:sldId id="319" r:id="rId34"/>
    <p:sldId id="320" r:id="rId35"/>
    <p:sldId id="321" r:id="rId36"/>
    <p:sldId id="322" r:id="rId37"/>
    <p:sldId id="323" r:id="rId38"/>
    <p:sldId id="324" r:id="rId39"/>
    <p:sldId id="325" r:id="rId40"/>
    <p:sldId id="326" r:id="rId41"/>
    <p:sldId id="327" r:id="rId42"/>
    <p:sldId id="328" r:id="rId43"/>
    <p:sldId id="329" r:id="rId44"/>
    <p:sldId id="330" r:id="rId45"/>
    <p:sldId id="331" r:id="rId46"/>
    <p:sldId id="332" r:id="rId47"/>
    <p:sldId id="333" r:id="rId48"/>
    <p:sldId id="337" r:id="rId49"/>
    <p:sldId id="338" r:id="rId50"/>
    <p:sldId id="296" r:id="rId5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073A0DAA-6AF3-43AB-8588-CEC1D06C72B9}">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712" autoAdjust="0"/>
  </p:normalViewPr>
  <p:slideViewPr>
    <p:cSldViewPr snapToGrid="0">
      <p:cViewPr varScale="1">
        <p:scale>
          <a:sx n="74" d="100"/>
          <a:sy n="74" d="100"/>
        </p:scale>
        <p:origin x="376" y="48"/>
      </p:cViewPr>
      <p:guideLst/>
    </p:cSldViewPr>
  </p:slideViewPr>
  <p:outlineViewPr>
    <p:cViewPr>
      <p:scale>
        <a:sx n="33" d="100"/>
        <a:sy n="33" d="100"/>
      </p:scale>
      <p:origin x="0" y="-942"/>
    </p:cViewPr>
  </p:outlineViewPr>
  <p:notesTextViewPr>
    <p:cViewPr>
      <p:scale>
        <a:sx n="3" d="2"/>
        <a:sy n="3" d="2"/>
      </p:scale>
      <p:origin x="0" y="0"/>
    </p:cViewPr>
  </p:notesTextViewPr>
  <p:sorterViewPr>
    <p:cViewPr>
      <p:scale>
        <a:sx n="75" d="100"/>
        <a:sy n="75" d="100"/>
      </p:scale>
      <p:origin x="0" y="0"/>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viewProps" Target="viewProp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handoutMaster" Target="handoutMasters/handoutMaster1.xml"/><Relationship Id="rId5" Type="http://schemas.openxmlformats.org/officeDocument/2006/relationships/slide" Target="slides/slide1.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theme" Target="theme/theme1.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tableStyles" Target="tableStyles.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12/15/2025</a:t>
            </a:fld>
            <a:endParaRPr lang="en-US"/>
          </a:p>
        </p:txBody>
      </p:sp>
      <p:sp>
        <p:nvSpPr>
          <p:cNvPr id="4" name="Footer Placeholder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t>12/15/2025</a:t>
            </a:fld>
            <a:endParaRPr lang="en-US" noProof="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with Image">
    <p:bg>
      <p:bgPr>
        <a:solidFill>
          <a:schemeClr val="bg1">
            <a:lumMod val="95000"/>
          </a:schemeClr>
        </a:solidFill>
        <a:effectLst/>
      </p:bgPr>
    </p:bg>
    <p:spTree>
      <p:nvGrpSpPr>
        <p:cNvPr id="1" name=""/>
        <p:cNvGrpSpPr/>
        <p:nvPr/>
      </p:nvGrpSpPr>
      <p:grpSpPr>
        <a:xfrm>
          <a:off x="0" y="0"/>
          <a:ext cx="0" cy="0"/>
          <a:chOff x="0" y="0"/>
          <a:chExt cx="0" cy="0"/>
        </a:xfrm>
      </p:grpSpPr>
      <p:sp>
        <p:nvSpPr>
          <p:cNvPr id="41" name="Picture Placeholder 40">
            <a:extLst>
              <a:ext uri="{FF2B5EF4-FFF2-40B4-BE49-F238E27FC236}">
                <a16:creationId xmlns:a16="http://schemas.microsoft.com/office/drawing/2014/main" id="{EB7F0EE8-BE52-4A79-8FC8-4A2487FA01FC}"/>
              </a:ext>
            </a:extLst>
          </p:cNvPr>
          <p:cNvSpPr>
            <a:spLocks noGrp="1"/>
          </p:cNvSpPr>
          <p:nvPr>
            <p:ph type="pic" sz="quarter" idx="10" hasCustomPrompt="1"/>
          </p:nvPr>
        </p:nvSpPr>
        <p:spPr>
          <a:xfrm>
            <a:off x="0" y="0"/>
            <a:ext cx="9780588" cy="6804025"/>
          </a:xfrm>
          <a:solidFill>
            <a:schemeClr val="bg1">
              <a:lumMod val="85000"/>
            </a:schemeClr>
          </a:solidFill>
        </p:spPr>
        <p:txBody>
          <a:bodyPr tIns="1728000" anchor="t"/>
          <a:lstStyle>
            <a:lvl1pPr marL="0" indent="0" algn="ctr">
              <a:buNone/>
              <a:defRPr sz="1200" i="1">
                <a:latin typeface="Times New Roman" panose="02020603050405020304" pitchFamily="18" charset="0"/>
                <a:cs typeface="Times New Roman" panose="02020603050405020304" pitchFamily="18" charset="0"/>
              </a:defRPr>
            </a:lvl1pPr>
          </a:lstStyle>
          <a:p>
            <a:r>
              <a:rPr lang="en-US" noProof="0" dirty="0"/>
              <a:t>Insert or Drag and Drop your Photo Here</a:t>
            </a:r>
          </a:p>
        </p:txBody>
      </p:sp>
      <p:sp>
        <p:nvSpPr>
          <p:cNvPr id="2" name="Title 1">
            <a:extLst>
              <a:ext uri="{FF2B5EF4-FFF2-40B4-BE49-F238E27FC236}">
                <a16:creationId xmlns:a16="http://schemas.microsoft.com/office/drawing/2014/main" id="{00F23EB7-E336-46EB-A4A0-3DB7A6BF4CE1}"/>
              </a:ext>
            </a:extLst>
          </p:cNvPr>
          <p:cNvSpPr>
            <a:spLocks noGrp="1"/>
          </p:cNvSpPr>
          <p:nvPr>
            <p:ph type="ctrTitle" hasCustomPrompt="1"/>
          </p:nvPr>
        </p:nvSpPr>
        <p:spPr>
          <a:xfrm>
            <a:off x="3200400" y="2811053"/>
            <a:ext cx="8991600" cy="1261295"/>
          </a:xfrm>
          <a:solidFill>
            <a:schemeClr val="bg1"/>
          </a:solidFill>
        </p:spPr>
        <p:txBody>
          <a:bodyPr vert="horz" lIns="180000" tIns="180000" rIns="252000" bIns="180000" rtlCol="0" anchor="t">
            <a:noAutofit/>
          </a:bodyPr>
          <a:lstStyle>
            <a:lvl1pPr algn="r">
              <a:defRPr lang="en-ZA" sz="6000" b="1" spc="-300" dirty="0"/>
            </a:lvl1pPr>
          </a:lstStyle>
          <a:p>
            <a:pPr lvl="0" algn="r"/>
            <a:r>
              <a:rPr lang="en-US" noProof="0"/>
              <a:t>Click to edit presentation title</a:t>
            </a:r>
          </a:p>
        </p:txBody>
      </p:sp>
      <p:sp>
        <p:nvSpPr>
          <p:cNvPr id="3" name="Subtitle 2">
            <a:extLst>
              <a:ext uri="{FF2B5EF4-FFF2-40B4-BE49-F238E27FC236}">
                <a16:creationId xmlns:a16="http://schemas.microsoft.com/office/drawing/2014/main" id="{C9980B88-3F4A-4688-9ED0-17EF37E62D93}"/>
              </a:ext>
            </a:extLst>
          </p:cNvPr>
          <p:cNvSpPr>
            <a:spLocks noGrp="1"/>
          </p:cNvSpPr>
          <p:nvPr>
            <p:ph type="subTitle" idx="1"/>
          </p:nvPr>
        </p:nvSpPr>
        <p:spPr>
          <a:xfrm>
            <a:off x="3200400" y="4061039"/>
            <a:ext cx="6580188" cy="580921"/>
          </a:xfrm>
          <a:solidFill>
            <a:schemeClr val="tx1">
              <a:alpha val="80000"/>
            </a:schemeClr>
          </a:solidFill>
        </p:spPr>
        <p:txBody>
          <a:bodyPr vert="horz" lIns="180000" tIns="180000" rIns="180000" bIns="180000" rtlCol="0">
            <a:noAutofit/>
          </a:bodyPr>
          <a:lstStyle>
            <a:lvl1pPr marL="0" indent="0" algn="r">
              <a:buNone/>
              <a:defRPr lang="en-ZA" dirty="0">
                <a:solidFill>
                  <a:schemeClr val="bg1"/>
                </a:solidFill>
              </a:defRPr>
            </a:lvl1pPr>
          </a:lstStyle>
          <a:p>
            <a:pPr marL="266700" lvl="0" indent="-266700" algn="ctr"/>
            <a:r>
              <a:rPr lang="en-US" noProof="0"/>
              <a:t>Click to edit Master subtitle style</a:t>
            </a:r>
          </a:p>
        </p:txBody>
      </p:sp>
      <p:sp>
        <p:nvSpPr>
          <p:cNvPr id="13" name="Rectangle 12">
            <a:extLst>
              <a:ext uri="{FF2B5EF4-FFF2-40B4-BE49-F238E27FC236}">
                <a16:creationId xmlns:a16="http://schemas.microsoft.com/office/drawing/2014/main" id="{EC0FBB1B-4F0E-4365-BF27-3150FC6C3B90}"/>
              </a:ext>
            </a:extLst>
          </p:cNvPr>
          <p:cNvSpPr/>
          <p:nvPr userDrawn="1"/>
        </p:nvSpPr>
        <p:spPr>
          <a:xfrm>
            <a:off x="9780103" y="6803351"/>
            <a:ext cx="1979897" cy="54650"/>
          </a:xfrm>
          <a:prstGeom prst="rect">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4" name="Rectangle 13">
            <a:extLst>
              <a:ext uri="{FF2B5EF4-FFF2-40B4-BE49-F238E27FC236}">
                <a16:creationId xmlns:a16="http://schemas.microsoft.com/office/drawing/2014/main" id="{7A13D8A8-6C3D-4527-959D-41C3213F7F02}"/>
              </a:ext>
            </a:extLst>
          </p:cNvPr>
          <p:cNvSpPr/>
          <p:nvPr userDrawn="1"/>
        </p:nvSpPr>
        <p:spPr>
          <a:xfrm>
            <a:off x="0" y="6803351"/>
            <a:ext cx="9780104" cy="5465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5" name="Rectangle 14">
            <a:extLst>
              <a:ext uri="{FF2B5EF4-FFF2-40B4-BE49-F238E27FC236}">
                <a16:creationId xmlns:a16="http://schemas.microsoft.com/office/drawing/2014/main" id="{9504A767-1C0B-484E-BF7D-CD42D30A52EE}"/>
              </a:ext>
            </a:extLst>
          </p:cNvPr>
          <p:cNvSpPr/>
          <p:nvPr userDrawn="1"/>
        </p:nvSpPr>
        <p:spPr>
          <a:xfrm>
            <a:off x="11760000" y="6803351"/>
            <a:ext cx="432000" cy="5465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Rectangle 7">
            <a:extLst>
              <a:ext uri="{FF2B5EF4-FFF2-40B4-BE49-F238E27FC236}">
                <a16:creationId xmlns:a16="http://schemas.microsoft.com/office/drawing/2014/main" id="{51DD44D8-4A8F-4693-B90A-166855B29D25}"/>
              </a:ext>
            </a:extLst>
          </p:cNvPr>
          <p:cNvSpPr/>
          <p:nvPr userDrawn="1"/>
        </p:nvSpPr>
        <p:spPr>
          <a:xfrm>
            <a:off x="9780588" y="2698612"/>
            <a:ext cx="2411412" cy="114824"/>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Tree>
    <p:extLst>
      <p:ext uri="{BB962C8B-B14F-4D97-AF65-F5344CB8AC3E}">
        <p14:creationId xmlns:p14="http://schemas.microsoft.com/office/powerpoint/2010/main" val="133403843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Divider Slide 1">
    <p:bg>
      <p:bgPr>
        <a:solidFill>
          <a:schemeClr val="bg1">
            <a:lumMod val="95000"/>
          </a:schemeClr>
        </a:solidFill>
        <a:effectLst/>
      </p:bgPr>
    </p:bg>
    <p:spTree>
      <p:nvGrpSpPr>
        <p:cNvPr id="1" name=""/>
        <p:cNvGrpSpPr/>
        <p:nvPr/>
      </p:nvGrpSpPr>
      <p:grpSpPr>
        <a:xfrm>
          <a:off x="0" y="0"/>
          <a:ext cx="0" cy="0"/>
          <a:chOff x="0" y="0"/>
          <a:chExt cx="0" cy="0"/>
        </a:xfrm>
      </p:grpSpPr>
      <p:sp>
        <p:nvSpPr>
          <p:cNvPr id="41" name="Picture Placeholder 40">
            <a:extLst>
              <a:ext uri="{FF2B5EF4-FFF2-40B4-BE49-F238E27FC236}">
                <a16:creationId xmlns:a16="http://schemas.microsoft.com/office/drawing/2014/main" id="{EB7F0EE8-BE52-4A79-8FC8-4A2487FA01FC}"/>
              </a:ext>
            </a:extLst>
          </p:cNvPr>
          <p:cNvSpPr>
            <a:spLocks noGrp="1"/>
          </p:cNvSpPr>
          <p:nvPr>
            <p:ph type="pic" sz="quarter" idx="10" hasCustomPrompt="1"/>
          </p:nvPr>
        </p:nvSpPr>
        <p:spPr>
          <a:xfrm>
            <a:off x="0" y="0"/>
            <a:ext cx="9780588" cy="6371351"/>
          </a:xfrm>
          <a:solidFill>
            <a:schemeClr val="bg1">
              <a:lumMod val="85000"/>
            </a:schemeClr>
          </a:solidFill>
        </p:spPr>
        <p:txBody>
          <a:bodyPr anchor="ctr"/>
          <a:lstStyle>
            <a:lvl1pPr marL="0" indent="0" algn="ctr">
              <a:buNone/>
              <a:defRPr sz="1200" i="1">
                <a:latin typeface="Times New Roman" panose="02020603050405020304" pitchFamily="18" charset="0"/>
                <a:cs typeface="Times New Roman" panose="02020603050405020304" pitchFamily="18" charset="0"/>
              </a:defRPr>
            </a:lvl1pPr>
          </a:lstStyle>
          <a:p>
            <a:r>
              <a:rPr lang="en-US" noProof="0" dirty="0"/>
              <a:t>Insert or Drag and Drop </a:t>
            </a:r>
            <a:br>
              <a:rPr lang="en-US" noProof="0" dirty="0"/>
            </a:br>
            <a:r>
              <a:rPr lang="en-US" noProof="0" dirty="0"/>
              <a:t>your Photo Here</a:t>
            </a:r>
          </a:p>
        </p:txBody>
      </p:sp>
      <p:sp>
        <p:nvSpPr>
          <p:cNvPr id="2" name="Title 1">
            <a:extLst>
              <a:ext uri="{FF2B5EF4-FFF2-40B4-BE49-F238E27FC236}">
                <a16:creationId xmlns:a16="http://schemas.microsoft.com/office/drawing/2014/main" id="{00F23EB7-E336-46EB-A4A0-3DB7A6BF4CE1}"/>
              </a:ext>
            </a:extLst>
          </p:cNvPr>
          <p:cNvSpPr>
            <a:spLocks noGrp="1"/>
          </p:cNvSpPr>
          <p:nvPr>
            <p:ph type="ctrTitle" hasCustomPrompt="1"/>
          </p:nvPr>
        </p:nvSpPr>
        <p:spPr>
          <a:xfrm>
            <a:off x="6235700" y="2204792"/>
            <a:ext cx="5956300" cy="1944000"/>
          </a:xfrm>
          <a:solidFill>
            <a:schemeClr val="bg1"/>
          </a:solidFill>
        </p:spPr>
        <p:txBody>
          <a:bodyPr vert="horz" lIns="180000" tIns="180000" rIns="252000" bIns="180000" rtlCol="0" anchor="t">
            <a:noAutofit/>
          </a:bodyPr>
          <a:lstStyle>
            <a:lvl1pPr algn="r">
              <a:defRPr lang="en-ZA" sz="6000" b="1" spc="-300" dirty="0"/>
            </a:lvl1pPr>
          </a:lstStyle>
          <a:p>
            <a:pPr lvl="0" algn="r"/>
            <a:r>
              <a:rPr lang="en-US" noProof="0"/>
              <a:t>Click to edit section divider</a:t>
            </a:r>
          </a:p>
        </p:txBody>
      </p:sp>
      <p:sp>
        <p:nvSpPr>
          <p:cNvPr id="7" name="Subtitle 2">
            <a:extLst>
              <a:ext uri="{FF2B5EF4-FFF2-40B4-BE49-F238E27FC236}">
                <a16:creationId xmlns:a16="http://schemas.microsoft.com/office/drawing/2014/main" id="{9E4D4535-D519-40ED-B8A4-2EA1276BB652}"/>
              </a:ext>
            </a:extLst>
          </p:cNvPr>
          <p:cNvSpPr>
            <a:spLocks noGrp="1"/>
          </p:cNvSpPr>
          <p:nvPr>
            <p:ph type="body" sz="quarter" idx="13" hasCustomPrompt="1"/>
          </p:nvPr>
        </p:nvSpPr>
        <p:spPr>
          <a:xfrm>
            <a:off x="6235700" y="4148860"/>
            <a:ext cx="5956300" cy="1100565"/>
          </a:xfrm>
          <a:solidFill>
            <a:schemeClr val="tx1">
              <a:alpha val="80000"/>
            </a:schemeClr>
          </a:solidFill>
        </p:spPr>
        <p:txBody>
          <a:bodyPr lIns="180000" tIns="180000" rIns="252000" bIns="180000"/>
          <a:lstStyle>
            <a:lvl1pPr marL="0" indent="0" algn="r">
              <a:buNone/>
              <a:defRPr sz="1800">
                <a:solidFill>
                  <a:schemeClr val="bg1"/>
                </a:solidFill>
              </a:defRPr>
            </a:lvl1pPr>
            <a:lvl2pPr marL="266700" indent="0" algn="r">
              <a:buNone/>
              <a:defRPr sz="1800">
                <a:solidFill>
                  <a:schemeClr val="bg1"/>
                </a:solidFill>
              </a:defRPr>
            </a:lvl2pPr>
            <a:lvl3pPr marL="542925" indent="0" algn="r">
              <a:buNone/>
              <a:defRPr sz="1800">
                <a:solidFill>
                  <a:schemeClr val="bg1"/>
                </a:solidFill>
              </a:defRPr>
            </a:lvl3pPr>
            <a:lvl4pPr marL="809625" indent="0" algn="r">
              <a:buNone/>
              <a:defRPr sz="1800">
                <a:solidFill>
                  <a:schemeClr val="bg1"/>
                </a:solidFill>
              </a:defRPr>
            </a:lvl4pPr>
            <a:lvl5pPr marL="1076325" indent="0" algn="r">
              <a:buNone/>
              <a:defRPr sz="1800">
                <a:solidFill>
                  <a:schemeClr val="bg1"/>
                </a:solidFill>
              </a:defRPr>
            </a:lvl5pPr>
          </a:lstStyle>
          <a:p>
            <a:pPr lvl="0"/>
            <a:r>
              <a:rPr lang="en-US" noProof="0"/>
              <a:t>Click to edit Master subtitle style</a:t>
            </a:r>
          </a:p>
        </p:txBody>
      </p:sp>
      <p:sp>
        <p:nvSpPr>
          <p:cNvPr id="4" name="Footer Placeholder 3">
            <a:extLst>
              <a:ext uri="{FF2B5EF4-FFF2-40B4-BE49-F238E27FC236}">
                <a16:creationId xmlns:a16="http://schemas.microsoft.com/office/drawing/2014/main" id="{6816FE98-6A12-44EC-8485-8B5EFABDF9B2}"/>
              </a:ext>
            </a:extLst>
          </p:cNvPr>
          <p:cNvSpPr>
            <a:spLocks noGrp="1"/>
          </p:cNvSpPr>
          <p:nvPr>
            <p:ph type="ftr" sz="quarter" idx="11"/>
          </p:nvPr>
        </p:nvSpPr>
        <p:spPr/>
        <p:txBody>
          <a:bodyPr/>
          <a:lstStyle/>
          <a:p>
            <a:r>
              <a:rPr lang="en-US" noProof="0" dirty="0"/>
              <a:t>Add a footer</a:t>
            </a:r>
          </a:p>
        </p:txBody>
      </p:sp>
      <p:sp>
        <p:nvSpPr>
          <p:cNvPr id="8" name="Rectangle 7">
            <a:extLst>
              <a:ext uri="{FF2B5EF4-FFF2-40B4-BE49-F238E27FC236}">
                <a16:creationId xmlns:a16="http://schemas.microsoft.com/office/drawing/2014/main" id="{51DD44D8-4A8F-4693-B90A-166855B29D25}"/>
              </a:ext>
            </a:extLst>
          </p:cNvPr>
          <p:cNvSpPr/>
          <p:nvPr userDrawn="1"/>
        </p:nvSpPr>
        <p:spPr>
          <a:xfrm>
            <a:off x="9780588" y="5247782"/>
            <a:ext cx="2411412" cy="114824"/>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3" name="Rectangle 12">
            <a:extLst>
              <a:ext uri="{FF2B5EF4-FFF2-40B4-BE49-F238E27FC236}">
                <a16:creationId xmlns:a16="http://schemas.microsoft.com/office/drawing/2014/main" id="{EC0FBB1B-4F0E-4365-BF27-3150FC6C3B90}"/>
              </a:ext>
            </a:extLst>
          </p:cNvPr>
          <p:cNvSpPr/>
          <p:nvPr userDrawn="1"/>
        </p:nvSpPr>
        <p:spPr>
          <a:xfrm>
            <a:off x="9780103" y="6803351"/>
            <a:ext cx="1979897" cy="54650"/>
          </a:xfrm>
          <a:prstGeom prst="rect">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4" name="Rectangle 13">
            <a:extLst>
              <a:ext uri="{FF2B5EF4-FFF2-40B4-BE49-F238E27FC236}">
                <a16:creationId xmlns:a16="http://schemas.microsoft.com/office/drawing/2014/main" id="{7A13D8A8-6C3D-4527-959D-41C3213F7F02}"/>
              </a:ext>
            </a:extLst>
          </p:cNvPr>
          <p:cNvSpPr/>
          <p:nvPr userDrawn="1"/>
        </p:nvSpPr>
        <p:spPr>
          <a:xfrm>
            <a:off x="0" y="6803351"/>
            <a:ext cx="9780104" cy="5465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5" name="Rectangle 14">
            <a:extLst>
              <a:ext uri="{FF2B5EF4-FFF2-40B4-BE49-F238E27FC236}">
                <a16:creationId xmlns:a16="http://schemas.microsoft.com/office/drawing/2014/main" id="{9504A767-1C0B-484E-BF7D-CD42D30A52EE}"/>
              </a:ext>
            </a:extLst>
          </p:cNvPr>
          <p:cNvSpPr/>
          <p:nvPr userDrawn="1"/>
        </p:nvSpPr>
        <p:spPr>
          <a:xfrm>
            <a:off x="11760000" y="6803351"/>
            <a:ext cx="432000" cy="5465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F50EF489-F21B-4E7C-9A44-D3CC8DC34F5F}"/>
              </a:ext>
            </a:extLst>
          </p:cNvPr>
          <p:cNvSpPr>
            <a:spLocks noGrp="1"/>
          </p:cNvSpPr>
          <p:nvPr>
            <p:ph type="sldNum" sz="quarter" idx="12"/>
          </p:nvPr>
        </p:nvSpPr>
        <p:spPr/>
        <p:txBody>
          <a:bodyPr/>
          <a:lstStyle/>
          <a:p>
            <a:fld id="{19B51A1E-902D-48AF-9020-955120F399B6}" type="slidenum">
              <a:rPr lang="en-US" noProof="0" smtClean="0"/>
              <a:pPr/>
              <a:t>‹#›</a:t>
            </a:fld>
            <a:endParaRPr lang="en-US" noProof="0" dirty="0"/>
          </a:p>
        </p:txBody>
      </p:sp>
    </p:spTree>
    <p:extLst>
      <p:ext uri="{BB962C8B-B14F-4D97-AF65-F5344CB8AC3E}">
        <p14:creationId xmlns:p14="http://schemas.microsoft.com/office/powerpoint/2010/main" val="243715903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Divier Slide 2">
    <p:bg>
      <p:bgPr>
        <a:solidFill>
          <a:schemeClr val="tx1">
            <a:lumMod val="75000"/>
            <a:lumOff val="25000"/>
          </a:schemeClr>
        </a:solidFill>
        <a:effectLst/>
      </p:bgPr>
    </p:bg>
    <p:spTree>
      <p:nvGrpSpPr>
        <p:cNvPr id="1" name=""/>
        <p:cNvGrpSpPr/>
        <p:nvPr/>
      </p:nvGrpSpPr>
      <p:grpSpPr>
        <a:xfrm>
          <a:off x="0" y="0"/>
          <a:ext cx="0" cy="0"/>
          <a:chOff x="0" y="0"/>
          <a:chExt cx="0" cy="0"/>
        </a:xfrm>
      </p:grpSpPr>
      <p:sp>
        <p:nvSpPr>
          <p:cNvPr id="41" name="Picture Placeholder 40">
            <a:extLst>
              <a:ext uri="{FF2B5EF4-FFF2-40B4-BE49-F238E27FC236}">
                <a16:creationId xmlns:a16="http://schemas.microsoft.com/office/drawing/2014/main" id="{EB7F0EE8-BE52-4A79-8FC8-4A2487FA01FC}"/>
              </a:ext>
            </a:extLst>
          </p:cNvPr>
          <p:cNvSpPr>
            <a:spLocks noGrp="1"/>
          </p:cNvSpPr>
          <p:nvPr>
            <p:ph type="pic" sz="quarter" idx="10" hasCustomPrompt="1"/>
          </p:nvPr>
        </p:nvSpPr>
        <p:spPr>
          <a:xfrm>
            <a:off x="2411412" y="0"/>
            <a:ext cx="9780588" cy="6371351"/>
          </a:xfrm>
          <a:solidFill>
            <a:schemeClr val="bg1">
              <a:lumMod val="85000"/>
            </a:schemeClr>
          </a:solidFill>
        </p:spPr>
        <p:txBody>
          <a:bodyPr anchor="ctr"/>
          <a:lstStyle>
            <a:lvl1pPr marL="0" indent="0" algn="ctr">
              <a:buNone/>
              <a:defRPr sz="1200" i="1">
                <a:latin typeface="Times New Roman" panose="02020603050405020304" pitchFamily="18" charset="0"/>
                <a:cs typeface="Times New Roman" panose="02020603050405020304" pitchFamily="18" charset="0"/>
              </a:defRPr>
            </a:lvl1pPr>
          </a:lstStyle>
          <a:p>
            <a:r>
              <a:rPr lang="en-US" noProof="0" dirty="0"/>
              <a:t>Insert or Drag and Drop </a:t>
            </a:r>
            <a:br>
              <a:rPr lang="en-US" noProof="0" dirty="0"/>
            </a:br>
            <a:r>
              <a:rPr lang="en-US" noProof="0" dirty="0"/>
              <a:t>your Photo Here</a:t>
            </a:r>
          </a:p>
        </p:txBody>
      </p:sp>
      <p:sp>
        <p:nvSpPr>
          <p:cNvPr id="3" name="Title 1">
            <a:extLst>
              <a:ext uri="{FF2B5EF4-FFF2-40B4-BE49-F238E27FC236}">
                <a16:creationId xmlns:a16="http://schemas.microsoft.com/office/drawing/2014/main" id="{E473AB13-DFF9-4538-9907-E261659E0E01}"/>
              </a:ext>
            </a:extLst>
          </p:cNvPr>
          <p:cNvSpPr>
            <a:spLocks noGrp="1"/>
          </p:cNvSpPr>
          <p:nvPr>
            <p:ph type="title" hasCustomPrompt="1"/>
          </p:nvPr>
        </p:nvSpPr>
        <p:spPr>
          <a:xfrm>
            <a:off x="-1700" y="2156226"/>
            <a:ext cx="5958000" cy="1958400"/>
          </a:xfrm>
          <a:solidFill>
            <a:schemeClr val="bg1"/>
          </a:solidFill>
        </p:spPr>
        <p:txBody>
          <a:bodyPr lIns="252000" tIns="180000" rIns="180000" bIns="180000"/>
          <a:lstStyle>
            <a:lvl1pPr>
              <a:defRPr sz="6000" b="1" spc="-300">
                <a:solidFill>
                  <a:schemeClr val="tx1">
                    <a:lumMod val="75000"/>
                    <a:lumOff val="25000"/>
                  </a:schemeClr>
                </a:solidFill>
                <a:latin typeface="+mj-lt"/>
              </a:defRPr>
            </a:lvl1pPr>
          </a:lstStyle>
          <a:p>
            <a:r>
              <a:rPr lang="en-US" noProof="0"/>
              <a:t>Click to edit section divider</a:t>
            </a:r>
          </a:p>
        </p:txBody>
      </p:sp>
      <p:sp>
        <p:nvSpPr>
          <p:cNvPr id="7" name="Subtitle 2">
            <a:extLst>
              <a:ext uri="{FF2B5EF4-FFF2-40B4-BE49-F238E27FC236}">
                <a16:creationId xmlns:a16="http://schemas.microsoft.com/office/drawing/2014/main" id="{9E4D4535-D519-40ED-B8A4-2EA1276BB652}"/>
              </a:ext>
            </a:extLst>
          </p:cNvPr>
          <p:cNvSpPr>
            <a:spLocks noGrp="1"/>
          </p:cNvSpPr>
          <p:nvPr>
            <p:ph type="body" sz="quarter" idx="13" hasCustomPrompt="1"/>
          </p:nvPr>
        </p:nvSpPr>
        <p:spPr>
          <a:xfrm>
            <a:off x="0" y="4110760"/>
            <a:ext cx="5956300" cy="1100565"/>
          </a:xfrm>
          <a:solidFill>
            <a:schemeClr val="tx1">
              <a:alpha val="80000"/>
            </a:schemeClr>
          </a:solidFill>
        </p:spPr>
        <p:txBody>
          <a:bodyPr lIns="252000" tIns="180000" rIns="180000" bIns="180000"/>
          <a:lstStyle>
            <a:lvl1pPr marL="0" indent="0" algn="l">
              <a:buNone/>
              <a:defRPr sz="1800">
                <a:solidFill>
                  <a:schemeClr val="bg1"/>
                </a:solidFill>
              </a:defRPr>
            </a:lvl1pPr>
            <a:lvl2pPr marL="266700" indent="0" algn="r">
              <a:buNone/>
              <a:defRPr sz="1800">
                <a:solidFill>
                  <a:schemeClr val="bg1"/>
                </a:solidFill>
              </a:defRPr>
            </a:lvl2pPr>
            <a:lvl3pPr marL="542925" indent="0" algn="r">
              <a:buNone/>
              <a:defRPr sz="1800">
                <a:solidFill>
                  <a:schemeClr val="bg1"/>
                </a:solidFill>
              </a:defRPr>
            </a:lvl3pPr>
            <a:lvl4pPr marL="809625" indent="0" algn="r">
              <a:buNone/>
              <a:defRPr sz="1800">
                <a:solidFill>
                  <a:schemeClr val="bg1"/>
                </a:solidFill>
              </a:defRPr>
            </a:lvl4pPr>
            <a:lvl5pPr marL="1076325" indent="0" algn="r">
              <a:buNone/>
              <a:defRPr sz="1800">
                <a:solidFill>
                  <a:schemeClr val="bg1"/>
                </a:solidFill>
              </a:defRPr>
            </a:lvl5pPr>
          </a:lstStyle>
          <a:p>
            <a:pPr lvl="0"/>
            <a:r>
              <a:rPr lang="en-US" noProof="0"/>
              <a:t>Click to edit Master subtitle style</a:t>
            </a:r>
          </a:p>
        </p:txBody>
      </p:sp>
      <p:sp>
        <p:nvSpPr>
          <p:cNvPr id="4" name="Footer Placeholder 3">
            <a:extLst>
              <a:ext uri="{FF2B5EF4-FFF2-40B4-BE49-F238E27FC236}">
                <a16:creationId xmlns:a16="http://schemas.microsoft.com/office/drawing/2014/main" id="{6816FE98-6A12-44EC-8485-8B5EFABDF9B2}"/>
              </a:ext>
            </a:extLst>
          </p:cNvPr>
          <p:cNvSpPr>
            <a:spLocks noGrp="1"/>
          </p:cNvSpPr>
          <p:nvPr>
            <p:ph type="ftr" sz="quarter" idx="11"/>
          </p:nvPr>
        </p:nvSpPr>
        <p:spPr/>
        <p:txBody>
          <a:bodyPr/>
          <a:lstStyle/>
          <a:p>
            <a:r>
              <a:rPr lang="en-US" noProof="0" dirty="0"/>
              <a:t>Add a footer</a:t>
            </a:r>
          </a:p>
        </p:txBody>
      </p:sp>
      <p:sp>
        <p:nvSpPr>
          <p:cNvPr id="8" name="Rectangle 7">
            <a:extLst>
              <a:ext uri="{FF2B5EF4-FFF2-40B4-BE49-F238E27FC236}">
                <a16:creationId xmlns:a16="http://schemas.microsoft.com/office/drawing/2014/main" id="{51DD44D8-4A8F-4693-B90A-166855B29D25}"/>
              </a:ext>
            </a:extLst>
          </p:cNvPr>
          <p:cNvSpPr/>
          <p:nvPr userDrawn="1"/>
        </p:nvSpPr>
        <p:spPr>
          <a:xfrm>
            <a:off x="0" y="5209682"/>
            <a:ext cx="2411412" cy="11482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noProof="0" dirty="0"/>
          </a:p>
        </p:txBody>
      </p:sp>
      <p:sp>
        <p:nvSpPr>
          <p:cNvPr id="13" name="Rectangle 12">
            <a:extLst>
              <a:ext uri="{FF2B5EF4-FFF2-40B4-BE49-F238E27FC236}">
                <a16:creationId xmlns:a16="http://schemas.microsoft.com/office/drawing/2014/main" id="{EC0FBB1B-4F0E-4365-BF27-3150FC6C3B90}"/>
              </a:ext>
            </a:extLst>
          </p:cNvPr>
          <p:cNvSpPr/>
          <p:nvPr userDrawn="1"/>
        </p:nvSpPr>
        <p:spPr>
          <a:xfrm>
            <a:off x="9780103" y="6803351"/>
            <a:ext cx="1979897" cy="54650"/>
          </a:xfrm>
          <a:prstGeom prst="rect">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4" name="Rectangle 13">
            <a:extLst>
              <a:ext uri="{FF2B5EF4-FFF2-40B4-BE49-F238E27FC236}">
                <a16:creationId xmlns:a16="http://schemas.microsoft.com/office/drawing/2014/main" id="{7A13D8A8-6C3D-4527-959D-41C3213F7F02}"/>
              </a:ext>
            </a:extLst>
          </p:cNvPr>
          <p:cNvSpPr/>
          <p:nvPr userDrawn="1"/>
        </p:nvSpPr>
        <p:spPr>
          <a:xfrm>
            <a:off x="0" y="6803351"/>
            <a:ext cx="9780104" cy="5465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5" name="Rectangle 14">
            <a:extLst>
              <a:ext uri="{FF2B5EF4-FFF2-40B4-BE49-F238E27FC236}">
                <a16:creationId xmlns:a16="http://schemas.microsoft.com/office/drawing/2014/main" id="{9504A767-1C0B-484E-BF7D-CD42D30A52EE}"/>
              </a:ext>
            </a:extLst>
          </p:cNvPr>
          <p:cNvSpPr/>
          <p:nvPr userDrawn="1"/>
        </p:nvSpPr>
        <p:spPr>
          <a:xfrm>
            <a:off x="11760000" y="6803351"/>
            <a:ext cx="432000" cy="5465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F50EF489-F21B-4E7C-9A44-D3CC8DC34F5F}"/>
              </a:ext>
            </a:extLst>
          </p:cNvPr>
          <p:cNvSpPr>
            <a:spLocks noGrp="1"/>
          </p:cNvSpPr>
          <p:nvPr>
            <p:ph type="sldNum" sz="quarter" idx="12"/>
          </p:nvPr>
        </p:nvSpPr>
        <p:spPr/>
        <p:txBody>
          <a:bodyPr/>
          <a:lstStyle/>
          <a:p>
            <a:fld id="{19B51A1E-902D-48AF-9020-955120F399B6}" type="slidenum">
              <a:rPr lang="en-US" noProof="0" smtClean="0"/>
              <a:pPr/>
              <a:t>‹#›</a:t>
            </a:fld>
            <a:endParaRPr lang="en-US" noProof="0" dirty="0"/>
          </a:p>
        </p:txBody>
      </p:sp>
    </p:spTree>
    <p:extLst>
      <p:ext uri="{BB962C8B-B14F-4D97-AF65-F5344CB8AC3E}">
        <p14:creationId xmlns:p14="http://schemas.microsoft.com/office/powerpoint/2010/main" val="228285856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ext Image Layout 1">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890ED7CE-A9D2-4D19-B978-56BFB74E657C}"/>
              </a:ext>
            </a:extLst>
          </p:cNvPr>
          <p:cNvSpPr>
            <a:spLocks noGrp="1"/>
          </p:cNvSpPr>
          <p:nvPr>
            <p:ph type="pic" sz="quarter" idx="14" hasCustomPrompt="1"/>
          </p:nvPr>
        </p:nvSpPr>
        <p:spPr>
          <a:xfrm>
            <a:off x="6096000" y="-1"/>
            <a:ext cx="6096000" cy="6371351"/>
          </a:xfrm>
          <a:solidFill>
            <a:schemeClr val="bg1">
              <a:lumMod val="95000"/>
            </a:schemeClr>
          </a:solidFill>
        </p:spPr>
        <p:txBody>
          <a:bodyPr tIns="1584000" anchor="t"/>
          <a:lstStyle>
            <a:lvl1pPr marL="0" indent="0" algn="ctr">
              <a:buNone/>
              <a:defRPr sz="1200" i="1">
                <a:latin typeface="Times New Roman" panose="02020603050405020304" pitchFamily="18" charset="0"/>
                <a:cs typeface="Times New Roman" panose="02020603050405020304" pitchFamily="18" charset="0"/>
              </a:defRPr>
            </a:lvl1pPr>
          </a:lstStyle>
          <a:p>
            <a:r>
              <a:rPr lang="en-US" noProof="0" dirty="0"/>
              <a:t>Insert or Drag &amp; Drop your photo</a:t>
            </a:r>
          </a:p>
        </p:txBody>
      </p:sp>
      <p:sp>
        <p:nvSpPr>
          <p:cNvPr id="2" name="Title 1">
            <a:extLst>
              <a:ext uri="{FF2B5EF4-FFF2-40B4-BE49-F238E27FC236}">
                <a16:creationId xmlns:a16="http://schemas.microsoft.com/office/drawing/2014/main" id="{40EE479C-D1F6-4BAC-80D2-90EF74E3261A}"/>
              </a:ext>
            </a:extLst>
          </p:cNvPr>
          <p:cNvSpPr>
            <a:spLocks noGrp="1"/>
          </p:cNvSpPr>
          <p:nvPr>
            <p:ph type="title" hasCustomPrompt="1"/>
          </p:nvPr>
        </p:nvSpPr>
        <p:spPr>
          <a:xfrm>
            <a:off x="7111800" y="3802899"/>
            <a:ext cx="4648200" cy="985000"/>
          </a:xfrm>
          <a:solidFill>
            <a:schemeClr val="bg1"/>
          </a:solidFill>
        </p:spPr>
        <p:txBody>
          <a:bodyPr lIns="180000" tIns="180000" rIns="180000" bIns="180000"/>
          <a:lstStyle>
            <a:lvl1pPr algn="r">
              <a:defRPr sz="6000" b="1" spc="-300">
                <a:solidFill>
                  <a:schemeClr val="tx1">
                    <a:lumMod val="75000"/>
                    <a:lumOff val="25000"/>
                  </a:schemeClr>
                </a:solidFill>
              </a:defRPr>
            </a:lvl1pPr>
          </a:lstStyle>
          <a:p>
            <a:r>
              <a:rPr lang="en-US" noProof="0"/>
              <a:t>Edit page title</a:t>
            </a:r>
          </a:p>
        </p:txBody>
      </p:sp>
      <p:sp>
        <p:nvSpPr>
          <p:cNvPr id="10" name="Subtitle 2">
            <a:extLst>
              <a:ext uri="{FF2B5EF4-FFF2-40B4-BE49-F238E27FC236}">
                <a16:creationId xmlns:a16="http://schemas.microsoft.com/office/drawing/2014/main" id="{3FAEED1D-0E66-4F74-9455-675F5CB7EAD4}"/>
              </a:ext>
            </a:extLst>
          </p:cNvPr>
          <p:cNvSpPr>
            <a:spLocks noGrp="1"/>
          </p:cNvSpPr>
          <p:nvPr>
            <p:ph type="body" sz="quarter" idx="32" hasCustomPrompt="1"/>
          </p:nvPr>
        </p:nvSpPr>
        <p:spPr>
          <a:xfrm>
            <a:off x="7111800" y="4787900"/>
            <a:ext cx="4648200" cy="1162800"/>
          </a:xfrm>
          <a:solidFill>
            <a:schemeClr val="tx1">
              <a:alpha val="80000"/>
            </a:schemeClr>
          </a:solidFill>
        </p:spPr>
        <p:txBody>
          <a:bodyPr lIns="180000" tIns="180000" rIns="180000" bIns="180000"/>
          <a:lstStyle>
            <a:lvl1pPr marL="0" indent="0" algn="r">
              <a:buNone/>
              <a:defRPr>
                <a:solidFill>
                  <a:schemeClr val="bg1"/>
                </a:solidFill>
              </a:defRPr>
            </a:lvl1pPr>
            <a:lvl2pPr marL="266700" indent="0">
              <a:buNone/>
              <a:defRPr/>
            </a:lvl2pPr>
            <a:lvl3pPr marL="542925" indent="0">
              <a:buNone/>
              <a:defRPr/>
            </a:lvl3pPr>
            <a:lvl4pPr marL="809625" indent="0">
              <a:buNone/>
              <a:defRPr/>
            </a:lvl4pPr>
            <a:lvl5pPr marL="1076325" indent="0">
              <a:buNone/>
              <a:defRPr/>
            </a:lvl5pPr>
          </a:lstStyle>
          <a:p>
            <a:pPr lvl="0"/>
            <a:r>
              <a:rPr lang="en-US" noProof="0"/>
              <a:t>Subtitle</a:t>
            </a:r>
          </a:p>
        </p:txBody>
      </p:sp>
      <p:sp>
        <p:nvSpPr>
          <p:cNvPr id="3" name="Content Placeholder 2">
            <a:extLst>
              <a:ext uri="{FF2B5EF4-FFF2-40B4-BE49-F238E27FC236}">
                <a16:creationId xmlns:a16="http://schemas.microsoft.com/office/drawing/2014/main" id="{A22238F2-C6EC-476F-8371-119AECBA5622}"/>
              </a:ext>
            </a:extLst>
          </p:cNvPr>
          <p:cNvSpPr>
            <a:spLocks noGrp="1"/>
          </p:cNvSpPr>
          <p:nvPr>
            <p:ph sz="half" idx="1"/>
          </p:nvPr>
        </p:nvSpPr>
        <p:spPr>
          <a:xfrm>
            <a:off x="432000" y="2668686"/>
            <a:ext cx="5472000" cy="2999426"/>
          </a:xfrm>
        </p:spPr>
        <p:txBody>
          <a:bodyPr anchor="b"/>
          <a:lstStyle>
            <a:lvl1pPr>
              <a:defRPr>
                <a:solidFill>
                  <a:schemeClr val="tx1">
                    <a:lumMod val="75000"/>
                    <a:lumOff val="25000"/>
                  </a:schemeClr>
                </a:solidFill>
              </a:defRPr>
            </a:lvl1pPr>
            <a:lvl2pPr>
              <a:defRPr>
                <a:solidFill>
                  <a:schemeClr val="tx1">
                    <a:lumMod val="75000"/>
                    <a:lumOff val="25000"/>
                  </a:schemeClr>
                </a:solidFill>
              </a:defRPr>
            </a:lvl2pPr>
            <a:lvl3pPr>
              <a:defRPr>
                <a:solidFill>
                  <a:schemeClr val="tx1">
                    <a:lumMod val="75000"/>
                    <a:lumOff val="25000"/>
                  </a:schemeClr>
                </a:solidFill>
              </a:defRPr>
            </a:lvl3pPr>
            <a:lvl4pPr>
              <a:defRPr>
                <a:solidFill>
                  <a:schemeClr val="tx1">
                    <a:lumMod val="75000"/>
                    <a:lumOff val="25000"/>
                  </a:schemeClr>
                </a:solidFill>
              </a:defRPr>
            </a:lvl4pPr>
            <a:lvl5pPr>
              <a:defRPr>
                <a:solidFill>
                  <a:schemeClr val="tx1">
                    <a:lumMod val="75000"/>
                    <a:lumOff val="25000"/>
                  </a:schemeClr>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4" name="Footer Placeholder 3">
            <a:extLst>
              <a:ext uri="{FF2B5EF4-FFF2-40B4-BE49-F238E27FC236}">
                <a16:creationId xmlns:a16="http://schemas.microsoft.com/office/drawing/2014/main" id="{57847F90-9DB6-4832-9EB7-393AADAE8B70}"/>
              </a:ext>
            </a:extLst>
          </p:cNvPr>
          <p:cNvSpPr>
            <a:spLocks noGrp="1"/>
          </p:cNvSpPr>
          <p:nvPr>
            <p:ph type="ftr" sz="quarter" idx="13"/>
          </p:nvPr>
        </p:nvSpPr>
        <p:spPr/>
        <p:txBody>
          <a:bodyPr/>
          <a:lstStyle/>
          <a:p>
            <a:r>
              <a:rPr lang="en-US" noProof="0" dirty="0"/>
              <a:t>Add a footer</a:t>
            </a:r>
          </a:p>
        </p:txBody>
      </p:sp>
      <p:sp>
        <p:nvSpPr>
          <p:cNvPr id="5" name="Slide Number Placeholder 4">
            <a:extLst>
              <a:ext uri="{FF2B5EF4-FFF2-40B4-BE49-F238E27FC236}">
                <a16:creationId xmlns:a16="http://schemas.microsoft.com/office/drawing/2014/main" id="{0505ED12-A431-4761-87A4-F05164BE0221}"/>
              </a:ext>
            </a:extLst>
          </p:cNvPr>
          <p:cNvSpPr>
            <a:spLocks noGrp="1"/>
          </p:cNvSpPr>
          <p:nvPr>
            <p:ph type="sldNum" sz="quarter" idx="33"/>
          </p:nvPr>
        </p:nvSpPr>
        <p:spPr/>
        <p:txBody>
          <a:bodyPr/>
          <a:lstStyle/>
          <a:p>
            <a:fld id="{19B51A1E-902D-48AF-9020-955120F399B6}" type="slidenum">
              <a:rPr lang="en-US" noProof="0" smtClean="0"/>
              <a:pPr/>
              <a:t>‹#›</a:t>
            </a:fld>
            <a:endParaRPr lang="en-US" noProof="0" dirty="0"/>
          </a:p>
        </p:txBody>
      </p:sp>
      <p:sp>
        <p:nvSpPr>
          <p:cNvPr id="8" name="Rectangle 7">
            <a:extLst>
              <a:ext uri="{FF2B5EF4-FFF2-40B4-BE49-F238E27FC236}">
                <a16:creationId xmlns:a16="http://schemas.microsoft.com/office/drawing/2014/main" id="{1508F53F-6AA2-4060-904A-BC90211DC043}"/>
              </a:ext>
            </a:extLst>
          </p:cNvPr>
          <p:cNvSpPr/>
          <p:nvPr userDrawn="1"/>
        </p:nvSpPr>
        <p:spPr>
          <a:xfrm>
            <a:off x="9348588" y="3700775"/>
            <a:ext cx="2411412" cy="11482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noProof="0" dirty="0"/>
          </a:p>
        </p:txBody>
      </p:sp>
    </p:spTree>
    <p:extLst>
      <p:ext uri="{BB962C8B-B14F-4D97-AF65-F5344CB8AC3E}">
        <p14:creationId xmlns:p14="http://schemas.microsoft.com/office/powerpoint/2010/main" val="135010399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ext Image Layout 2">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890ED7CE-A9D2-4D19-B978-56BFB74E657C}"/>
              </a:ext>
            </a:extLst>
          </p:cNvPr>
          <p:cNvSpPr>
            <a:spLocks noGrp="1"/>
          </p:cNvSpPr>
          <p:nvPr>
            <p:ph type="pic" sz="quarter" idx="14" hasCustomPrompt="1"/>
          </p:nvPr>
        </p:nvSpPr>
        <p:spPr>
          <a:xfrm>
            <a:off x="0" y="-1"/>
            <a:ext cx="6096000" cy="6371351"/>
          </a:xfrm>
          <a:solidFill>
            <a:schemeClr val="bg1">
              <a:lumMod val="95000"/>
            </a:schemeClr>
          </a:solidFill>
        </p:spPr>
        <p:txBody>
          <a:bodyPr tIns="1584000" anchor="t"/>
          <a:lstStyle>
            <a:lvl1pPr marL="0" indent="0" algn="ctr">
              <a:buNone/>
              <a:defRPr sz="1200" i="1">
                <a:latin typeface="Times New Roman" panose="02020603050405020304" pitchFamily="18" charset="0"/>
                <a:cs typeface="Times New Roman" panose="02020603050405020304" pitchFamily="18" charset="0"/>
              </a:defRPr>
            </a:lvl1pPr>
          </a:lstStyle>
          <a:p>
            <a:r>
              <a:rPr lang="en-US" noProof="0" dirty="0"/>
              <a:t>Insert or Drag &amp; Drop your photo</a:t>
            </a:r>
          </a:p>
        </p:txBody>
      </p:sp>
      <p:sp>
        <p:nvSpPr>
          <p:cNvPr id="2" name="Title 1">
            <a:extLst>
              <a:ext uri="{FF2B5EF4-FFF2-40B4-BE49-F238E27FC236}">
                <a16:creationId xmlns:a16="http://schemas.microsoft.com/office/drawing/2014/main" id="{40EE479C-D1F6-4BAC-80D2-90EF74E3261A}"/>
              </a:ext>
            </a:extLst>
          </p:cNvPr>
          <p:cNvSpPr>
            <a:spLocks noGrp="1"/>
          </p:cNvSpPr>
          <p:nvPr>
            <p:ph type="title" hasCustomPrompt="1"/>
          </p:nvPr>
        </p:nvSpPr>
        <p:spPr>
          <a:xfrm>
            <a:off x="5118100" y="1869795"/>
            <a:ext cx="6641900" cy="1124345"/>
          </a:xfrm>
          <a:solidFill>
            <a:schemeClr val="bg1">
              <a:lumMod val="95000"/>
            </a:schemeClr>
          </a:solidFill>
        </p:spPr>
        <p:txBody>
          <a:bodyPr lIns="180000" tIns="180000" rIns="180000" bIns="180000"/>
          <a:lstStyle>
            <a:lvl1pPr algn="l">
              <a:defRPr sz="6000" b="1" spc="-300">
                <a:solidFill>
                  <a:schemeClr val="tx1">
                    <a:lumMod val="75000"/>
                    <a:lumOff val="25000"/>
                  </a:schemeClr>
                </a:solidFill>
              </a:defRPr>
            </a:lvl1pPr>
          </a:lstStyle>
          <a:p>
            <a:r>
              <a:rPr lang="en-US" noProof="0"/>
              <a:t>Click to edit page title</a:t>
            </a:r>
          </a:p>
        </p:txBody>
      </p:sp>
      <p:sp>
        <p:nvSpPr>
          <p:cNvPr id="10" name="Subtitle 2">
            <a:extLst>
              <a:ext uri="{FF2B5EF4-FFF2-40B4-BE49-F238E27FC236}">
                <a16:creationId xmlns:a16="http://schemas.microsoft.com/office/drawing/2014/main" id="{3FAEED1D-0E66-4F74-9455-675F5CB7EAD4}"/>
              </a:ext>
            </a:extLst>
          </p:cNvPr>
          <p:cNvSpPr>
            <a:spLocks noGrp="1"/>
          </p:cNvSpPr>
          <p:nvPr>
            <p:ph type="body" sz="quarter" idx="32" hasCustomPrompt="1"/>
          </p:nvPr>
        </p:nvSpPr>
        <p:spPr>
          <a:xfrm>
            <a:off x="5118334" y="2994141"/>
            <a:ext cx="6641626" cy="590155"/>
          </a:xfrm>
          <a:solidFill>
            <a:schemeClr val="tx1">
              <a:alpha val="80000"/>
            </a:schemeClr>
          </a:solidFill>
        </p:spPr>
        <p:txBody>
          <a:bodyPr lIns="180000" tIns="180000" rIns="180000" bIns="180000"/>
          <a:lstStyle>
            <a:lvl1pPr marL="0" indent="0" algn="l">
              <a:buNone/>
              <a:defRPr>
                <a:solidFill>
                  <a:schemeClr val="bg1"/>
                </a:solidFill>
              </a:defRPr>
            </a:lvl1pPr>
            <a:lvl2pPr marL="266700" indent="0">
              <a:buNone/>
              <a:defRPr/>
            </a:lvl2pPr>
            <a:lvl3pPr marL="542925" indent="0">
              <a:buNone/>
              <a:defRPr/>
            </a:lvl3pPr>
            <a:lvl4pPr marL="809625" indent="0">
              <a:buNone/>
              <a:defRPr/>
            </a:lvl4pPr>
            <a:lvl5pPr marL="1076325" indent="0">
              <a:buNone/>
              <a:defRPr/>
            </a:lvl5pPr>
          </a:lstStyle>
          <a:p>
            <a:pPr lvl="0"/>
            <a:r>
              <a:rPr lang="en-US" noProof="0"/>
              <a:t>Subtitle</a:t>
            </a:r>
          </a:p>
        </p:txBody>
      </p:sp>
      <p:sp>
        <p:nvSpPr>
          <p:cNvPr id="3" name="Content Placeholder 2">
            <a:extLst>
              <a:ext uri="{FF2B5EF4-FFF2-40B4-BE49-F238E27FC236}">
                <a16:creationId xmlns:a16="http://schemas.microsoft.com/office/drawing/2014/main" id="{A22238F2-C6EC-476F-8371-119AECBA5622}"/>
              </a:ext>
            </a:extLst>
          </p:cNvPr>
          <p:cNvSpPr>
            <a:spLocks noGrp="1"/>
          </p:cNvSpPr>
          <p:nvPr>
            <p:ph sz="half" idx="1"/>
          </p:nvPr>
        </p:nvSpPr>
        <p:spPr>
          <a:xfrm>
            <a:off x="6288000" y="3763648"/>
            <a:ext cx="5472000" cy="2428351"/>
          </a:xfrm>
        </p:spPr>
        <p:txBody>
          <a:bodyPr/>
          <a:lstStyle>
            <a:lvl1pPr>
              <a:defRPr>
                <a:solidFill>
                  <a:schemeClr val="tx1">
                    <a:lumMod val="75000"/>
                    <a:lumOff val="25000"/>
                  </a:schemeClr>
                </a:solidFill>
              </a:defRPr>
            </a:lvl1pPr>
            <a:lvl2pPr>
              <a:defRPr>
                <a:solidFill>
                  <a:schemeClr val="tx1">
                    <a:lumMod val="75000"/>
                    <a:lumOff val="25000"/>
                  </a:schemeClr>
                </a:solidFill>
              </a:defRPr>
            </a:lvl2pPr>
            <a:lvl3pPr>
              <a:defRPr>
                <a:solidFill>
                  <a:schemeClr val="tx1">
                    <a:lumMod val="75000"/>
                    <a:lumOff val="25000"/>
                  </a:schemeClr>
                </a:solidFill>
              </a:defRPr>
            </a:lvl3pPr>
            <a:lvl4pPr>
              <a:defRPr>
                <a:solidFill>
                  <a:schemeClr val="tx1">
                    <a:lumMod val="75000"/>
                    <a:lumOff val="25000"/>
                  </a:schemeClr>
                </a:solidFill>
              </a:defRPr>
            </a:lvl4pPr>
            <a:lvl5pPr>
              <a:defRPr>
                <a:solidFill>
                  <a:schemeClr val="tx1">
                    <a:lumMod val="75000"/>
                    <a:lumOff val="25000"/>
                  </a:schemeClr>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4" name="Footer Placeholder 3">
            <a:extLst>
              <a:ext uri="{FF2B5EF4-FFF2-40B4-BE49-F238E27FC236}">
                <a16:creationId xmlns:a16="http://schemas.microsoft.com/office/drawing/2014/main" id="{57847F90-9DB6-4832-9EB7-393AADAE8B70}"/>
              </a:ext>
            </a:extLst>
          </p:cNvPr>
          <p:cNvSpPr>
            <a:spLocks noGrp="1"/>
          </p:cNvSpPr>
          <p:nvPr>
            <p:ph type="ftr" sz="quarter" idx="13"/>
          </p:nvPr>
        </p:nvSpPr>
        <p:spPr/>
        <p:txBody>
          <a:bodyPr/>
          <a:lstStyle/>
          <a:p>
            <a:r>
              <a:rPr lang="en-US" noProof="0" dirty="0"/>
              <a:t>Add a footer</a:t>
            </a:r>
          </a:p>
        </p:txBody>
      </p:sp>
      <p:sp>
        <p:nvSpPr>
          <p:cNvPr id="5" name="Slide Number Placeholder 4">
            <a:extLst>
              <a:ext uri="{FF2B5EF4-FFF2-40B4-BE49-F238E27FC236}">
                <a16:creationId xmlns:a16="http://schemas.microsoft.com/office/drawing/2014/main" id="{0505ED12-A431-4761-87A4-F05164BE0221}"/>
              </a:ext>
            </a:extLst>
          </p:cNvPr>
          <p:cNvSpPr>
            <a:spLocks noGrp="1"/>
          </p:cNvSpPr>
          <p:nvPr>
            <p:ph type="sldNum" sz="quarter" idx="33"/>
          </p:nvPr>
        </p:nvSpPr>
        <p:spPr/>
        <p:txBody>
          <a:bodyPr/>
          <a:lstStyle/>
          <a:p>
            <a:fld id="{19B51A1E-902D-48AF-9020-955120F399B6}" type="slidenum">
              <a:rPr lang="en-US" noProof="0" smtClean="0"/>
              <a:pPr/>
              <a:t>‹#›</a:t>
            </a:fld>
            <a:endParaRPr lang="en-US" noProof="0" dirty="0"/>
          </a:p>
        </p:txBody>
      </p:sp>
      <p:sp>
        <p:nvSpPr>
          <p:cNvPr id="8" name="Rectangle 7">
            <a:extLst>
              <a:ext uri="{FF2B5EF4-FFF2-40B4-BE49-F238E27FC236}">
                <a16:creationId xmlns:a16="http://schemas.microsoft.com/office/drawing/2014/main" id="{FA5285E0-8F27-49C4-AADF-92A3B72D41FD}"/>
              </a:ext>
            </a:extLst>
          </p:cNvPr>
          <p:cNvSpPr/>
          <p:nvPr userDrawn="1"/>
        </p:nvSpPr>
        <p:spPr>
          <a:xfrm>
            <a:off x="9775824" y="1762069"/>
            <a:ext cx="1984175" cy="11482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noProof="0" dirty="0"/>
          </a:p>
        </p:txBody>
      </p:sp>
    </p:spTree>
    <p:extLst>
      <p:ext uri="{BB962C8B-B14F-4D97-AF65-F5344CB8AC3E}">
        <p14:creationId xmlns:p14="http://schemas.microsoft.com/office/powerpoint/2010/main" val="38438929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omparison with Sub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288DD7-6DAF-436D-B04A-EBCCAA36917C}"/>
              </a:ext>
            </a:extLst>
          </p:cNvPr>
          <p:cNvSpPr>
            <a:spLocks noGrp="1"/>
          </p:cNvSpPr>
          <p:nvPr>
            <p:ph type="title" hasCustomPrompt="1"/>
          </p:nvPr>
        </p:nvSpPr>
        <p:spPr>
          <a:xfrm>
            <a:off x="432000" y="432000"/>
            <a:ext cx="11340000" cy="432000"/>
          </a:xfrm>
        </p:spPr>
        <p:txBody>
          <a:bodyPr/>
          <a:lstStyle>
            <a:lvl1pPr>
              <a:defRPr>
                <a:solidFill>
                  <a:schemeClr val="tx1">
                    <a:lumMod val="75000"/>
                    <a:lumOff val="25000"/>
                  </a:schemeClr>
                </a:solidFill>
              </a:defRPr>
            </a:lvl1pPr>
          </a:lstStyle>
          <a:p>
            <a:r>
              <a:rPr lang="en-US" noProof="0"/>
              <a:t>Click to edit page title</a:t>
            </a:r>
          </a:p>
        </p:txBody>
      </p:sp>
      <p:sp>
        <p:nvSpPr>
          <p:cNvPr id="9" name="Subtitle 2">
            <a:extLst>
              <a:ext uri="{FF2B5EF4-FFF2-40B4-BE49-F238E27FC236}">
                <a16:creationId xmlns:a16="http://schemas.microsoft.com/office/drawing/2014/main" id="{E4633398-8EC3-417B-BEA6-101D8F224678}"/>
              </a:ext>
            </a:extLst>
          </p:cNvPr>
          <p:cNvSpPr>
            <a:spLocks noGrp="1"/>
          </p:cNvSpPr>
          <p:nvPr>
            <p:ph type="body" sz="quarter" idx="32" hasCustomPrompt="1"/>
          </p:nvPr>
        </p:nvSpPr>
        <p:spPr>
          <a:xfrm>
            <a:off x="431800" y="1008000"/>
            <a:ext cx="11339513" cy="360000"/>
          </a:xfrm>
        </p:spPr>
        <p:txBody>
          <a:bodyPr/>
          <a:lstStyle>
            <a:lvl1pPr marL="0" indent="0">
              <a:buNone/>
              <a:defRPr/>
            </a:lvl1pPr>
            <a:lvl2pPr marL="266700" indent="0">
              <a:buNone/>
              <a:defRPr/>
            </a:lvl2pPr>
            <a:lvl3pPr marL="542925" indent="0">
              <a:buNone/>
              <a:defRPr/>
            </a:lvl3pPr>
            <a:lvl4pPr marL="809625" indent="0">
              <a:buNone/>
              <a:defRPr/>
            </a:lvl4pPr>
            <a:lvl5pPr marL="1076325" indent="0">
              <a:buNone/>
              <a:defRPr/>
            </a:lvl5pPr>
          </a:lstStyle>
          <a:p>
            <a:pPr lvl="0"/>
            <a:r>
              <a:rPr lang="en-US" noProof="0"/>
              <a:t>Subtitle</a:t>
            </a:r>
          </a:p>
        </p:txBody>
      </p:sp>
      <p:sp>
        <p:nvSpPr>
          <p:cNvPr id="3" name="Comparison Left Placeholder 1">
            <a:extLst>
              <a:ext uri="{FF2B5EF4-FFF2-40B4-BE49-F238E27FC236}">
                <a16:creationId xmlns:a16="http://schemas.microsoft.com/office/drawing/2014/main" id="{9322B50D-6A7D-41C6-BA57-613BC231DF36}"/>
              </a:ext>
            </a:extLst>
          </p:cNvPr>
          <p:cNvSpPr>
            <a:spLocks noGrp="1"/>
          </p:cNvSpPr>
          <p:nvPr>
            <p:ph type="body" idx="1"/>
          </p:nvPr>
        </p:nvSpPr>
        <p:spPr>
          <a:xfrm>
            <a:off x="432000" y="2307689"/>
            <a:ext cx="5472000" cy="360000"/>
          </a:xfrm>
        </p:spPr>
        <p:txBody>
          <a:bodyPr anchor="t"/>
          <a:lstStyle>
            <a:lvl1pPr marL="0" indent="0">
              <a:buNone/>
              <a:defRPr sz="2400" b="1">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Click to edit Master text styles</a:t>
            </a:r>
          </a:p>
        </p:txBody>
      </p:sp>
      <p:sp>
        <p:nvSpPr>
          <p:cNvPr id="4" name="Content Placeholder 2">
            <a:extLst>
              <a:ext uri="{FF2B5EF4-FFF2-40B4-BE49-F238E27FC236}">
                <a16:creationId xmlns:a16="http://schemas.microsoft.com/office/drawing/2014/main" id="{9FD584DA-F775-47B8-A1D7-6556AD5FCBD2}"/>
              </a:ext>
            </a:extLst>
          </p:cNvPr>
          <p:cNvSpPr>
            <a:spLocks noGrp="1"/>
          </p:cNvSpPr>
          <p:nvPr>
            <p:ph sz="half" idx="2"/>
          </p:nvPr>
        </p:nvSpPr>
        <p:spPr>
          <a:xfrm>
            <a:off x="432000" y="2815037"/>
            <a:ext cx="5472000" cy="3376963"/>
          </a:xfrm>
        </p:spPr>
        <p:txBody>
          <a:bodyPr/>
          <a:lstStyle>
            <a:lvl1pPr>
              <a:defRPr>
                <a:solidFill>
                  <a:schemeClr val="tx1">
                    <a:lumMod val="75000"/>
                    <a:lumOff val="25000"/>
                  </a:schemeClr>
                </a:solidFill>
              </a:defRPr>
            </a:lvl1pPr>
            <a:lvl2pPr>
              <a:defRPr>
                <a:solidFill>
                  <a:schemeClr val="tx1">
                    <a:lumMod val="75000"/>
                    <a:lumOff val="25000"/>
                  </a:schemeClr>
                </a:solidFill>
              </a:defRPr>
            </a:lvl2pPr>
            <a:lvl3pPr>
              <a:defRPr>
                <a:solidFill>
                  <a:schemeClr val="tx1">
                    <a:lumMod val="75000"/>
                    <a:lumOff val="25000"/>
                  </a:schemeClr>
                </a:solidFill>
              </a:defRPr>
            </a:lvl3pPr>
            <a:lvl4pPr>
              <a:defRPr>
                <a:solidFill>
                  <a:schemeClr val="tx1">
                    <a:lumMod val="75000"/>
                    <a:lumOff val="25000"/>
                  </a:schemeClr>
                </a:solidFill>
              </a:defRPr>
            </a:lvl4pPr>
            <a:lvl5pPr>
              <a:defRPr>
                <a:solidFill>
                  <a:schemeClr val="tx1">
                    <a:lumMod val="75000"/>
                    <a:lumOff val="25000"/>
                  </a:schemeClr>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2" name="Comparison Left Placeholder 2">
            <a:extLst>
              <a:ext uri="{FF2B5EF4-FFF2-40B4-BE49-F238E27FC236}">
                <a16:creationId xmlns:a16="http://schemas.microsoft.com/office/drawing/2014/main" id="{78A963F8-6F6E-440E-B3B3-DDE13C083A36}"/>
              </a:ext>
            </a:extLst>
          </p:cNvPr>
          <p:cNvSpPr>
            <a:spLocks noGrp="1"/>
          </p:cNvSpPr>
          <p:nvPr>
            <p:ph type="body" sz="quarter" idx="13"/>
          </p:nvPr>
        </p:nvSpPr>
        <p:spPr>
          <a:xfrm>
            <a:off x="6300000" y="2308214"/>
            <a:ext cx="5472000" cy="358775"/>
          </a:xfrm>
        </p:spPr>
        <p:txBody>
          <a:bodyPr/>
          <a:lstStyle>
            <a:lvl1pPr marL="0" indent="0">
              <a:buNone/>
              <a:defRPr sz="2400" b="1"/>
            </a:lvl1pPr>
          </a:lstStyle>
          <a:p>
            <a:pPr lvl="0"/>
            <a:r>
              <a:rPr lang="en-US" noProof="0"/>
              <a:t>Click to edit Master text styles</a:t>
            </a:r>
          </a:p>
        </p:txBody>
      </p:sp>
      <p:sp>
        <p:nvSpPr>
          <p:cNvPr id="8" name="Text Placeholder 4">
            <a:extLst>
              <a:ext uri="{FF2B5EF4-FFF2-40B4-BE49-F238E27FC236}">
                <a16:creationId xmlns:a16="http://schemas.microsoft.com/office/drawing/2014/main" id="{DF0A5256-B267-47DA-858A-0F3867CB6139}"/>
              </a:ext>
            </a:extLst>
          </p:cNvPr>
          <p:cNvSpPr>
            <a:spLocks noGrp="1"/>
          </p:cNvSpPr>
          <p:nvPr>
            <p:ph type="body" sz="quarter" idx="12"/>
          </p:nvPr>
        </p:nvSpPr>
        <p:spPr>
          <a:xfrm>
            <a:off x="6299887" y="2812214"/>
            <a:ext cx="5472113" cy="3379036"/>
          </a:xfrm>
        </p:spPr>
        <p:txBody>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5" name="Footer Placeholder 4">
            <a:extLst>
              <a:ext uri="{FF2B5EF4-FFF2-40B4-BE49-F238E27FC236}">
                <a16:creationId xmlns:a16="http://schemas.microsoft.com/office/drawing/2014/main" id="{646B8F99-FAB0-4B33-87ED-9FF46D11A907}"/>
              </a:ext>
            </a:extLst>
          </p:cNvPr>
          <p:cNvSpPr>
            <a:spLocks noGrp="1"/>
          </p:cNvSpPr>
          <p:nvPr>
            <p:ph type="ftr" sz="quarter" idx="14"/>
          </p:nvPr>
        </p:nvSpPr>
        <p:spPr/>
        <p:txBody>
          <a:bodyPr/>
          <a:lstStyle/>
          <a:p>
            <a:r>
              <a:rPr lang="en-US" noProof="0" dirty="0"/>
              <a:t>Add a footer</a:t>
            </a:r>
          </a:p>
        </p:txBody>
      </p:sp>
      <p:sp>
        <p:nvSpPr>
          <p:cNvPr id="6" name="Slide Number Placeholder 5">
            <a:extLst>
              <a:ext uri="{FF2B5EF4-FFF2-40B4-BE49-F238E27FC236}">
                <a16:creationId xmlns:a16="http://schemas.microsoft.com/office/drawing/2014/main" id="{18733E7E-50D2-4F6C-9DF2-CF4C98C4B847}"/>
              </a:ext>
            </a:extLst>
          </p:cNvPr>
          <p:cNvSpPr>
            <a:spLocks noGrp="1"/>
          </p:cNvSpPr>
          <p:nvPr>
            <p:ph type="sldNum" sz="quarter" idx="33"/>
          </p:nvPr>
        </p:nvSpPr>
        <p:spPr/>
        <p:txBody>
          <a:bodyPr/>
          <a:lstStyle/>
          <a:p>
            <a:fld id="{19B51A1E-902D-48AF-9020-955120F399B6}" type="slidenum">
              <a:rPr lang="en-US" noProof="0" smtClean="0"/>
              <a:pPr/>
              <a:t>‹#›</a:t>
            </a:fld>
            <a:endParaRPr lang="en-US" noProof="0" dirty="0"/>
          </a:p>
        </p:txBody>
      </p:sp>
      <p:sp>
        <p:nvSpPr>
          <p:cNvPr id="10" name="Rectangle 9" descr="Accent block left">
            <a:extLst>
              <a:ext uri="{FF2B5EF4-FFF2-40B4-BE49-F238E27FC236}">
                <a16:creationId xmlns:a16="http://schemas.microsoft.com/office/drawing/2014/main" id="{BBC0CAF5-0DE6-4BEA-824E-124A54A76AC6}"/>
              </a:ext>
              <a:ext uri="{C183D7F6-B498-43B3-948B-1728B52AA6E4}">
                <adec:decorative xmlns:adec="http://schemas.microsoft.com/office/drawing/2017/decorative" val="1"/>
              </a:ext>
            </a:extLst>
          </p:cNvPr>
          <p:cNvSpPr/>
          <p:nvPr userDrawn="1"/>
        </p:nvSpPr>
        <p:spPr>
          <a:xfrm>
            <a:off x="431800" y="2100317"/>
            <a:ext cx="1984175" cy="11482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noProof="0" dirty="0"/>
          </a:p>
        </p:txBody>
      </p:sp>
      <p:sp>
        <p:nvSpPr>
          <p:cNvPr id="11" name="Rectangle 10" descr="Accent bar right&#10;">
            <a:extLst>
              <a:ext uri="{FF2B5EF4-FFF2-40B4-BE49-F238E27FC236}">
                <a16:creationId xmlns:a16="http://schemas.microsoft.com/office/drawing/2014/main" id="{ED008080-B2F5-441A-8B15-30AE86BBF943}"/>
              </a:ext>
              <a:ext uri="{C183D7F6-B498-43B3-948B-1728B52AA6E4}">
                <adec:decorative xmlns:adec="http://schemas.microsoft.com/office/drawing/2017/decorative" val="1"/>
              </a:ext>
            </a:extLst>
          </p:cNvPr>
          <p:cNvSpPr/>
          <p:nvPr userDrawn="1"/>
        </p:nvSpPr>
        <p:spPr>
          <a:xfrm>
            <a:off x="6299887" y="2100317"/>
            <a:ext cx="1984175" cy="114824"/>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noProof="0" dirty="0"/>
          </a:p>
        </p:txBody>
      </p:sp>
    </p:spTree>
    <p:extLst>
      <p:ext uri="{BB962C8B-B14F-4D97-AF65-F5344CB8AC3E}">
        <p14:creationId xmlns:p14="http://schemas.microsoft.com/office/powerpoint/2010/main" val="250995575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Large Photo">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890ED7CE-A9D2-4D19-B978-56BFB74E657C}"/>
              </a:ext>
            </a:extLst>
          </p:cNvPr>
          <p:cNvSpPr>
            <a:spLocks noGrp="1"/>
          </p:cNvSpPr>
          <p:nvPr>
            <p:ph type="pic" sz="quarter" idx="14" hasCustomPrompt="1"/>
          </p:nvPr>
        </p:nvSpPr>
        <p:spPr>
          <a:xfrm>
            <a:off x="0" y="1"/>
            <a:ext cx="12192000" cy="6371350"/>
          </a:xfrm>
          <a:solidFill>
            <a:schemeClr val="bg1">
              <a:lumMod val="85000"/>
            </a:schemeClr>
          </a:solidFill>
        </p:spPr>
        <p:txBody>
          <a:bodyPr anchor="ctr"/>
          <a:lstStyle>
            <a:lvl1pPr marL="0" indent="0" algn="ctr">
              <a:buNone/>
              <a:defRPr sz="1200" i="1">
                <a:latin typeface="Times New Roman" panose="02020603050405020304" pitchFamily="18" charset="0"/>
                <a:cs typeface="Times New Roman" panose="02020603050405020304" pitchFamily="18" charset="0"/>
              </a:defRPr>
            </a:lvl1pPr>
          </a:lstStyle>
          <a:p>
            <a:r>
              <a:rPr lang="en-US" noProof="0" dirty="0"/>
              <a:t>Insert or Drag &amp; Drop your photo</a:t>
            </a:r>
          </a:p>
        </p:txBody>
      </p:sp>
      <p:sp>
        <p:nvSpPr>
          <p:cNvPr id="3" name="Content Placeholder 2">
            <a:extLst>
              <a:ext uri="{FF2B5EF4-FFF2-40B4-BE49-F238E27FC236}">
                <a16:creationId xmlns:a16="http://schemas.microsoft.com/office/drawing/2014/main" id="{A22238F2-C6EC-476F-8371-119AECBA5622}"/>
              </a:ext>
            </a:extLst>
          </p:cNvPr>
          <p:cNvSpPr>
            <a:spLocks noGrp="1"/>
          </p:cNvSpPr>
          <p:nvPr>
            <p:ph sz="half" idx="1" hasCustomPrompt="1"/>
          </p:nvPr>
        </p:nvSpPr>
        <p:spPr>
          <a:xfrm>
            <a:off x="6096000" y="5359400"/>
            <a:ext cx="5664000" cy="565899"/>
          </a:xfrm>
          <a:solidFill>
            <a:schemeClr val="tx1"/>
          </a:solidFill>
        </p:spPr>
        <p:txBody>
          <a:bodyPr lIns="180000" tIns="180000" rIns="180000" bIns="180000" anchor="ctr"/>
          <a:lstStyle>
            <a:lvl1pPr marL="0" indent="0" algn="r">
              <a:buNone/>
              <a:defRPr>
                <a:solidFill>
                  <a:schemeClr val="bg1"/>
                </a:solidFill>
              </a:defRPr>
            </a:lvl1pPr>
            <a:lvl2pPr>
              <a:defRPr>
                <a:solidFill>
                  <a:schemeClr val="tx1">
                    <a:lumMod val="75000"/>
                    <a:lumOff val="25000"/>
                  </a:schemeClr>
                </a:solidFill>
              </a:defRPr>
            </a:lvl2pPr>
            <a:lvl3pPr>
              <a:defRPr>
                <a:solidFill>
                  <a:schemeClr val="tx1">
                    <a:lumMod val="75000"/>
                    <a:lumOff val="25000"/>
                  </a:schemeClr>
                </a:solidFill>
              </a:defRPr>
            </a:lvl3pPr>
            <a:lvl4pPr>
              <a:defRPr>
                <a:solidFill>
                  <a:schemeClr val="tx1">
                    <a:lumMod val="75000"/>
                    <a:lumOff val="25000"/>
                  </a:schemeClr>
                </a:solidFill>
              </a:defRPr>
            </a:lvl4pPr>
            <a:lvl5pPr>
              <a:defRPr>
                <a:solidFill>
                  <a:schemeClr val="tx1">
                    <a:lumMod val="75000"/>
                    <a:lumOff val="25000"/>
                  </a:schemeClr>
                </a:solidFill>
              </a:defRPr>
            </a:lvl5pPr>
          </a:lstStyle>
          <a:p>
            <a:pPr lvl="0"/>
            <a:r>
              <a:rPr lang="en-US" noProof="0"/>
              <a:t>Enter your caption</a:t>
            </a:r>
          </a:p>
        </p:txBody>
      </p:sp>
      <p:sp>
        <p:nvSpPr>
          <p:cNvPr id="4" name="Footer Placeholder 3">
            <a:extLst>
              <a:ext uri="{FF2B5EF4-FFF2-40B4-BE49-F238E27FC236}">
                <a16:creationId xmlns:a16="http://schemas.microsoft.com/office/drawing/2014/main" id="{57847F90-9DB6-4832-9EB7-393AADAE8B70}"/>
              </a:ext>
            </a:extLst>
          </p:cNvPr>
          <p:cNvSpPr>
            <a:spLocks noGrp="1"/>
          </p:cNvSpPr>
          <p:nvPr>
            <p:ph type="ftr" sz="quarter" idx="13"/>
          </p:nvPr>
        </p:nvSpPr>
        <p:spPr/>
        <p:txBody>
          <a:bodyPr/>
          <a:lstStyle/>
          <a:p>
            <a:r>
              <a:rPr lang="en-US" noProof="0" dirty="0"/>
              <a:t>Add a footer</a:t>
            </a:r>
          </a:p>
        </p:txBody>
      </p:sp>
      <p:sp>
        <p:nvSpPr>
          <p:cNvPr id="2" name="Slide Number Placeholder 1">
            <a:extLst>
              <a:ext uri="{FF2B5EF4-FFF2-40B4-BE49-F238E27FC236}">
                <a16:creationId xmlns:a16="http://schemas.microsoft.com/office/drawing/2014/main" id="{8B3D119C-DBF5-4B4F-BE38-7BD7B5C8A5D0}"/>
              </a:ext>
            </a:extLst>
          </p:cNvPr>
          <p:cNvSpPr>
            <a:spLocks noGrp="1"/>
          </p:cNvSpPr>
          <p:nvPr>
            <p:ph type="sldNum" sz="quarter" idx="15"/>
          </p:nvPr>
        </p:nvSpPr>
        <p:spPr/>
        <p:txBody>
          <a:bodyPr/>
          <a:lstStyle/>
          <a:p>
            <a:fld id="{19B51A1E-902D-48AF-9020-955120F399B6}" type="slidenum">
              <a:rPr lang="en-US" noProof="0" smtClean="0"/>
              <a:pPr/>
              <a:t>‹#›</a:t>
            </a:fld>
            <a:endParaRPr lang="en-US" noProof="0" dirty="0"/>
          </a:p>
        </p:txBody>
      </p:sp>
      <p:sp>
        <p:nvSpPr>
          <p:cNvPr id="5" name="Title 4">
            <a:extLst>
              <a:ext uri="{FF2B5EF4-FFF2-40B4-BE49-F238E27FC236}">
                <a16:creationId xmlns:a16="http://schemas.microsoft.com/office/drawing/2014/main" id="{7F8E7C83-06D7-4C5B-85B7-0E5713B4FAB3}"/>
              </a:ext>
            </a:extLst>
          </p:cNvPr>
          <p:cNvSpPr>
            <a:spLocks noGrp="1"/>
          </p:cNvSpPr>
          <p:nvPr>
            <p:ph type="title"/>
          </p:nvPr>
        </p:nvSpPr>
        <p:spPr/>
        <p:txBody>
          <a:bodyPr/>
          <a:lstStyle/>
          <a:p>
            <a:r>
              <a:rPr lang="en-US" noProof="0"/>
              <a:t>Click to edit Master title style</a:t>
            </a:r>
          </a:p>
        </p:txBody>
      </p:sp>
    </p:spTree>
    <p:extLst>
      <p:ext uri="{BB962C8B-B14F-4D97-AF65-F5344CB8AC3E}">
        <p14:creationId xmlns:p14="http://schemas.microsoft.com/office/powerpoint/2010/main" val="198778464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hank You">
    <p:bg>
      <p:bgPr>
        <a:solidFill>
          <a:schemeClr val="bg1">
            <a:lumMod val="95000"/>
          </a:schemeClr>
        </a:solidFill>
        <a:effectLst/>
      </p:bgPr>
    </p:bg>
    <p:spTree>
      <p:nvGrpSpPr>
        <p:cNvPr id="1" name=""/>
        <p:cNvGrpSpPr/>
        <p:nvPr/>
      </p:nvGrpSpPr>
      <p:grpSpPr>
        <a:xfrm>
          <a:off x="0" y="0"/>
          <a:ext cx="0" cy="0"/>
          <a:chOff x="0" y="0"/>
          <a:chExt cx="0" cy="0"/>
        </a:xfrm>
      </p:grpSpPr>
      <p:sp>
        <p:nvSpPr>
          <p:cNvPr id="41" name="Picture Placeholder 40">
            <a:extLst>
              <a:ext uri="{FF2B5EF4-FFF2-40B4-BE49-F238E27FC236}">
                <a16:creationId xmlns:a16="http://schemas.microsoft.com/office/drawing/2014/main" id="{EB7F0EE8-BE52-4A79-8FC8-4A2487FA01FC}"/>
              </a:ext>
            </a:extLst>
          </p:cNvPr>
          <p:cNvSpPr>
            <a:spLocks noGrp="1"/>
          </p:cNvSpPr>
          <p:nvPr>
            <p:ph type="pic" sz="quarter" idx="10" hasCustomPrompt="1"/>
          </p:nvPr>
        </p:nvSpPr>
        <p:spPr>
          <a:xfrm>
            <a:off x="0" y="0"/>
            <a:ext cx="9780102" cy="6804025"/>
          </a:xfrm>
          <a:solidFill>
            <a:schemeClr val="bg1">
              <a:lumMod val="85000"/>
            </a:schemeClr>
          </a:solidFill>
        </p:spPr>
        <p:txBody>
          <a:bodyPr tIns="0" anchor="ctr"/>
          <a:lstStyle>
            <a:lvl1pPr marL="0" indent="0" algn="ctr">
              <a:buNone/>
              <a:defRPr sz="1200" i="1">
                <a:latin typeface="Times New Roman" panose="02020603050405020304" pitchFamily="18" charset="0"/>
                <a:cs typeface="Times New Roman" panose="02020603050405020304" pitchFamily="18" charset="0"/>
              </a:defRPr>
            </a:lvl1pPr>
          </a:lstStyle>
          <a:p>
            <a:r>
              <a:rPr lang="en-US" noProof="0" dirty="0"/>
              <a:t>Insert or Drag and Drop your Photo Here</a:t>
            </a:r>
          </a:p>
        </p:txBody>
      </p:sp>
      <p:sp>
        <p:nvSpPr>
          <p:cNvPr id="2" name="Title 1">
            <a:extLst>
              <a:ext uri="{FF2B5EF4-FFF2-40B4-BE49-F238E27FC236}">
                <a16:creationId xmlns:a16="http://schemas.microsoft.com/office/drawing/2014/main" id="{00F23EB7-E336-46EB-A4A0-3DB7A6BF4CE1}"/>
              </a:ext>
            </a:extLst>
          </p:cNvPr>
          <p:cNvSpPr>
            <a:spLocks noGrp="1"/>
          </p:cNvSpPr>
          <p:nvPr>
            <p:ph type="ctrTitle" hasCustomPrompt="1"/>
          </p:nvPr>
        </p:nvSpPr>
        <p:spPr>
          <a:xfrm>
            <a:off x="8458200" y="2798354"/>
            <a:ext cx="3733800" cy="1013684"/>
          </a:xfrm>
          <a:solidFill>
            <a:schemeClr val="bg1"/>
          </a:solidFill>
        </p:spPr>
        <p:txBody>
          <a:bodyPr vert="horz" lIns="180000" tIns="180000" rIns="252000" bIns="180000" rtlCol="0" anchor="t">
            <a:noAutofit/>
          </a:bodyPr>
          <a:lstStyle>
            <a:lvl1pPr algn="r">
              <a:defRPr lang="en-ZA" sz="6000" b="1" spc="-300" dirty="0"/>
            </a:lvl1pPr>
          </a:lstStyle>
          <a:p>
            <a:pPr lvl="0" algn="r"/>
            <a:r>
              <a:rPr lang="en-US" noProof="0"/>
              <a:t>Thank You</a:t>
            </a:r>
          </a:p>
        </p:txBody>
      </p:sp>
      <p:sp>
        <p:nvSpPr>
          <p:cNvPr id="9" name="Text Placeholder 5">
            <a:extLst>
              <a:ext uri="{FF2B5EF4-FFF2-40B4-BE49-F238E27FC236}">
                <a16:creationId xmlns:a16="http://schemas.microsoft.com/office/drawing/2014/main" id="{52FA7FC9-E40E-4144-84E4-34E3722E9A6D}"/>
              </a:ext>
            </a:extLst>
          </p:cNvPr>
          <p:cNvSpPr>
            <a:spLocks noGrp="1"/>
          </p:cNvSpPr>
          <p:nvPr>
            <p:ph type="body" sz="quarter" idx="15" hasCustomPrompt="1"/>
          </p:nvPr>
        </p:nvSpPr>
        <p:spPr>
          <a:xfrm>
            <a:off x="8458200" y="3957705"/>
            <a:ext cx="2910342" cy="316800"/>
          </a:xfrm>
          <a:solidFill>
            <a:schemeClr val="tx1">
              <a:lumMod val="75000"/>
              <a:lumOff val="25000"/>
            </a:schemeClr>
          </a:solidFill>
        </p:spPr>
        <p:txBody>
          <a:bodyPr rIns="72000" anchor="ctr"/>
          <a:lstStyle>
            <a:lvl1pPr marL="0" indent="0" algn="r">
              <a:buNone/>
              <a:defRPr>
                <a:solidFill>
                  <a:schemeClr val="bg1"/>
                </a:solidFill>
              </a:defRPr>
            </a:lvl1pPr>
            <a:lvl2pPr marL="266700" indent="0">
              <a:buNone/>
              <a:defRPr/>
            </a:lvl2pPr>
            <a:lvl3pPr marL="542925" indent="0">
              <a:buNone/>
              <a:defRPr/>
            </a:lvl3pPr>
            <a:lvl4pPr marL="809625" indent="0">
              <a:buNone/>
              <a:defRPr/>
            </a:lvl4pPr>
            <a:lvl5pPr marL="1076325" indent="0">
              <a:buNone/>
              <a:defRPr/>
            </a:lvl5pPr>
          </a:lstStyle>
          <a:p>
            <a:pPr lvl="0"/>
            <a:r>
              <a:rPr lang="en-US" noProof="0"/>
              <a:t>Full Name</a:t>
            </a:r>
          </a:p>
        </p:txBody>
      </p:sp>
      <p:sp>
        <p:nvSpPr>
          <p:cNvPr id="10" name="Text Placeholder 6">
            <a:extLst>
              <a:ext uri="{FF2B5EF4-FFF2-40B4-BE49-F238E27FC236}">
                <a16:creationId xmlns:a16="http://schemas.microsoft.com/office/drawing/2014/main" id="{97289182-4FE6-4A18-9775-4588D5801CF6}"/>
              </a:ext>
            </a:extLst>
          </p:cNvPr>
          <p:cNvSpPr>
            <a:spLocks noGrp="1"/>
          </p:cNvSpPr>
          <p:nvPr>
            <p:ph type="body" sz="quarter" idx="16" hasCustomPrompt="1"/>
          </p:nvPr>
        </p:nvSpPr>
        <p:spPr>
          <a:xfrm>
            <a:off x="8458200" y="4306722"/>
            <a:ext cx="2910342" cy="316800"/>
          </a:xfrm>
          <a:solidFill>
            <a:schemeClr val="tx1">
              <a:lumMod val="75000"/>
              <a:lumOff val="25000"/>
            </a:schemeClr>
          </a:solidFill>
        </p:spPr>
        <p:txBody>
          <a:bodyPr rIns="72000" anchor="ctr"/>
          <a:lstStyle>
            <a:lvl1pPr marL="0" indent="0" algn="r">
              <a:buNone/>
              <a:defRPr>
                <a:solidFill>
                  <a:schemeClr val="bg1"/>
                </a:solidFill>
              </a:defRPr>
            </a:lvl1pPr>
            <a:lvl2pPr marL="266700" indent="0">
              <a:buNone/>
              <a:defRPr/>
            </a:lvl2pPr>
            <a:lvl3pPr marL="542925" indent="0">
              <a:buNone/>
              <a:defRPr/>
            </a:lvl3pPr>
            <a:lvl4pPr marL="809625" indent="0">
              <a:buNone/>
              <a:defRPr/>
            </a:lvl4pPr>
            <a:lvl5pPr marL="1076325" indent="0">
              <a:buNone/>
              <a:defRPr/>
            </a:lvl5pPr>
          </a:lstStyle>
          <a:p>
            <a:pPr lvl="0"/>
            <a:r>
              <a:rPr lang="en-US" noProof="0"/>
              <a:t>Phone Number</a:t>
            </a:r>
          </a:p>
        </p:txBody>
      </p:sp>
      <p:sp>
        <p:nvSpPr>
          <p:cNvPr id="11" name="Text Placeholder 7">
            <a:extLst>
              <a:ext uri="{FF2B5EF4-FFF2-40B4-BE49-F238E27FC236}">
                <a16:creationId xmlns:a16="http://schemas.microsoft.com/office/drawing/2014/main" id="{BD4E94C7-6CAF-4FEE-9E02-D3D3A2AC5EAF}"/>
              </a:ext>
            </a:extLst>
          </p:cNvPr>
          <p:cNvSpPr>
            <a:spLocks noGrp="1"/>
          </p:cNvSpPr>
          <p:nvPr>
            <p:ph type="body" sz="quarter" idx="17" hasCustomPrompt="1"/>
          </p:nvPr>
        </p:nvSpPr>
        <p:spPr>
          <a:xfrm>
            <a:off x="8458200" y="4655739"/>
            <a:ext cx="2910342" cy="316800"/>
          </a:xfrm>
          <a:solidFill>
            <a:schemeClr val="tx1">
              <a:lumMod val="75000"/>
              <a:lumOff val="25000"/>
            </a:schemeClr>
          </a:solidFill>
        </p:spPr>
        <p:txBody>
          <a:bodyPr rIns="72000" anchor="ctr"/>
          <a:lstStyle>
            <a:lvl1pPr marL="0" indent="0" algn="r">
              <a:buNone/>
              <a:defRPr>
                <a:solidFill>
                  <a:schemeClr val="bg1"/>
                </a:solidFill>
              </a:defRPr>
            </a:lvl1pPr>
            <a:lvl2pPr marL="266700" indent="0">
              <a:buNone/>
              <a:defRPr/>
            </a:lvl2pPr>
            <a:lvl3pPr marL="542925" indent="0">
              <a:buNone/>
              <a:defRPr/>
            </a:lvl3pPr>
            <a:lvl4pPr marL="809625" indent="0">
              <a:buNone/>
              <a:defRPr/>
            </a:lvl4pPr>
            <a:lvl5pPr marL="1076325" indent="0">
              <a:buNone/>
              <a:defRPr/>
            </a:lvl5pPr>
          </a:lstStyle>
          <a:p>
            <a:pPr lvl="0"/>
            <a:r>
              <a:rPr lang="en-US" noProof="0"/>
              <a:t>Email or Social Media Handle</a:t>
            </a:r>
          </a:p>
        </p:txBody>
      </p:sp>
      <p:sp>
        <p:nvSpPr>
          <p:cNvPr id="12" name="Text Placeholder 8">
            <a:extLst>
              <a:ext uri="{FF2B5EF4-FFF2-40B4-BE49-F238E27FC236}">
                <a16:creationId xmlns:a16="http://schemas.microsoft.com/office/drawing/2014/main" id="{0DE421A3-3C59-48FC-BC3B-007ADFBEB4FE}"/>
              </a:ext>
            </a:extLst>
          </p:cNvPr>
          <p:cNvSpPr>
            <a:spLocks noGrp="1"/>
          </p:cNvSpPr>
          <p:nvPr>
            <p:ph type="body" sz="quarter" idx="18" hasCustomPrompt="1"/>
          </p:nvPr>
        </p:nvSpPr>
        <p:spPr>
          <a:xfrm>
            <a:off x="8458200" y="5004756"/>
            <a:ext cx="2910342" cy="316800"/>
          </a:xfrm>
          <a:solidFill>
            <a:schemeClr val="tx1">
              <a:lumMod val="75000"/>
              <a:lumOff val="25000"/>
            </a:schemeClr>
          </a:solidFill>
        </p:spPr>
        <p:txBody>
          <a:bodyPr rIns="72000" anchor="ctr"/>
          <a:lstStyle>
            <a:lvl1pPr marL="0" indent="0" algn="r">
              <a:buNone/>
              <a:defRPr>
                <a:solidFill>
                  <a:schemeClr val="bg1"/>
                </a:solidFill>
              </a:defRPr>
            </a:lvl1pPr>
            <a:lvl2pPr marL="266700" indent="0">
              <a:buNone/>
              <a:defRPr/>
            </a:lvl2pPr>
            <a:lvl3pPr marL="542925" indent="0">
              <a:buNone/>
              <a:defRPr/>
            </a:lvl3pPr>
            <a:lvl4pPr marL="809625" indent="0">
              <a:buNone/>
              <a:defRPr/>
            </a:lvl4pPr>
            <a:lvl5pPr marL="1076325" indent="0">
              <a:buNone/>
              <a:defRPr/>
            </a:lvl5pPr>
          </a:lstStyle>
          <a:p>
            <a:pPr lvl="0"/>
            <a:r>
              <a:rPr lang="en-US" noProof="0"/>
              <a:t>Company Website</a:t>
            </a:r>
          </a:p>
        </p:txBody>
      </p:sp>
      <p:sp>
        <p:nvSpPr>
          <p:cNvPr id="15" name="Rectangle 14">
            <a:extLst>
              <a:ext uri="{FF2B5EF4-FFF2-40B4-BE49-F238E27FC236}">
                <a16:creationId xmlns:a16="http://schemas.microsoft.com/office/drawing/2014/main" id="{9504A767-1C0B-484E-BF7D-CD42D30A52EE}"/>
              </a:ext>
            </a:extLst>
          </p:cNvPr>
          <p:cNvSpPr/>
          <p:nvPr userDrawn="1"/>
        </p:nvSpPr>
        <p:spPr>
          <a:xfrm>
            <a:off x="11760000" y="6803351"/>
            <a:ext cx="432000" cy="5465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4" name="Rectangle 13">
            <a:extLst>
              <a:ext uri="{FF2B5EF4-FFF2-40B4-BE49-F238E27FC236}">
                <a16:creationId xmlns:a16="http://schemas.microsoft.com/office/drawing/2014/main" id="{7A13D8A8-6C3D-4527-959D-41C3213F7F02}"/>
              </a:ext>
            </a:extLst>
          </p:cNvPr>
          <p:cNvSpPr/>
          <p:nvPr userDrawn="1"/>
        </p:nvSpPr>
        <p:spPr>
          <a:xfrm>
            <a:off x="0" y="6803351"/>
            <a:ext cx="9780104" cy="5465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3" name="Rectangle 12">
            <a:extLst>
              <a:ext uri="{FF2B5EF4-FFF2-40B4-BE49-F238E27FC236}">
                <a16:creationId xmlns:a16="http://schemas.microsoft.com/office/drawing/2014/main" id="{EC0FBB1B-4F0E-4365-BF27-3150FC6C3B90}"/>
              </a:ext>
            </a:extLst>
          </p:cNvPr>
          <p:cNvSpPr/>
          <p:nvPr userDrawn="1"/>
        </p:nvSpPr>
        <p:spPr>
          <a:xfrm>
            <a:off x="9780103" y="6803351"/>
            <a:ext cx="1979897" cy="54650"/>
          </a:xfrm>
          <a:prstGeom prst="rect">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Rectangle 7">
            <a:extLst>
              <a:ext uri="{FF2B5EF4-FFF2-40B4-BE49-F238E27FC236}">
                <a16:creationId xmlns:a16="http://schemas.microsoft.com/office/drawing/2014/main" id="{51DD44D8-4A8F-4693-B90A-166855B29D25}"/>
              </a:ext>
            </a:extLst>
          </p:cNvPr>
          <p:cNvSpPr/>
          <p:nvPr userDrawn="1"/>
        </p:nvSpPr>
        <p:spPr>
          <a:xfrm>
            <a:off x="8458200" y="2685912"/>
            <a:ext cx="3733800" cy="114824"/>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222FB6A7-1E80-487C-93E6-DCAA8751EF21}"/>
              </a:ext>
            </a:extLst>
          </p:cNvPr>
          <p:cNvSpPr>
            <a:spLocks noGrp="1"/>
          </p:cNvSpPr>
          <p:nvPr>
            <p:ph type="sldNum" sz="quarter" idx="20"/>
          </p:nvPr>
        </p:nvSpPr>
        <p:spPr/>
        <p:txBody>
          <a:bodyPr/>
          <a:lstStyle/>
          <a:p>
            <a:fld id="{19B51A1E-902D-48AF-9020-955120F399B6}" type="slidenum">
              <a:rPr lang="en-US" noProof="0" smtClean="0"/>
              <a:pPr/>
              <a:t>‹#›</a:t>
            </a:fld>
            <a:endParaRPr lang="en-US" noProof="0" dirty="0"/>
          </a:p>
        </p:txBody>
      </p:sp>
    </p:spTree>
    <p:extLst>
      <p:ext uri="{BB962C8B-B14F-4D97-AF65-F5344CB8AC3E}">
        <p14:creationId xmlns:p14="http://schemas.microsoft.com/office/powerpoint/2010/main" val="204966313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Sub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FF4C50-933F-41F9-AD11-BD02410AA7D5}"/>
              </a:ext>
            </a:extLst>
          </p:cNvPr>
          <p:cNvSpPr>
            <a:spLocks noGrp="1"/>
          </p:cNvSpPr>
          <p:nvPr>
            <p:ph type="title" hasCustomPrompt="1"/>
          </p:nvPr>
        </p:nvSpPr>
        <p:spPr/>
        <p:txBody>
          <a:bodyPr/>
          <a:lstStyle>
            <a:lvl1pPr>
              <a:defRPr>
                <a:solidFill>
                  <a:schemeClr val="tx1">
                    <a:lumMod val="75000"/>
                    <a:lumOff val="25000"/>
                  </a:schemeClr>
                </a:solidFill>
              </a:defRPr>
            </a:lvl1pPr>
          </a:lstStyle>
          <a:p>
            <a:r>
              <a:rPr lang="en-US" noProof="0"/>
              <a:t>Click to edit page title</a:t>
            </a:r>
          </a:p>
        </p:txBody>
      </p:sp>
      <p:sp>
        <p:nvSpPr>
          <p:cNvPr id="7" name="Subtitle 2">
            <a:extLst>
              <a:ext uri="{FF2B5EF4-FFF2-40B4-BE49-F238E27FC236}">
                <a16:creationId xmlns:a16="http://schemas.microsoft.com/office/drawing/2014/main" id="{E97A9A62-1AA6-47A9-A1A0-54196823744C}"/>
              </a:ext>
            </a:extLst>
          </p:cNvPr>
          <p:cNvSpPr>
            <a:spLocks noGrp="1"/>
          </p:cNvSpPr>
          <p:nvPr>
            <p:ph type="body" sz="quarter" idx="32" hasCustomPrompt="1"/>
          </p:nvPr>
        </p:nvSpPr>
        <p:spPr>
          <a:xfrm>
            <a:off x="431800" y="1008000"/>
            <a:ext cx="11339513" cy="360000"/>
          </a:xfrm>
        </p:spPr>
        <p:txBody>
          <a:bodyPr/>
          <a:lstStyle>
            <a:lvl1pPr marL="0" indent="0">
              <a:buNone/>
              <a:defRPr/>
            </a:lvl1pPr>
            <a:lvl2pPr marL="266700" indent="0">
              <a:buNone/>
              <a:defRPr/>
            </a:lvl2pPr>
            <a:lvl3pPr marL="542925" indent="0">
              <a:buNone/>
              <a:defRPr/>
            </a:lvl3pPr>
            <a:lvl4pPr marL="809625" indent="0">
              <a:buNone/>
              <a:defRPr/>
            </a:lvl4pPr>
            <a:lvl5pPr marL="1076325" indent="0">
              <a:buNone/>
              <a:defRPr/>
            </a:lvl5pPr>
          </a:lstStyle>
          <a:p>
            <a:pPr lvl="0"/>
            <a:r>
              <a:rPr lang="en-US" noProof="0"/>
              <a:t>Subtitle</a:t>
            </a:r>
          </a:p>
        </p:txBody>
      </p:sp>
      <p:sp>
        <p:nvSpPr>
          <p:cNvPr id="3" name="Content Placeholder 2">
            <a:extLst>
              <a:ext uri="{FF2B5EF4-FFF2-40B4-BE49-F238E27FC236}">
                <a16:creationId xmlns:a16="http://schemas.microsoft.com/office/drawing/2014/main" id="{B1948E38-8FB0-4E51-A01C-C88794372E50}"/>
              </a:ext>
            </a:extLst>
          </p:cNvPr>
          <p:cNvSpPr>
            <a:spLocks noGrp="1"/>
          </p:cNvSpPr>
          <p:nvPr>
            <p:ph idx="1"/>
          </p:nvPr>
        </p:nvSpPr>
        <p:spPr/>
        <p:txBody>
          <a:bodyPr/>
          <a:lstStyle>
            <a:lvl1pPr>
              <a:defRPr>
                <a:solidFill>
                  <a:schemeClr val="tx1">
                    <a:lumMod val="75000"/>
                    <a:lumOff val="25000"/>
                  </a:schemeClr>
                </a:solidFill>
              </a:defRPr>
            </a:lvl1pPr>
            <a:lvl2pPr>
              <a:defRPr>
                <a:solidFill>
                  <a:schemeClr val="tx1">
                    <a:lumMod val="75000"/>
                    <a:lumOff val="25000"/>
                  </a:schemeClr>
                </a:solidFill>
              </a:defRPr>
            </a:lvl2pPr>
            <a:lvl3pPr>
              <a:defRPr>
                <a:solidFill>
                  <a:schemeClr val="tx1">
                    <a:lumMod val="75000"/>
                    <a:lumOff val="25000"/>
                  </a:schemeClr>
                </a:solidFill>
              </a:defRPr>
            </a:lvl3pPr>
            <a:lvl4pPr>
              <a:defRPr>
                <a:solidFill>
                  <a:schemeClr val="tx1">
                    <a:lumMod val="75000"/>
                    <a:lumOff val="25000"/>
                  </a:schemeClr>
                </a:solidFill>
              </a:defRPr>
            </a:lvl4pPr>
            <a:lvl5pPr>
              <a:defRPr>
                <a:solidFill>
                  <a:schemeClr val="tx1">
                    <a:lumMod val="75000"/>
                    <a:lumOff val="25000"/>
                  </a:schemeClr>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4" name="Footer Placeholder 3">
            <a:extLst>
              <a:ext uri="{FF2B5EF4-FFF2-40B4-BE49-F238E27FC236}">
                <a16:creationId xmlns:a16="http://schemas.microsoft.com/office/drawing/2014/main" id="{E8FE0EB3-0FF4-4285-B9D3-90A5751B7BBF}"/>
              </a:ext>
            </a:extLst>
          </p:cNvPr>
          <p:cNvSpPr>
            <a:spLocks noGrp="1"/>
          </p:cNvSpPr>
          <p:nvPr>
            <p:ph type="ftr" sz="quarter" idx="12"/>
          </p:nvPr>
        </p:nvSpPr>
        <p:spPr/>
        <p:txBody>
          <a:bodyPr/>
          <a:lstStyle/>
          <a:p>
            <a:r>
              <a:rPr lang="en-US" noProof="0" dirty="0"/>
              <a:t>Add a footer</a:t>
            </a:r>
          </a:p>
        </p:txBody>
      </p:sp>
      <p:sp>
        <p:nvSpPr>
          <p:cNvPr id="5" name="Slide Number Placeholder 4">
            <a:extLst>
              <a:ext uri="{FF2B5EF4-FFF2-40B4-BE49-F238E27FC236}">
                <a16:creationId xmlns:a16="http://schemas.microsoft.com/office/drawing/2014/main" id="{C8DE0AAD-6FBD-416B-A91A-21F2B737919E}"/>
              </a:ext>
            </a:extLst>
          </p:cNvPr>
          <p:cNvSpPr>
            <a:spLocks noGrp="1"/>
          </p:cNvSpPr>
          <p:nvPr>
            <p:ph type="sldNum" sz="quarter" idx="33"/>
          </p:nvPr>
        </p:nvSpPr>
        <p:spPr/>
        <p:txBody>
          <a:bodyPr/>
          <a:lstStyle/>
          <a:p>
            <a:fld id="{19B51A1E-902D-48AF-9020-955120F399B6}" type="slidenum">
              <a:rPr lang="en-US" noProof="0" smtClean="0"/>
              <a:pPr/>
              <a:t>‹#›</a:t>
            </a:fld>
            <a:endParaRPr lang="en-US" noProof="0" dirty="0"/>
          </a:p>
        </p:txBody>
      </p:sp>
    </p:spTree>
    <p:extLst>
      <p:ext uri="{BB962C8B-B14F-4D97-AF65-F5344CB8AC3E}">
        <p14:creationId xmlns:p14="http://schemas.microsoft.com/office/powerpoint/2010/main" val="173450163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wo Content with Sub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EE479C-D1F6-4BAC-80D2-90EF74E3261A}"/>
              </a:ext>
            </a:extLst>
          </p:cNvPr>
          <p:cNvSpPr>
            <a:spLocks noGrp="1"/>
          </p:cNvSpPr>
          <p:nvPr>
            <p:ph type="title" hasCustomPrompt="1"/>
          </p:nvPr>
        </p:nvSpPr>
        <p:spPr>
          <a:xfrm>
            <a:off x="432000" y="432000"/>
            <a:ext cx="11340000" cy="432000"/>
          </a:xfrm>
        </p:spPr>
        <p:txBody>
          <a:bodyPr/>
          <a:lstStyle>
            <a:lvl1pPr>
              <a:defRPr>
                <a:solidFill>
                  <a:schemeClr val="tx1">
                    <a:lumMod val="75000"/>
                    <a:lumOff val="25000"/>
                  </a:schemeClr>
                </a:solidFill>
              </a:defRPr>
            </a:lvl1pPr>
          </a:lstStyle>
          <a:p>
            <a:r>
              <a:rPr lang="en-US" noProof="0"/>
              <a:t>Click to edit page title</a:t>
            </a:r>
          </a:p>
        </p:txBody>
      </p:sp>
      <p:sp>
        <p:nvSpPr>
          <p:cNvPr id="7" name="Subtitle 2">
            <a:extLst>
              <a:ext uri="{FF2B5EF4-FFF2-40B4-BE49-F238E27FC236}">
                <a16:creationId xmlns:a16="http://schemas.microsoft.com/office/drawing/2014/main" id="{7DEBF36F-ADC5-48FF-BFAF-3BED06924FD3}"/>
              </a:ext>
            </a:extLst>
          </p:cNvPr>
          <p:cNvSpPr>
            <a:spLocks noGrp="1"/>
          </p:cNvSpPr>
          <p:nvPr>
            <p:ph type="body" sz="quarter" idx="32" hasCustomPrompt="1"/>
          </p:nvPr>
        </p:nvSpPr>
        <p:spPr>
          <a:xfrm>
            <a:off x="431800" y="1008000"/>
            <a:ext cx="11339513" cy="360000"/>
          </a:xfrm>
        </p:spPr>
        <p:txBody>
          <a:bodyPr/>
          <a:lstStyle>
            <a:lvl1pPr marL="0" indent="0">
              <a:buNone/>
              <a:defRPr/>
            </a:lvl1pPr>
            <a:lvl2pPr marL="266700" indent="0">
              <a:buNone/>
              <a:defRPr/>
            </a:lvl2pPr>
            <a:lvl3pPr marL="542925" indent="0">
              <a:buNone/>
              <a:defRPr/>
            </a:lvl3pPr>
            <a:lvl4pPr marL="809625" indent="0">
              <a:buNone/>
              <a:defRPr/>
            </a:lvl4pPr>
            <a:lvl5pPr marL="1076325" indent="0">
              <a:buNone/>
              <a:defRPr/>
            </a:lvl5pPr>
          </a:lstStyle>
          <a:p>
            <a:pPr lvl="0"/>
            <a:r>
              <a:rPr lang="en-US" noProof="0"/>
              <a:t>Subtitle</a:t>
            </a:r>
          </a:p>
        </p:txBody>
      </p:sp>
      <p:sp>
        <p:nvSpPr>
          <p:cNvPr id="3" name="Content Placeholder 2">
            <a:extLst>
              <a:ext uri="{FF2B5EF4-FFF2-40B4-BE49-F238E27FC236}">
                <a16:creationId xmlns:a16="http://schemas.microsoft.com/office/drawing/2014/main" id="{A22238F2-C6EC-476F-8371-119AECBA5622}"/>
              </a:ext>
            </a:extLst>
          </p:cNvPr>
          <p:cNvSpPr>
            <a:spLocks noGrp="1"/>
          </p:cNvSpPr>
          <p:nvPr>
            <p:ph sz="half" idx="1"/>
          </p:nvPr>
        </p:nvSpPr>
        <p:spPr>
          <a:xfrm>
            <a:off x="432000" y="1512000"/>
            <a:ext cx="5472000" cy="4680000"/>
          </a:xfrm>
        </p:spPr>
        <p:txBody>
          <a:bodyPr/>
          <a:lstStyle>
            <a:lvl1pPr>
              <a:defRPr>
                <a:solidFill>
                  <a:schemeClr val="tx1">
                    <a:lumMod val="75000"/>
                    <a:lumOff val="25000"/>
                  </a:schemeClr>
                </a:solidFill>
              </a:defRPr>
            </a:lvl1pPr>
            <a:lvl2pPr>
              <a:defRPr>
                <a:solidFill>
                  <a:schemeClr val="tx1">
                    <a:lumMod val="75000"/>
                    <a:lumOff val="25000"/>
                  </a:schemeClr>
                </a:solidFill>
              </a:defRPr>
            </a:lvl2pPr>
            <a:lvl3pPr>
              <a:defRPr>
                <a:solidFill>
                  <a:schemeClr val="tx1">
                    <a:lumMod val="75000"/>
                    <a:lumOff val="25000"/>
                  </a:schemeClr>
                </a:solidFill>
              </a:defRPr>
            </a:lvl3pPr>
            <a:lvl4pPr>
              <a:defRPr>
                <a:solidFill>
                  <a:schemeClr val="tx1">
                    <a:lumMod val="75000"/>
                    <a:lumOff val="25000"/>
                  </a:schemeClr>
                </a:solidFill>
              </a:defRPr>
            </a:lvl4pPr>
            <a:lvl5pPr>
              <a:defRPr>
                <a:solidFill>
                  <a:schemeClr val="tx1">
                    <a:lumMod val="75000"/>
                    <a:lumOff val="25000"/>
                  </a:schemeClr>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Text Placeholder 4">
            <a:extLst>
              <a:ext uri="{FF2B5EF4-FFF2-40B4-BE49-F238E27FC236}">
                <a16:creationId xmlns:a16="http://schemas.microsoft.com/office/drawing/2014/main" id="{7867C73D-EE16-41D1-B7CE-A35C765E3B8D}"/>
              </a:ext>
            </a:extLst>
          </p:cNvPr>
          <p:cNvSpPr>
            <a:spLocks noGrp="1"/>
          </p:cNvSpPr>
          <p:nvPr>
            <p:ph type="body" sz="quarter" idx="12"/>
          </p:nvPr>
        </p:nvSpPr>
        <p:spPr>
          <a:xfrm>
            <a:off x="6299887" y="1511250"/>
            <a:ext cx="5472113" cy="4680000"/>
          </a:xfrm>
        </p:spPr>
        <p:txBody>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4" name="Footer Placeholder 3">
            <a:extLst>
              <a:ext uri="{FF2B5EF4-FFF2-40B4-BE49-F238E27FC236}">
                <a16:creationId xmlns:a16="http://schemas.microsoft.com/office/drawing/2014/main" id="{57847F90-9DB6-4832-9EB7-393AADAE8B70}"/>
              </a:ext>
            </a:extLst>
          </p:cNvPr>
          <p:cNvSpPr>
            <a:spLocks noGrp="1"/>
          </p:cNvSpPr>
          <p:nvPr>
            <p:ph type="ftr" sz="quarter" idx="13"/>
          </p:nvPr>
        </p:nvSpPr>
        <p:spPr/>
        <p:txBody>
          <a:bodyPr/>
          <a:lstStyle/>
          <a:p>
            <a:r>
              <a:rPr lang="en-US" noProof="0" dirty="0"/>
              <a:t>Add a footer</a:t>
            </a:r>
          </a:p>
        </p:txBody>
      </p:sp>
      <p:sp>
        <p:nvSpPr>
          <p:cNvPr id="5" name="Slide Number Placeholder 4">
            <a:extLst>
              <a:ext uri="{FF2B5EF4-FFF2-40B4-BE49-F238E27FC236}">
                <a16:creationId xmlns:a16="http://schemas.microsoft.com/office/drawing/2014/main" id="{F64CFC6C-1D8B-46C9-B0F7-A8BD88D8AB46}"/>
              </a:ext>
            </a:extLst>
          </p:cNvPr>
          <p:cNvSpPr>
            <a:spLocks noGrp="1"/>
          </p:cNvSpPr>
          <p:nvPr>
            <p:ph type="sldNum" sz="quarter" idx="33"/>
          </p:nvPr>
        </p:nvSpPr>
        <p:spPr/>
        <p:txBody>
          <a:bodyPr/>
          <a:lstStyle/>
          <a:p>
            <a:fld id="{19B51A1E-902D-48AF-9020-955120F399B6}" type="slidenum">
              <a:rPr lang="en-US" noProof="0" smtClean="0"/>
              <a:pPr/>
              <a:t>‹#›</a:t>
            </a:fld>
            <a:endParaRPr lang="en-US" noProof="0" dirty="0"/>
          </a:p>
        </p:txBody>
      </p:sp>
    </p:spTree>
    <p:extLst>
      <p:ext uri="{BB962C8B-B14F-4D97-AF65-F5344CB8AC3E}">
        <p14:creationId xmlns:p14="http://schemas.microsoft.com/office/powerpoint/2010/main" val="89155218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3 Colum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FF4C50-933F-41F9-AD11-BD02410AA7D5}"/>
              </a:ext>
            </a:extLst>
          </p:cNvPr>
          <p:cNvSpPr>
            <a:spLocks noGrp="1"/>
          </p:cNvSpPr>
          <p:nvPr>
            <p:ph type="title" hasCustomPrompt="1"/>
          </p:nvPr>
        </p:nvSpPr>
        <p:spPr>
          <a:xfrm>
            <a:off x="432000" y="432000"/>
            <a:ext cx="11340000" cy="432000"/>
          </a:xfrm>
        </p:spPr>
        <p:txBody>
          <a:bodyPr/>
          <a:lstStyle>
            <a:lvl1pPr>
              <a:defRPr>
                <a:solidFill>
                  <a:schemeClr val="tx1">
                    <a:lumMod val="75000"/>
                    <a:lumOff val="25000"/>
                  </a:schemeClr>
                </a:solidFill>
              </a:defRPr>
            </a:lvl1pPr>
          </a:lstStyle>
          <a:p>
            <a:r>
              <a:rPr lang="en-US" noProof="0"/>
              <a:t>Click to edit page title</a:t>
            </a:r>
          </a:p>
        </p:txBody>
      </p:sp>
      <p:sp>
        <p:nvSpPr>
          <p:cNvPr id="9" name="Subtitle 2">
            <a:extLst>
              <a:ext uri="{FF2B5EF4-FFF2-40B4-BE49-F238E27FC236}">
                <a16:creationId xmlns:a16="http://schemas.microsoft.com/office/drawing/2014/main" id="{F94EB5D3-F8CB-4E76-8D7E-FF441818EECB}"/>
              </a:ext>
            </a:extLst>
          </p:cNvPr>
          <p:cNvSpPr>
            <a:spLocks noGrp="1"/>
          </p:cNvSpPr>
          <p:nvPr>
            <p:ph type="body" sz="quarter" idx="32" hasCustomPrompt="1"/>
          </p:nvPr>
        </p:nvSpPr>
        <p:spPr>
          <a:xfrm>
            <a:off x="431800" y="1008000"/>
            <a:ext cx="11339513" cy="360000"/>
          </a:xfrm>
        </p:spPr>
        <p:txBody>
          <a:bodyPr/>
          <a:lstStyle>
            <a:lvl1pPr marL="0" indent="0">
              <a:buNone/>
              <a:defRPr/>
            </a:lvl1pPr>
            <a:lvl2pPr marL="266700" indent="0">
              <a:buNone/>
              <a:defRPr/>
            </a:lvl2pPr>
            <a:lvl3pPr marL="542925" indent="0">
              <a:buNone/>
              <a:defRPr/>
            </a:lvl3pPr>
            <a:lvl4pPr marL="809625" indent="0">
              <a:buNone/>
              <a:defRPr/>
            </a:lvl4pPr>
            <a:lvl5pPr marL="1076325" indent="0">
              <a:buNone/>
              <a:defRPr/>
            </a:lvl5pPr>
          </a:lstStyle>
          <a:p>
            <a:pPr lvl="0"/>
            <a:r>
              <a:rPr lang="en-US" noProof="0"/>
              <a:t>Subtitle</a:t>
            </a:r>
          </a:p>
        </p:txBody>
      </p:sp>
      <p:sp>
        <p:nvSpPr>
          <p:cNvPr id="3" name="Content Placeholder 2">
            <a:extLst>
              <a:ext uri="{FF2B5EF4-FFF2-40B4-BE49-F238E27FC236}">
                <a16:creationId xmlns:a16="http://schemas.microsoft.com/office/drawing/2014/main" id="{B1948E38-8FB0-4E51-A01C-C88794372E50}"/>
              </a:ext>
            </a:extLst>
          </p:cNvPr>
          <p:cNvSpPr>
            <a:spLocks noGrp="1"/>
          </p:cNvSpPr>
          <p:nvPr>
            <p:ph idx="1"/>
          </p:nvPr>
        </p:nvSpPr>
        <p:spPr>
          <a:xfrm>
            <a:off x="432000" y="1512000"/>
            <a:ext cx="3600000" cy="4679250"/>
          </a:xfrm>
        </p:spPr>
        <p:txBody>
          <a:bodyPr/>
          <a:lstStyle>
            <a:lvl1pPr>
              <a:defRPr>
                <a:solidFill>
                  <a:schemeClr val="tx1">
                    <a:lumMod val="75000"/>
                    <a:lumOff val="25000"/>
                  </a:schemeClr>
                </a:solidFill>
              </a:defRPr>
            </a:lvl1pPr>
            <a:lvl2pPr>
              <a:defRPr>
                <a:solidFill>
                  <a:schemeClr val="tx1">
                    <a:lumMod val="75000"/>
                    <a:lumOff val="25000"/>
                  </a:schemeClr>
                </a:solidFill>
              </a:defRPr>
            </a:lvl2pPr>
            <a:lvl3pPr>
              <a:defRPr>
                <a:solidFill>
                  <a:schemeClr val="tx1">
                    <a:lumMod val="75000"/>
                    <a:lumOff val="25000"/>
                  </a:schemeClr>
                </a:solidFill>
              </a:defRPr>
            </a:lvl3pPr>
            <a:lvl4pPr>
              <a:defRPr>
                <a:solidFill>
                  <a:schemeClr val="tx1">
                    <a:lumMod val="75000"/>
                    <a:lumOff val="25000"/>
                  </a:schemeClr>
                </a:solidFill>
              </a:defRPr>
            </a:lvl4pPr>
            <a:lvl5pPr>
              <a:defRPr>
                <a:solidFill>
                  <a:schemeClr val="tx1">
                    <a:lumMod val="75000"/>
                    <a:lumOff val="25000"/>
                  </a:schemeClr>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5" name="Text Placeholder 4">
            <a:extLst>
              <a:ext uri="{FF2B5EF4-FFF2-40B4-BE49-F238E27FC236}">
                <a16:creationId xmlns:a16="http://schemas.microsoft.com/office/drawing/2014/main" id="{16A38E24-EB1C-472F-B631-5DF32F9C4CF5}"/>
              </a:ext>
            </a:extLst>
          </p:cNvPr>
          <p:cNvSpPr>
            <a:spLocks noGrp="1"/>
          </p:cNvSpPr>
          <p:nvPr>
            <p:ph type="body" sz="quarter" idx="12"/>
          </p:nvPr>
        </p:nvSpPr>
        <p:spPr>
          <a:xfrm>
            <a:off x="4301550" y="1511476"/>
            <a:ext cx="3600450" cy="4679249"/>
          </a:xfrm>
        </p:spPr>
        <p:txBody>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1" name="Text Placeholder 5">
            <a:extLst>
              <a:ext uri="{FF2B5EF4-FFF2-40B4-BE49-F238E27FC236}">
                <a16:creationId xmlns:a16="http://schemas.microsoft.com/office/drawing/2014/main" id="{5B4A252E-78C9-4F76-98A4-A4B580AD072A}"/>
              </a:ext>
            </a:extLst>
          </p:cNvPr>
          <p:cNvSpPr>
            <a:spLocks noGrp="1"/>
          </p:cNvSpPr>
          <p:nvPr>
            <p:ph type="body" sz="quarter" idx="13"/>
          </p:nvPr>
        </p:nvSpPr>
        <p:spPr>
          <a:xfrm>
            <a:off x="8171550" y="1511475"/>
            <a:ext cx="3600450" cy="4679250"/>
          </a:xfrm>
        </p:spPr>
        <p:txBody>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4" name="Footer Placeholder 3">
            <a:extLst>
              <a:ext uri="{FF2B5EF4-FFF2-40B4-BE49-F238E27FC236}">
                <a16:creationId xmlns:a16="http://schemas.microsoft.com/office/drawing/2014/main" id="{6D4BCA97-F31B-451D-82F8-6E000DF2118A}"/>
              </a:ext>
            </a:extLst>
          </p:cNvPr>
          <p:cNvSpPr>
            <a:spLocks noGrp="1"/>
          </p:cNvSpPr>
          <p:nvPr>
            <p:ph type="ftr" sz="quarter" idx="14"/>
          </p:nvPr>
        </p:nvSpPr>
        <p:spPr/>
        <p:txBody>
          <a:bodyPr/>
          <a:lstStyle/>
          <a:p>
            <a:r>
              <a:rPr lang="en-US" noProof="0" dirty="0"/>
              <a:t>Add a footer</a:t>
            </a:r>
          </a:p>
        </p:txBody>
      </p:sp>
      <p:sp>
        <p:nvSpPr>
          <p:cNvPr id="6" name="Slide Number Placeholder 5">
            <a:extLst>
              <a:ext uri="{FF2B5EF4-FFF2-40B4-BE49-F238E27FC236}">
                <a16:creationId xmlns:a16="http://schemas.microsoft.com/office/drawing/2014/main" id="{0817AAC4-A657-4D75-A527-0307AFF2B17B}"/>
              </a:ext>
            </a:extLst>
          </p:cNvPr>
          <p:cNvSpPr>
            <a:spLocks noGrp="1"/>
          </p:cNvSpPr>
          <p:nvPr>
            <p:ph type="sldNum" sz="quarter" idx="15"/>
          </p:nvPr>
        </p:nvSpPr>
        <p:spPr/>
        <p:txBody>
          <a:bodyPr/>
          <a:lstStyle/>
          <a:p>
            <a:fld id="{19B51A1E-902D-48AF-9020-955120F399B6}" type="slidenum">
              <a:rPr lang="en-US" noProof="0" smtClean="0"/>
              <a:pPr/>
              <a:t>‹#›</a:t>
            </a:fld>
            <a:endParaRPr lang="en-US" noProof="0" dirty="0"/>
          </a:p>
        </p:txBody>
      </p:sp>
    </p:spTree>
    <p:extLst>
      <p:ext uri="{BB962C8B-B14F-4D97-AF65-F5344CB8AC3E}">
        <p14:creationId xmlns:p14="http://schemas.microsoft.com/office/powerpoint/2010/main" val="265438801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5 Colum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FF4C50-933F-41F9-AD11-BD02410AA7D5}"/>
              </a:ext>
            </a:extLst>
          </p:cNvPr>
          <p:cNvSpPr>
            <a:spLocks noGrp="1"/>
          </p:cNvSpPr>
          <p:nvPr>
            <p:ph type="title" hasCustomPrompt="1"/>
          </p:nvPr>
        </p:nvSpPr>
        <p:spPr>
          <a:xfrm>
            <a:off x="432000" y="432000"/>
            <a:ext cx="11340000" cy="432000"/>
          </a:xfrm>
        </p:spPr>
        <p:txBody>
          <a:bodyPr/>
          <a:lstStyle>
            <a:lvl1pPr>
              <a:defRPr>
                <a:solidFill>
                  <a:schemeClr val="tx1">
                    <a:lumMod val="75000"/>
                    <a:lumOff val="25000"/>
                  </a:schemeClr>
                </a:solidFill>
              </a:defRPr>
            </a:lvl1pPr>
          </a:lstStyle>
          <a:p>
            <a:r>
              <a:rPr lang="en-US" noProof="0"/>
              <a:t>Click to edit page title</a:t>
            </a:r>
          </a:p>
        </p:txBody>
      </p:sp>
      <p:sp>
        <p:nvSpPr>
          <p:cNvPr id="10" name="Subtitle 2">
            <a:extLst>
              <a:ext uri="{FF2B5EF4-FFF2-40B4-BE49-F238E27FC236}">
                <a16:creationId xmlns:a16="http://schemas.microsoft.com/office/drawing/2014/main" id="{9D7ACCB5-9A86-4F46-89E2-B79F48C9EC1D}"/>
              </a:ext>
            </a:extLst>
          </p:cNvPr>
          <p:cNvSpPr>
            <a:spLocks noGrp="1"/>
          </p:cNvSpPr>
          <p:nvPr>
            <p:ph type="body" sz="quarter" idx="32" hasCustomPrompt="1"/>
          </p:nvPr>
        </p:nvSpPr>
        <p:spPr>
          <a:xfrm>
            <a:off x="431800" y="1008000"/>
            <a:ext cx="11339513" cy="360000"/>
          </a:xfrm>
        </p:spPr>
        <p:txBody>
          <a:bodyPr/>
          <a:lstStyle>
            <a:lvl1pPr marL="0" indent="0">
              <a:buNone/>
              <a:defRPr/>
            </a:lvl1pPr>
            <a:lvl2pPr marL="266700" indent="0">
              <a:buNone/>
              <a:defRPr/>
            </a:lvl2pPr>
            <a:lvl3pPr marL="542925" indent="0">
              <a:buNone/>
              <a:defRPr/>
            </a:lvl3pPr>
            <a:lvl4pPr marL="809625" indent="0">
              <a:buNone/>
              <a:defRPr/>
            </a:lvl4pPr>
            <a:lvl5pPr marL="1076325" indent="0">
              <a:buNone/>
              <a:defRPr/>
            </a:lvl5pPr>
          </a:lstStyle>
          <a:p>
            <a:pPr lvl="0"/>
            <a:r>
              <a:rPr lang="en-US" noProof="0"/>
              <a:t>Subtitle</a:t>
            </a:r>
          </a:p>
        </p:txBody>
      </p:sp>
      <p:sp>
        <p:nvSpPr>
          <p:cNvPr id="3" name="Content Placeholder 2">
            <a:extLst>
              <a:ext uri="{FF2B5EF4-FFF2-40B4-BE49-F238E27FC236}">
                <a16:creationId xmlns:a16="http://schemas.microsoft.com/office/drawing/2014/main" id="{B1948E38-8FB0-4E51-A01C-C88794372E50}"/>
              </a:ext>
            </a:extLst>
          </p:cNvPr>
          <p:cNvSpPr>
            <a:spLocks noGrp="1"/>
          </p:cNvSpPr>
          <p:nvPr>
            <p:ph idx="1"/>
          </p:nvPr>
        </p:nvSpPr>
        <p:spPr>
          <a:xfrm>
            <a:off x="432000" y="1512000"/>
            <a:ext cx="2160000" cy="4679250"/>
          </a:xfrm>
        </p:spPr>
        <p:txBody>
          <a:bodyPr/>
          <a:lstStyle>
            <a:lvl1pPr>
              <a:defRPr>
                <a:solidFill>
                  <a:schemeClr val="tx1">
                    <a:lumMod val="75000"/>
                    <a:lumOff val="25000"/>
                  </a:schemeClr>
                </a:solidFill>
              </a:defRPr>
            </a:lvl1pPr>
            <a:lvl2pPr>
              <a:defRPr>
                <a:solidFill>
                  <a:schemeClr val="tx1">
                    <a:lumMod val="75000"/>
                    <a:lumOff val="25000"/>
                  </a:schemeClr>
                </a:solidFill>
              </a:defRPr>
            </a:lvl2pPr>
            <a:lvl3pPr>
              <a:defRPr>
                <a:solidFill>
                  <a:schemeClr val="tx1">
                    <a:lumMod val="75000"/>
                    <a:lumOff val="25000"/>
                  </a:schemeClr>
                </a:solidFill>
              </a:defRPr>
            </a:lvl3pPr>
            <a:lvl4pPr>
              <a:defRPr>
                <a:solidFill>
                  <a:schemeClr val="tx1">
                    <a:lumMod val="75000"/>
                    <a:lumOff val="25000"/>
                  </a:schemeClr>
                </a:solidFill>
              </a:defRPr>
            </a:lvl4pPr>
            <a:lvl5pPr>
              <a:defRPr>
                <a:solidFill>
                  <a:schemeClr val="tx1">
                    <a:lumMod val="75000"/>
                    <a:lumOff val="25000"/>
                  </a:schemeClr>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5" name="Text Placeholder 4">
            <a:extLst>
              <a:ext uri="{FF2B5EF4-FFF2-40B4-BE49-F238E27FC236}">
                <a16:creationId xmlns:a16="http://schemas.microsoft.com/office/drawing/2014/main" id="{1F5B3657-F2AE-455A-BF81-1A0C2ACECD20}"/>
              </a:ext>
            </a:extLst>
          </p:cNvPr>
          <p:cNvSpPr>
            <a:spLocks noGrp="1"/>
          </p:cNvSpPr>
          <p:nvPr>
            <p:ph type="body" sz="quarter" idx="12"/>
          </p:nvPr>
        </p:nvSpPr>
        <p:spPr>
          <a:xfrm>
            <a:off x="2726412" y="1512000"/>
            <a:ext cx="2160588" cy="4679250"/>
          </a:xfrm>
        </p:spPr>
        <p:txBody>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3" name="Text Placeholder 5">
            <a:extLst>
              <a:ext uri="{FF2B5EF4-FFF2-40B4-BE49-F238E27FC236}">
                <a16:creationId xmlns:a16="http://schemas.microsoft.com/office/drawing/2014/main" id="{6A983D98-E0AB-429A-9EC2-B50D4216D691}"/>
              </a:ext>
            </a:extLst>
          </p:cNvPr>
          <p:cNvSpPr>
            <a:spLocks noGrp="1"/>
          </p:cNvSpPr>
          <p:nvPr>
            <p:ph type="body" sz="quarter" idx="13"/>
          </p:nvPr>
        </p:nvSpPr>
        <p:spPr>
          <a:xfrm>
            <a:off x="5021412" y="1512000"/>
            <a:ext cx="2160588" cy="4679250"/>
          </a:xfrm>
        </p:spPr>
        <p:txBody>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5" name="Text Placeholder 6">
            <a:extLst>
              <a:ext uri="{FF2B5EF4-FFF2-40B4-BE49-F238E27FC236}">
                <a16:creationId xmlns:a16="http://schemas.microsoft.com/office/drawing/2014/main" id="{755213BF-EF6D-45DC-A01B-DE6C2F23A6D2}"/>
              </a:ext>
            </a:extLst>
          </p:cNvPr>
          <p:cNvSpPr>
            <a:spLocks noGrp="1"/>
          </p:cNvSpPr>
          <p:nvPr>
            <p:ph type="body" sz="quarter" idx="14"/>
          </p:nvPr>
        </p:nvSpPr>
        <p:spPr>
          <a:xfrm>
            <a:off x="7316412" y="1507535"/>
            <a:ext cx="2160588" cy="4679250"/>
          </a:xfrm>
        </p:spPr>
        <p:txBody>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7" name="Text Placeholder 7">
            <a:extLst>
              <a:ext uri="{FF2B5EF4-FFF2-40B4-BE49-F238E27FC236}">
                <a16:creationId xmlns:a16="http://schemas.microsoft.com/office/drawing/2014/main" id="{77D6BBBA-F4A3-45D4-91BC-A405FFDC7C3D}"/>
              </a:ext>
            </a:extLst>
          </p:cNvPr>
          <p:cNvSpPr>
            <a:spLocks noGrp="1"/>
          </p:cNvSpPr>
          <p:nvPr>
            <p:ph type="body" sz="quarter" idx="15"/>
          </p:nvPr>
        </p:nvSpPr>
        <p:spPr>
          <a:xfrm>
            <a:off x="9611412" y="1507535"/>
            <a:ext cx="2160588" cy="4683715"/>
          </a:xfrm>
        </p:spPr>
        <p:txBody>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4" name="Footer Placeholder 3">
            <a:extLst>
              <a:ext uri="{FF2B5EF4-FFF2-40B4-BE49-F238E27FC236}">
                <a16:creationId xmlns:a16="http://schemas.microsoft.com/office/drawing/2014/main" id="{2D09234E-176D-4BBF-9391-7B6F018C51AB}"/>
              </a:ext>
            </a:extLst>
          </p:cNvPr>
          <p:cNvSpPr>
            <a:spLocks noGrp="1"/>
          </p:cNvSpPr>
          <p:nvPr>
            <p:ph type="ftr" sz="quarter" idx="16"/>
          </p:nvPr>
        </p:nvSpPr>
        <p:spPr/>
        <p:txBody>
          <a:bodyPr/>
          <a:lstStyle/>
          <a:p>
            <a:r>
              <a:rPr lang="en-US" noProof="0" dirty="0"/>
              <a:t>Add a footer</a:t>
            </a:r>
          </a:p>
        </p:txBody>
      </p:sp>
      <p:sp>
        <p:nvSpPr>
          <p:cNvPr id="6" name="Slide Number Placeholder 5">
            <a:extLst>
              <a:ext uri="{FF2B5EF4-FFF2-40B4-BE49-F238E27FC236}">
                <a16:creationId xmlns:a16="http://schemas.microsoft.com/office/drawing/2014/main" id="{009ABD5E-B8F1-4246-B167-09138760AD7D}"/>
              </a:ext>
            </a:extLst>
          </p:cNvPr>
          <p:cNvSpPr>
            <a:spLocks noGrp="1"/>
          </p:cNvSpPr>
          <p:nvPr>
            <p:ph type="sldNum" sz="quarter" idx="33"/>
          </p:nvPr>
        </p:nvSpPr>
        <p:spPr/>
        <p:txBody>
          <a:bodyPr/>
          <a:lstStyle/>
          <a:p>
            <a:fld id="{19B51A1E-902D-48AF-9020-955120F399B6}" type="slidenum">
              <a:rPr lang="en-US" noProof="0" smtClean="0"/>
              <a:pPr/>
              <a:t>‹#›</a:t>
            </a:fld>
            <a:endParaRPr lang="en-US" noProof="0" dirty="0"/>
          </a:p>
        </p:txBody>
      </p:sp>
    </p:spTree>
    <p:extLst>
      <p:ext uri="{BB962C8B-B14F-4D97-AF65-F5344CB8AC3E}">
        <p14:creationId xmlns:p14="http://schemas.microsoft.com/office/powerpoint/2010/main" val="97483723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Title Slide">
    <p:bg>
      <p:bgPr>
        <a:solidFill>
          <a:schemeClr val="bg1">
            <a:lumMod val="95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F23EB7-E336-46EB-A4A0-3DB7A6BF4CE1}"/>
              </a:ext>
            </a:extLst>
          </p:cNvPr>
          <p:cNvSpPr>
            <a:spLocks noGrp="1"/>
          </p:cNvSpPr>
          <p:nvPr>
            <p:ph type="ctrTitle" hasCustomPrompt="1"/>
          </p:nvPr>
        </p:nvSpPr>
        <p:spPr>
          <a:xfrm>
            <a:off x="3200400" y="2811053"/>
            <a:ext cx="8991600" cy="1261295"/>
          </a:xfrm>
          <a:solidFill>
            <a:schemeClr val="bg1"/>
          </a:solidFill>
        </p:spPr>
        <p:txBody>
          <a:bodyPr vert="horz" lIns="180000" tIns="180000" rIns="252000" bIns="180000" rtlCol="0" anchor="t">
            <a:noAutofit/>
          </a:bodyPr>
          <a:lstStyle>
            <a:lvl1pPr algn="r">
              <a:defRPr lang="en-ZA" sz="6000" b="1" spc="-300" dirty="0"/>
            </a:lvl1pPr>
          </a:lstStyle>
          <a:p>
            <a:pPr lvl="0" algn="r"/>
            <a:r>
              <a:rPr lang="en-US" noProof="0"/>
              <a:t>Click to edit presentation title</a:t>
            </a:r>
          </a:p>
        </p:txBody>
      </p:sp>
      <p:sp>
        <p:nvSpPr>
          <p:cNvPr id="3" name="Subtitle 2">
            <a:extLst>
              <a:ext uri="{FF2B5EF4-FFF2-40B4-BE49-F238E27FC236}">
                <a16:creationId xmlns:a16="http://schemas.microsoft.com/office/drawing/2014/main" id="{C9980B88-3F4A-4688-9ED0-17EF37E62D93}"/>
              </a:ext>
            </a:extLst>
          </p:cNvPr>
          <p:cNvSpPr>
            <a:spLocks noGrp="1"/>
          </p:cNvSpPr>
          <p:nvPr>
            <p:ph type="subTitle" idx="1"/>
          </p:nvPr>
        </p:nvSpPr>
        <p:spPr>
          <a:xfrm>
            <a:off x="3200400" y="4061039"/>
            <a:ext cx="6580188" cy="580921"/>
          </a:xfrm>
          <a:solidFill>
            <a:schemeClr val="tx1">
              <a:alpha val="80000"/>
            </a:schemeClr>
          </a:solidFill>
        </p:spPr>
        <p:txBody>
          <a:bodyPr vert="horz" lIns="180000" tIns="180000" rIns="180000" bIns="180000" rtlCol="0">
            <a:noAutofit/>
          </a:bodyPr>
          <a:lstStyle>
            <a:lvl1pPr marL="0" indent="0" algn="r">
              <a:buNone/>
              <a:defRPr lang="en-ZA" dirty="0">
                <a:solidFill>
                  <a:schemeClr val="bg1"/>
                </a:solidFill>
              </a:defRPr>
            </a:lvl1pPr>
          </a:lstStyle>
          <a:p>
            <a:pPr marL="266700" lvl="0" indent="-266700" algn="ctr"/>
            <a:r>
              <a:rPr lang="en-US" noProof="0"/>
              <a:t>Click to edit Master subtitle style</a:t>
            </a:r>
          </a:p>
        </p:txBody>
      </p:sp>
      <p:sp>
        <p:nvSpPr>
          <p:cNvPr id="13" name="Rectangle 12">
            <a:extLst>
              <a:ext uri="{FF2B5EF4-FFF2-40B4-BE49-F238E27FC236}">
                <a16:creationId xmlns:a16="http://schemas.microsoft.com/office/drawing/2014/main" id="{EC0FBB1B-4F0E-4365-BF27-3150FC6C3B90}"/>
              </a:ext>
            </a:extLst>
          </p:cNvPr>
          <p:cNvSpPr/>
          <p:nvPr userDrawn="1"/>
        </p:nvSpPr>
        <p:spPr>
          <a:xfrm>
            <a:off x="9780103" y="6803351"/>
            <a:ext cx="1979897" cy="54650"/>
          </a:xfrm>
          <a:prstGeom prst="rect">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4" name="Rectangle 13">
            <a:extLst>
              <a:ext uri="{FF2B5EF4-FFF2-40B4-BE49-F238E27FC236}">
                <a16:creationId xmlns:a16="http://schemas.microsoft.com/office/drawing/2014/main" id="{7A13D8A8-6C3D-4527-959D-41C3213F7F02}"/>
              </a:ext>
            </a:extLst>
          </p:cNvPr>
          <p:cNvSpPr/>
          <p:nvPr userDrawn="1"/>
        </p:nvSpPr>
        <p:spPr>
          <a:xfrm>
            <a:off x="0" y="6803351"/>
            <a:ext cx="9780104" cy="5465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5" name="Rectangle 14">
            <a:extLst>
              <a:ext uri="{FF2B5EF4-FFF2-40B4-BE49-F238E27FC236}">
                <a16:creationId xmlns:a16="http://schemas.microsoft.com/office/drawing/2014/main" id="{9504A767-1C0B-484E-BF7D-CD42D30A52EE}"/>
              </a:ext>
            </a:extLst>
          </p:cNvPr>
          <p:cNvSpPr/>
          <p:nvPr userDrawn="1"/>
        </p:nvSpPr>
        <p:spPr>
          <a:xfrm>
            <a:off x="11760000" y="6803351"/>
            <a:ext cx="432000" cy="5465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Rectangle 7">
            <a:extLst>
              <a:ext uri="{FF2B5EF4-FFF2-40B4-BE49-F238E27FC236}">
                <a16:creationId xmlns:a16="http://schemas.microsoft.com/office/drawing/2014/main" id="{51DD44D8-4A8F-4693-B90A-166855B29D25}"/>
              </a:ext>
            </a:extLst>
          </p:cNvPr>
          <p:cNvSpPr/>
          <p:nvPr userDrawn="1"/>
        </p:nvSpPr>
        <p:spPr>
          <a:xfrm>
            <a:off x="9780588" y="2698612"/>
            <a:ext cx="2411412" cy="114824"/>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Tree>
    <p:extLst>
      <p:ext uri="{BB962C8B-B14F-4D97-AF65-F5344CB8AC3E}">
        <p14:creationId xmlns:p14="http://schemas.microsoft.com/office/powerpoint/2010/main" val="85776010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Section Header">
    <p:bg>
      <p:bgPr>
        <a:solidFill>
          <a:schemeClr val="tx1">
            <a:lumMod val="75000"/>
            <a:lumOff val="25000"/>
          </a:schemeClr>
        </a:solid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E473AB13-DFF9-4538-9907-E261659E0E01}"/>
              </a:ext>
            </a:extLst>
          </p:cNvPr>
          <p:cNvSpPr>
            <a:spLocks noGrp="1"/>
          </p:cNvSpPr>
          <p:nvPr>
            <p:ph type="title" hasCustomPrompt="1"/>
          </p:nvPr>
        </p:nvSpPr>
        <p:spPr>
          <a:xfrm>
            <a:off x="-1700" y="2156226"/>
            <a:ext cx="5958000" cy="1958400"/>
          </a:xfrm>
          <a:solidFill>
            <a:schemeClr val="bg1"/>
          </a:solidFill>
        </p:spPr>
        <p:txBody>
          <a:bodyPr lIns="252000" tIns="180000" rIns="180000" bIns="180000"/>
          <a:lstStyle>
            <a:lvl1pPr>
              <a:defRPr sz="6000" b="1" spc="-300">
                <a:solidFill>
                  <a:schemeClr val="tx1">
                    <a:lumMod val="75000"/>
                    <a:lumOff val="25000"/>
                  </a:schemeClr>
                </a:solidFill>
                <a:latin typeface="+mj-lt"/>
              </a:defRPr>
            </a:lvl1pPr>
          </a:lstStyle>
          <a:p>
            <a:r>
              <a:rPr lang="en-US" noProof="0"/>
              <a:t>Click to edit section divider</a:t>
            </a:r>
          </a:p>
        </p:txBody>
      </p:sp>
      <p:sp>
        <p:nvSpPr>
          <p:cNvPr id="4" name="Footer Placeholder 3">
            <a:extLst>
              <a:ext uri="{FF2B5EF4-FFF2-40B4-BE49-F238E27FC236}">
                <a16:creationId xmlns:a16="http://schemas.microsoft.com/office/drawing/2014/main" id="{6816FE98-6A12-44EC-8485-8B5EFABDF9B2}"/>
              </a:ext>
            </a:extLst>
          </p:cNvPr>
          <p:cNvSpPr>
            <a:spLocks noGrp="1"/>
          </p:cNvSpPr>
          <p:nvPr>
            <p:ph type="ftr" sz="quarter" idx="11"/>
          </p:nvPr>
        </p:nvSpPr>
        <p:spPr/>
        <p:txBody>
          <a:bodyPr/>
          <a:lstStyle/>
          <a:p>
            <a:r>
              <a:rPr lang="en-US" noProof="0" dirty="0"/>
              <a:t>Add a footer</a:t>
            </a:r>
          </a:p>
        </p:txBody>
      </p:sp>
      <p:sp>
        <p:nvSpPr>
          <p:cNvPr id="8" name="Rectangle 7">
            <a:extLst>
              <a:ext uri="{FF2B5EF4-FFF2-40B4-BE49-F238E27FC236}">
                <a16:creationId xmlns:a16="http://schemas.microsoft.com/office/drawing/2014/main" id="{51DD44D8-4A8F-4693-B90A-166855B29D25}"/>
              </a:ext>
            </a:extLst>
          </p:cNvPr>
          <p:cNvSpPr/>
          <p:nvPr userDrawn="1"/>
        </p:nvSpPr>
        <p:spPr>
          <a:xfrm>
            <a:off x="0" y="5209682"/>
            <a:ext cx="2411412" cy="11482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noProof="0" dirty="0"/>
          </a:p>
        </p:txBody>
      </p:sp>
      <p:sp>
        <p:nvSpPr>
          <p:cNvPr id="13" name="Rectangle 12">
            <a:extLst>
              <a:ext uri="{FF2B5EF4-FFF2-40B4-BE49-F238E27FC236}">
                <a16:creationId xmlns:a16="http://schemas.microsoft.com/office/drawing/2014/main" id="{EC0FBB1B-4F0E-4365-BF27-3150FC6C3B90}"/>
              </a:ext>
            </a:extLst>
          </p:cNvPr>
          <p:cNvSpPr/>
          <p:nvPr userDrawn="1"/>
        </p:nvSpPr>
        <p:spPr>
          <a:xfrm>
            <a:off x="9780103" y="6803351"/>
            <a:ext cx="1979897" cy="54650"/>
          </a:xfrm>
          <a:prstGeom prst="rect">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4" name="Rectangle 13">
            <a:extLst>
              <a:ext uri="{FF2B5EF4-FFF2-40B4-BE49-F238E27FC236}">
                <a16:creationId xmlns:a16="http://schemas.microsoft.com/office/drawing/2014/main" id="{7A13D8A8-6C3D-4527-959D-41C3213F7F02}"/>
              </a:ext>
            </a:extLst>
          </p:cNvPr>
          <p:cNvSpPr/>
          <p:nvPr userDrawn="1"/>
        </p:nvSpPr>
        <p:spPr>
          <a:xfrm>
            <a:off x="0" y="6803351"/>
            <a:ext cx="9780104" cy="5465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5" name="Rectangle 14">
            <a:extLst>
              <a:ext uri="{FF2B5EF4-FFF2-40B4-BE49-F238E27FC236}">
                <a16:creationId xmlns:a16="http://schemas.microsoft.com/office/drawing/2014/main" id="{9504A767-1C0B-484E-BF7D-CD42D30A52EE}"/>
              </a:ext>
            </a:extLst>
          </p:cNvPr>
          <p:cNvSpPr/>
          <p:nvPr userDrawn="1"/>
        </p:nvSpPr>
        <p:spPr>
          <a:xfrm>
            <a:off x="11760000" y="6803351"/>
            <a:ext cx="432000" cy="5465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F50EF489-F21B-4E7C-9A44-D3CC8DC34F5F}"/>
              </a:ext>
            </a:extLst>
          </p:cNvPr>
          <p:cNvSpPr>
            <a:spLocks noGrp="1"/>
          </p:cNvSpPr>
          <p:nvPr>
            <p:ph type="sldNum" sz="quarter" idx="12"/>
          </p:nvPr>
        </p:nvSpPr>
        <p:spPr/>
        <p:txBody>
          <a:bodyPr/>
          <a:lstStyle/>
          <a:p>
            <a:fld id="{19B51A1E-902D-48AF-9020-955120F399B6}" type="slidenum">
              <a:rPr lang="en-US" noProof="0" smtClean="0"/>
              <a:pPr/>
              <a:t>‹#›</a:t>
            </a:fld>
            <a:endParaRPr lang="en-US" noProof="0" dirty="0"/>
          </a:p>
        </p:txBody>
      </p:sp>
      <p:sp>
        <p:nvSpPr>
          <p:cNvPr id="11" name="Text Placeholder 2">
            <a:extLst>
              <a:ext uri="{FF2B5EF4-FFF2-40B4-BE49-F238E27FC236}">
                <a16:creationId xmlns:a16="http://schemas.microsoft.com/office/drawing/2014/main" id="{14B95064-E6BF-43CD-ACBD-6363E8D9BF6A}"/>
              </a:ext>
            </a:extLst>
          </p:cNvPr>
          <p:cNvSpPr>
            <a:spLocks noGrp="1"/>
          </p:cNvSpPr>
          <p:nvPr>
            <p:ph type="body" idx="1"/>
          </p:nvPr>
        </p:nvSpPr>
        <p:spPr>
          <a:xfrm>
            <a:off x="0" y="4114627"/>
            <a:ext cx="5956300" cy="1095056"/>
          </a:xfrm>
          <a:solidFill>
            <a:schemeClr val="tx1">
              <a:alpha val="80000"/>
            </a:schemeClr>
          </a:solidFill>
        </p:spPr>
        <p:txBody>
          <a:bodyPr vert="horz" lIns="252000" tIns="180000" rIns="180000" bIns="180000" rtlCol="0">
            <a:noAutofit/>
          </a:bodyPr>
          <a:lstStyle>
            <a:lvl1pPr marL="0" indent="0" algn="l">
              <a:buNone/>
              <a:defRPr lang="en-US">
                <a:solidFill>
                  <a:schemeClr val="bg1"/>
                </a:solidFill>
              </a:defRPr>
            </a:lvl1pPr>
          </a:lstStyle>
          <a:p>
            <a:pPr marL="266700" lvl="0" indent="-266700"/>
            <a:r>
              <a:rPr lang="en-US" noProof="0"/>
              <a:t>Click to edit Master text styles</a:t>
            </a:r>
          </a:p>
        </p:txBody>
      </p:sp>
    </p:spTree>
    <p:extLst>
      <p:ext uri="{BB962C8B-B14F-4D97-AF65-F5344CB8AC3E}">
        <p14:creationId xmlns:p14="http://schemas.microsoft.com/office/powerpoint/2010/main" val="398256373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FF4C50-933F-41F9-AD11-BD02410AA7D5}"/>
              </a:ext>
            </a:extLst>
          </p:cNvPr>
          <p:cNvSpPr>
            <a:spLocks noGrp="1"/>
          </p:cNvSpPr>
          <p:nvPr>
            <p:ph type="title" hasCustomPrompt="1"/>
          </p:nvPr>
        </p:nvSpPr>
        <p:spPr/>
        <p:txBody>
          <a:bodyPr/>
          <a:lstStyle>
            <a:lvl1pPr>
              <a:defRPr>
                <a:solidFill>
                  <a:schemeClr val="tx1">
                    <a:lumMod val="75000"/>
                    <a:lumOff val="25000"/>
                  </a:schemeClr>
                </a:solidFill>
              </a:defRPr>
            </a:lvl1pPr>
          </a:lstStyle>
          <a:p>
            <a:r>
              <a:rPr lang="en-US" noProof="0"/>
              <a:t>Click to edit page title</a:t>
            </a:r>
          </a:p>
        </p:txBody>
      </p:sp>
      <p:sp>
        <p:nvSpPr>
          <p:cNvPr id="3" name="Content Placeholder 2">
            <a:extLst>
              <a:ext uri="{FF2B5EF4-FFF2-40B4-BE49-F238E27FC236}">
                <a16:creationId xmlns:a16="http://schemas.microsoft.com/office/drawing/2014/main" id="{B1948E38-8FB0-4E51-A01C-C88794372E50}"/>
              </a:ext>
            </a:extLst>
          </p:cNvPr>
          <p:cNvSpPr>
            <a:spLocks noGrp="1"/>
          </p:cNvSpPr>
          <p:nvPr>
            <p:ph idx="1"/>
          </p:nvPr>
        </p:nvSpPr>
        <p:spPr>
          <a:xfrm>
            <a:off x="432000" y="1008000"/>
            <a:ext cx="11328000" cy="5183250"/>
          </a:xfrm>
        </p:spPr>
        <p:txBody>
          <a:bodyPr/>
          <a:lstStyle>
            <a:lvl1pPr>
              <a:defRPr>
                <a:solidFill>
                  <a:schemeClr val="tx1">
                    <a:lumMod val="75000"/>
                    <a:lumOff val="25000"/>
                  </a:schemeClr>
                </a:solidFill>
              </a:defRPr>
            </a:lvl1pPr>
            <a:lvl2pPr>
              <a:defRPr>
                <a:solidFill>
                  <a:schemeClr val="tx1">
                    <a:lumMod val="75000"/>
                    <a:lumOff val="25000"/>
                  </a:schemeClr>
                </a:solidFill>
              </a:defRPr>
            </a:lvl2pPr>
            <a:lvl3pPr>
              <a:defRPr>
                <a:solidFill>
                  <a:schemeClr val="tx1">
                    <a:lumMod val="75000"/>
                    <a:lumOff val="25000"/>
                  </a:schemeClr>
                </a:solidFill>
              </a:defRPr>
            </a:lvl3pPr>
            <a:lvl4pPr>
              <a:defRPr>
                <a:solidFill>
                  <a:schemeClr val="tx1">
                    <a:lumMod val="75000"/>
                    <a:lumOff val="25000"/>
                  </a:schemeClr>
                </a:solidFill>
              </a:defRPr>
            </a:lvl4pPr>
            <a:lvl5pPr>
              <a:defRPr>
                <a:solidFill>
                  <a:schemeClr val="tx1">
                    <a:lumMod val="75000"/>
                    <a:lumOff val="25000"/>
                  </a:schemeClr>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4" name="Footer Placeholder 3">
            <a:extLst>
              <a:ext uri="{FF2B5EF4-FFF2-40B4-BE49-F238E27FC236}">
                <a16:creationId xmlns:a16="http://schemas.microsoft.com/office/drawing/2014/main" id="{E8FE0EB3-0FF4-4285-B9D3-90A5751B7BBF}"/>
              </a:ext>
            </a:extLst>
          </p:cNvPr>
          <p:cNvSpPr>
            <a:spLocks noGrp="1"/>
          </p:cNvSpPr>
          <p:nvPr>
            <p:ph type="ftr" sz="quarter" idx="12"/>
          </p:nvPr>
        </p:nvSpPr>
        <p:spPr/>
        <p:txBody>
          <a:bodyPr/>
          <a:lstStyle/>
          <a:p>
            <a:r>
              <a:rPr lang="en-US" noProof="0" dirty="0"/>
              <a:t>Add a footer</a:t>
            </a:r>
          </a:p>
        </p:txBody>
      </p:sp>
      <p:sp>
        <p:nvSpPr>
          <p:cNvPr id="5" name="Slide Number Placeholder 4">
            <a:extLst>
              <a:ext uri="{FF2B5EF4-FFF2-40B4-BE49-F238E27FC236}">
                <a16:creationId xmlns:a16="http://schemas.microsoft.com/office/drawing/2014/main" id="{C8DE0AAD-6FBD-416B-A91A-21F2B737919E}"/>
              </a:ext>
            </a:extLst>
          </p:cNvPr>
          <p:cNvSpPr>
            <a:spLocks noGrp="1"/>
          </p:cNvSpPr>
          <p:nvPr>
            <p:ph type="sldNum" sz="quarter" idx="33"/>
          </p:nvPr>
        </p:nvSpPr>
        <p:spPr/>
        <p:txBody>
          <a:bodyPr/>
          <a:lstStyle/>
          <a:p>
            <a:fld id="{19B51A1E-902D-48AF-9020-955120F399B6}" type="slidenum">
              <a:rPr lang="en-US" noProof="0" smtClean="0"/>
              <a:pPr/>
              <a:t>‹#›</a:t>
            </a:fld>
            <a:endParaRPr lang="en-US" noProof="0" dirty="0"/>
          </a:p>
        </p:txBody>
      </p:sp>
    </p:spTree>
    <p:extLst>
      <p:ext uri="{BB962C8B-B14F-4D97-AF65-F5344CB8AC3E}">
        <p14:creationId xmlns:p14="http://schemas.microsoft.com/office/powerpoint/2010/main" val="97620753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EE479C-D1F6-4BAC-80D2-90EF74E3261A}"/>
              </a:ext>
            </a:extLst>
          </p:cNvPr>
          <p:cNvSpPr>
            <a:spLocks noGrp="1"/>
          </p:cNvSpPr>
          <p:nvPr>
            <p:ph type="title" hasCustomPrompt="1"/>
          </p:nvPr>
        </p:nvSpPr>
        <p:spPr>
          <a:xfrm>
            <a:off x="432000" y="432000"/>
            <a:ext cx="11340000" cy="432000"/>
          </a:xfrm>
        </p:spPr>
        <p:txBody>
          <a:bodyPr/>
          <a:lstStyle>
            <a:lvl1pPr>
              <a:defRPr>
                <a:solidFill>
                  <a:schemeClr val="tx1">
                    <a:lumMod val="75000"/>
                    <a:lumOff val="25000"/>
                  </a:schemeClr>
                </a:solidFill>
              </a:defRPr>
            </a:lvl1pPr>
          </a:lstStyle>
          <a:p>
            <a:r>
              <a:rPr lang="en-US" noProof="0"/>
              <a:t>Click to edit page title</a:t>
            </a:r>
          </a:p>
        </p:txBody>
      </p:sp>
      <p:sp>
        <p:nvSpPr>
          <p:cNvPr id="4" name="Footer Placeholder 3">
            <a:extLst>
              <a:ext uri="{FF2B5EF4-FFF2-40B4-BE49-F238E27FC236}">
                <a16:creationId xmlns:a16="http://schemas.microsoft.com/office/drawing/2014/main" id="{57847F90-9DB6-4832-9EB7-393AADAE8B70}"/>
              </a:ext>
            </a:extLst>
          </p:cNvPr>
          <p:cNvSpPr>
            <a:spLocks noGrp="1"/>
          </p:cNvSpPr>
          <p:nvPr>
            <p:ph type="ftr" sz="quarter" idx="13"/>
          </p:nvPr>
        </p:nvSpPr>
        <p:spPr/>
        <p:txBody>
          <a:bodyPr/>
          <a:lstStyle/>
          <a:p>
            <a:r>
              <a:rPr lang="en-US" noProof="0" dirty="0"/>
              <a:t>Add a footer</a:t>
            </a:r>
          </a:p>
        </p:txBody>
      </p:sp>
      <p:sp>
        <p:nvSpPr>
          <p:cNvPr id="5" name="Slide Number Placeholder 4">
            <a:extLst>
              <a:ext uri="{FF2B5EF4-FFF2-40B4-BE49-F238E27FC236}">
                <a16:creationId xmlns:a16="http://schemas.microsoft.com/office/drawing/2014/main" id="{F64CFC6C-1D8B-46C9-B0F7-A8BD88D8AB46}"/>
              </a:ext>
            </a:extLst>
          </p:cNvPr>
          <p:cNvSpPr>
            <a:spLocks noGrp="1"/>
          </p:cNvSpPr>
          <p:nvPr>
            <p:ph type="sldNum" sz="quarter" idx="33"/>
          </p:nvPr>
        </p:nvSpPr>
        <p:spPr/>
        <p:txBody>
          <a:bodyPr/>
          <a:lstStyle/>
          <a:p>
            <a:fld id="{19B51A1E-902D-48AF-9020-955120F399B6}" type="slidenum">
              <a:rPr lang="en-US" noProof="0" smtClean="0"/>
              <a:pPr/>
              <a:t>‹#›</a:t>
            </a:fld>
            <a:endParaRPr lang="en-US" noProof="0" dirty="0"/>
          </a:p>
        </p:txBody>
      </p:sp>
      <p:sp>
        <p:nvSpPr>
          <p:cNvPr id="9" name="Content Placeholder 3">
            <a:extLst>
              <a:ext uri="{FF2B5EF4-FFF2-40B4-BE49-F238E27FC236}">
                <a16:creationId xmlns:a16="http://schemas.microsoft.com/office/drawing/2014/main" id="{EE1E0B79-3CC8-4DCF-8AEC-AC43BC9A3048}"/>
              </a:ext>
            </a:extLst>
          </p:cNvPr>
          <p:cNvSpPr>
            <a:spLocks noGrp="1"/>
          </p:cNvSpPr>
          <p:nvPr>
            <p:ph sz="half" idx="2"/>
          </p:nvPr>
        </p:nvSpPr>
        <p:spPr>
          <a:xfrm>
            <a:off x="6311886" y="1007250"/>
            <a:ext cx="5460114" cy="5169713"/>
          </a:xfrm>
        </p:spPr>
        <p:txBody>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0" name="Content Placeholder 2">
            <a:extLst>
              <a:ext uri="{FF2B5EF4-FFF2-40B4-BE49-F238E27FC236}">
                <a16:creationId xmlns:a16="http://schemas.microsoft.com/office/drawing/2014/main" id="{15546508-E26C-46CD-8939-D20E71BF4ED7}"/>
              </a:ext>
            </a:extLst>
          </p:cNvPr>
          <p:cNvSpPr>
            <a:spLocks noGrp="1"/>
          </p:cNvSpPr>
          <p:nvPr>
            <p:ph sz="half" idx="1"/>
          </p:nvPr>
        </p:nvSpPr>
        <p:spPr>
          <a:xfrm>
            <a:off x="431999" y="1007250"/>
            <a:ext cx="5448115" cy="5169713"/>
          </a:xfrm>
        </p:spPr>
        <p:txBody>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61555331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EE479C-D1F6-4BAC-80D2-90EF74E3261A}"/>
              </a:ext>
            </a:extLst>
          </p:cNvPr>
          <p:cNvSpPr>
            <a:spLocks noGrp="1"/>
          </p:cNvSpPr>
          <p:nvPr>
            <p:ph type="title" hasCustomPrompt="1"/>
          </p:nvPr>
        </p:nvSpPr>
        <p:spPr>
          <a:xfrm>
            <a:off x="432000" y="432000"/>
            <a:ext cx="11340000" cy="432000"/>
          </a:xfrm>
        </p:spPr>
        <p:txBody>
          <a:bodyPr/>
          <a:lstStyle>
            <a:lvl1pPr>
              <a:defRPr>
                <a:solidFill>
                  <a:schemeClr val="tx1">
                    <a:lumMod val="75000"/>
                    <a:lumOff val="25000"/>
                  </a:schemeClr>
                </a:solidFill>
              </a:defRPr>
            </a:lvl1pPr>
          </a:lstStyle>
          <a:p>
            <a:r>
              <a:rPr lang="en-US" noProof="0"/>
              <a:t>Click to edit page title</a:t>
            </a:r>
          </a:p>
        </p:txBody>
      </p:sp>
      <p:sp>
        <p:nvSpPr>
          <p:cNvPr id="4" name="Footer Placeholder 3">
            <a:extLst>
              <a:ext uri="{FF2B5EF4-FFF2-40B4-BE49-F238E27FC236}">
                <a16:creationId xmlns:a16="http://schemas.microsoft.com/office/drawing/2014/main" id="{57847F90-9DB6-4832-9EB7-393AADAE8B70}"/>
              </a:ext>
            </a:extLst>
          </p:cNvPr>
          <p:cNvSpPr>
            <a:spLocks noGrp="1"/>
          </p:cNvSpPr>
          <p:nvPr>
            <p:ph type="ftr" sz="quarter" idx="13"/>
          </p:nvPr>
        </p:nvSpPr>
        <p:spPr/>
        <p:txBody>
          <a:bodyPr/>
          <a:lstStyle/>
          <a:p>
            <a:r>
              <a:rPr lang="en-US" noProof="0" dirty="0"/>
              <a:t>Add a footer</a:t>
            </a:r>
          </a:p>
        </p:txBody>
      </p:sp>
      <p:sp>
        <p:nvSpPr>
          <p:cNvPr id="5" name="Slide Number Placeholder 4">
            <a:extLst>
              <a:ext uri="{FF2B5EF4-FFF2-40B4-BE49-F238E27FC236}">
                <a16:creationId xmlns:a16="http://schemas.microsoft.com/office/drawing/2014/main" id="{F64CFC6C-1D8B-46C9-B0F7-A8BD88D8AB46}"/>
              </a:ext>
            </a:extLst>
          </p:cNvPr>
          <p:cNvSpPr>
            <a:spLocks noGrp="1"/>
          </p:cNvSpPr>
          <p:nvPr>
            <p:ph type="sldNum" sz="quarter" idx="33"/>
          </p:nvPr>
        </p:nvSpPr>
        <p:spPr/>
        <p:txBody>
          <a:bodyPr/>
          <a:lstStyle/>
          <a:p>
            <a:fld id="{19B51A1E-902D-48AF-9020-955120F399B6}" type="slidenum">
              <a:rPr lang="en-US" noProof="0" smtClean="0"/>
              <a:pPr/>
              <a:t>‹#›</a:t>
            </a:fld>
            <a:endParaRPr lang="en-US" noProof="0" dirty="0"/>
          </a:p>
        </p:txBody>
      </p:sp>
      <p:sp>
        <p:nvSpPr>
          <p:cNvPr id="11" name="Rectangle 10" descr="Accent block left">
            <a:extLst>
              <a:ext uri="{FF2B5EF4-FFF2-40B4-BE49-F238E27FC236}">
                <a16:creationId xmlns:a16="http://schemas.microsoft.com/office/drawing/2014/main" id="{48A1A904-FE62-4BE3-BAE9-0EEAE7B1E38C}"/>
              </a:ext>
              <a:ext uri="{C183D7F6-B498-43B3-948B-1728B52AA6E4}">
                <adec:decorative xmlns:adec="http://schemas.microsoft.com/office/drawing/2017/decorative" val="1"/>
              </a:ext>
            </a:extLst>
          </p:cNvPr>
          <p:cNvSpPr/>
          <p:nvPr userDrawn="1"/>
        </p:nvSpPr>
        <p:spPr>
          <a:xfrm>
            <a:off x="431800" y="1016231"/>
            <a:ext cx="1984175" cy="11482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noProof="0" dirty="0"/>
          </a:p>
        </p:txBody>
      </p:sp>
      <p:sp>
        <p:nvSpPr>
          <p:cNvPr id="12" name="Rectangle 11" descr="Accent bar right&#10;">
            <a:extLst>
              <a:ext uri="{FF2B5EF4-FFF2-40B4-BE49-F238E27FC236}">
                <a16:creationId xmlns:a16="http://schemas.microsoft.com/office/drawing/2014/main" id="{3E8A46E0-47C2-4441-B7DD-F621A80F1FC8}"/>
              </a:ext>
              <a:ext uri="{C183D7F6-B498-43B3-948B-1728B52AA6E4}">
                <adec:decorative xmlns:adec="http://schemas.microsoft.com/office/drawing/2017/decorative" val="1"/>
              </a:ext>
            </a:extLst>
          </p:cNvPr>
          <p:cNvSpPr/>
          <p:nvPr userDrawn="1"/>
        </p:nvSpPr>
        <p:spPr>
          <a:xfrm>
            <a:off x="6299887" y="1016231"/>
            <a:ext cx="1984175" cy="114824"/>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noProof="0" dirty="0"/>
          </a:p>
        </p:txBody>
      </p:sp>
      <p:sp>
        <p:nvSpPr>
          <p:cNvPr id="14" name="Text Placeholder 2">
            <a:extLst>
              <a:ext uri="{FF2B5EF4-FFF2-40B4-BE49-F238E27FC236}">
                <a16:creationId xmlns:a16="http://schemas.microsoft.com/office/drawing/2014/main" id="{D902C307-6561-4E11-9899-1F34830AE8AB}"/>
              </a:ext>
            </a:extLst>
          </p:cNvPr>
          <p:cNvSpPr>
            <a:spLocks noGrp="1"/>
          </p:cNvSpPr>
          <p:nvPr>
            <p:ph type="body" idx="1"/>
          </p:nvPr>
        </p:nvSpPr>
        <p:spPr>
          <a:xfrm>
            <a:off x="431800" y="1224128"/>
            <a:ext cx="5448115" cy="35877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Click to edit Master text styles</a:t>
            </a:r>
          </a:p>
        </p:txBody>
      </p:sp>
      <p:sp>
        <p:nvSpPr>
          <p:cNvPr id="16" name="Text Placeholder 4">
            <a:extLst>
              <a:ext uri="{FF2B5EF4-FFF2-40B4-BE49-F238E27FC236}">
                <a16:creationId xmlns:a16="http://schemas.microsoft.com/office/drawing/2014/main" id="{CD73439B-6B1B-47C5-B2B0-409015FB3398}"/>
              </a:ext>
            </a:extLst>
          </p:cNvPr>
          <p:cNvSpPr>
            <a:spLocks noGrp="1"/>
          </p:cNvSpPr>
          <p:nvPr>
            <p:ph type="body" sz="quarter" idx="3"/>
          </p:nvPr>
        </p:nvSpPr>
        <p:spPr>
          <a:xfrm>
            <a:off x="6312086" y="1224128"/>
            <a:ext cx="5447914" cy="35877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Click to edit Master text styles</a:t>
            </a:r>
          </a:p>
        </p:txBody>
      </p:sp>
      <p:sp>
        <p:nvSpPr>
          <p:cNvPr id="17" name="Content Placeholder 5">
            <a:extLst>
              <a:ext uri="{FF2B5EF4-FFF2-40B4-BE49-F238E27FC236}">
                <a16:creationId xmlns:a16="http://schemas.microsoft.com/office/drawing/2014/main" id="{12AC6878-44C6-4445-A225-70C0DC482EDF}"/>
              </a:ext>
            </a:extLst>
          </p:cNvPr>
          <p:cNvSpPr>
            <a:spLocks noGrp="1"/>
          </p:cNvSpPr>
          <p:nvPr>
            <p:ph sz="quarter" idx="4"/>
          </p:nvPr>
        </p:nvSpPr>
        <p:spPr>
          <a:xfrm>
            <a:off x="6299886" y="1955731"/>
            <a:ext cx="5447914" cy="4233932"/>
          </a:xfrm>
        </p:spPr>
        <p:txBody>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8" name="Content Placeholder 3">
            <a:extLst>
              <a:ext uri="{FF2B5EF4-FFF2-40B4-BE49-F238E27FC236}">
                <a16:creationId xmlns:a16="http://schemas.microsoft.com/office/drawing/2014/main" id="{6D675DA8-374F-4915-973A-53612A41FFC1}"/>
              </a:ext>
            </a:extLst>
          </p:cNvPr>
          <p:cNvSpPr>
            <a:spLocks noGrp="1"/>
          </p:cNvSpPr>
          <p:nvPr>
            <p:ph sz="half" idx="2"/>
          </p:nvPr>
        </p:nvSpPr>
        <p:spPr>
          <a:xfrm>
            <a:off x="431800" y="1943031"/>
            <a:ext cx="5447914" cy="4246632"/>
          </a:xfrm>
        </p:spPr>
        <p:txBody>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362531509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EE479C-D1F6-4BAC-80D2-90EF74E3261A}"/>
              </a:ext>
            </a:extLst>
          </p:cNvPr>
          <p:cNvSpPr>
            <a:spLocks noGrp="1"/>
          </p:cNvSpPr>
          <p:nvPr>
            <p:ph type="title" hasCustomPrompt="1"/>
          </p:nvPr>
        </p:nvSpPr>
        <p:spPr>
          <a:xfrm>
            <a:off x="432000" y="432000"/>
            <a:ext cx="3932037" cy="1411276"/>
          </a:xfrm>
        </p:spPr>
        <p:txBody>
          <a:bodyPr anchor="b"/>
          <a:lstStyle>
            <a:lvl1pPr>
              <a:defRPr>
                <a:solidFill>
                  <a:schemeClr val="tx1">
                    <a:lumMod val="75000"/>
                    <a:lumOff val="25000"/>
                  </a:schemeClr>
                </a:solidFill>
              </a:defRPr>
            </a:lvl1pPr>
          </a:lstStyle>
          <a:p>
            <a:r>
              <a:rPr lang="en-US" noProof="0"/>
              <a:t>Click to edit page title</a:t>
            </a:r>
          </a:p>
        </p:txBody>
      </p:sp>
      <p:sp>
        <p:nvSpPr>
          <p:cNvPr id="4" name="Footer Placeholder 3">
            <a:extLst>
              <a:ext uri="{FF2B5EF4-FFF2-40B4-BE49-F238E27FC236}">
                <a16:creationId xmlns:a16="http://schemas.microsoft.com/office/drawing/2014/main" id="{57847F90-9DB6-4832-9EB7-393AADAE8B70}"/>
              </a:ext>
            </a:extLst>
          </p:cNvPr>
          <p:cNvSpPr>
            <a:spLocks noGrp="1"/>
          </p:cNvSpPr>
          <p:nvPr>
            <p:ph type="ftr" sz="quarter" idx="13"/>
          </p:nvPr>
        </p:nvSpPr>
        <p:spPr/>
        <p:txBody>
          <a:bodyPr/>
          <a:lstStyle/>
          <a:p>
            <a:r>
              <a:rPr lang="en-US" noProof="0" dirty="0"/>
              <a:t>Add a footer</a:t>
            </a:r>
          </a:p>
        </p:txBody>
      </p:sp>
      <p:sp>
        <p:nvSpPr>
          <p:cNvPr id="5" name="Slide Number Placeholder 4">
            <a:extLst>
              <a:ext uri="{FF2B5EF4-FFF2-40B4-BE49-F238E27FC236}">
                <a16:creationId xmlns:a16="http://schemas.microsoft.com/office/drawing/2014/main" id="{F64CFC6C-1D8B-46C9-B0F7-A8BD88D8AB46}"/>
              </a:ext>
            </a:extLst>
          </p:cNvPr>
          <p:cNvSpPr>
            <a:spLocks noGrp="1"/>
          </p:cNvSpPr>
          <p:nvPr>
            <p:ph type="sldNum" sz="quarter" idx="33"/>
          </p:nvPr>
        </p:nvSpPr>
        <p:spPr/>
        <p:txBody>
          <a:bodyPr/>
          <a:lstStyle/>
          <a:p>
            <a:fld id="{19B51A1E-902D-48AF-9020-955120F399B6}" type="slidenum">
              <a:rPr lang="en-US" noProof="0" smtClean="0"/>
              <a:pPr/>
              <a:t>‹#›</a:t>
            </a:fld>
            <a:endParaRPr lang="en-US" noProof="0" dirty="0"/>
          </a:p>
        </p:txBody>
      </p:sp>
      <p:sp>
        <p:nvSpPr>
          <p:cNvPr id="11" name="Rectangle 10" descr="Accent block left">
            <a:extLst>
              <a:ext uri="{FF2B5EF4-FFF2-40B4-BE49-F238E27FC236}">
                <a16:creationId xmlns:a16="http://schemas.microsoft.com/office/drawing/2014/main" id="{48A1A904-FE62-4BE3-BAE9-0EEAE7B1E38C}"/>
              </a:ext>
              <a:ext uri="{C183D7F6-B498-43B3-948B-1728B52AA6E4}">
                <adec:decorative xmlns:adec="http://schemas.microsoft.com/office/drawing/2017/decorative" val="1"/>
              </a:ext>
            </a:extLst>
          </p:cNvPr>
          <p:cNvSpPr/>
          <p:nvPr userDrawn="1"/>
        </p:nvSpPr>
        <p:spPr>
          <a:xfrm>
            <a:off x="431800" y="1892926"/>
            <a:ext cx="1984175" cy="11482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noProof="0" dirty="0"/>
          </a:p>
        </p:txBody>
      </p:sp>
      <p:sp>
        <p:nvSpPr>
          <p:cNvPr id="14" name="Content Placeholder 2">
            <a:extLst>
              <a:ext uri="{FF2B5EF4-FFF2-40B4-BE49-F238E27FC236}">
                <a16:creationId xmlns:a16="http://schemas.microsoft.com/office/drawing/2014/main" id="{85B68CA9-AC4C-4D15-9BA1-A9F1AC5606DA}"/>
              </a:ext>
            </a:extLst>
          </p:cNvPr>
          <p:cNvSpPr>
            <a:spLocks noGrp="1"/>
          </p:cNvSpPr>
          <p:nvPr>
            <p:ph idx="1"/>
          </p:nvPr>
        </p:nvSpPr>
        <p:spPr>
          <a:xfrm>
            <a:off x="4788816" y="432001"/>
            <a:ext cx="6971184" cy="5429050"/>
          </a:xfrm>
        </p:spPr>
        <p:txBody>
          <a:bodyPr/>
          <a:lstStyle>
            <a:lvl1pPr>
              <a:defRPr sz="2000"/>
            </a:lvl1pPr>
            <a:lvl2pPr>
              <a:defRPr sz="1800"/>
            </a:lvl2pPr>
            <a:lvl3pPr>
              <a:defRPr sz="1600"/>
            </a:lvl3pPr>
            <a:lvl4pPr>
              <a:defRPr sz="1400"/>
            </a:lvl4pPr>
            <a:lvl5pPr>
              <a:defRPr sz="1400"/>
            </a:lvl5pPr>
            <a:lvl6pPr>
              <a:defRPr sz="2000"/>
            </a:lvl6pPr>
            <a:lvl7pPr>
              <a:defRPr sz="2000"/>
            </a:lvl7pPr>
            <a:lvl8pPr>
              <a:defRPr sz="2000"/>
            </a:lvl8pPr>
            <a:lvl9pPr>
              <a:defRPr sz="2000"/>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5" name="Text Placeholder 3">
            <a:extLst>
              <a:ext uri="{FF2B5EF4-FFF2-40B4-BE49-F238E27FC236}">
                <a16:creationId xmlns:a16="http://schemas.microsoft.com/office/drawing/2014/main" id="{29B24D8A-D8A5-4F57-A260-A4CF75FCB3BD}"/>
              </a:ext>
            </a:extLst>
          </p:cNvPr>
          <p:cNvSpPr>
            <a:spLocks noGrp="1"/>
          </p:cNvSpPr>
          <p:nvPr>
            <p:ph type="body" sz="half" idx="2"/>
          </p:nvPr>
        </p:nvSpPr>
        <p:spPr>
          <a:xfrm>
            <a:off x="432000"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noProof="0"/>
              <a:t>Click to edit Master text styles</a:t>
            </a:r>
          </a:p>
        </p:txBody>
      </p:sp>
    </p:spTree>
    <p:extLst>
      <p:ext uri="{BB962C8B-B14F-4D97-AF65-F5344CB8AC3E}">
        <p14:creationId xmlns:p14="http://schemas.microsoft.com/office/powerpoint/2010/main" val="80143274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EE479C-D1F6-4BAC-80D2-90EF74E3261A}"/>
              </a:ext>
            </a:extLst>
          </p:cNvPr>
          <p:cNvSpPr>
            <a:spLocks noGrp="1"/>
          </p:cNvSpPr>
          <p:nvPr>
            <p:ph type="title" hasCustomPrompt="1"/>
          </p:nvPr>
        </p:nvSpPr>
        <p:spPr>
          <a:xfrm>
            <a:off x="432000" y="432000"/>
            <a:ext cx="3932037" cy="1411276"/>
          </a:xfrm>
        </p:spPr>
        <p:txBody>
          <a:bodyPr anchor="b"/>
          <a:lstStyle>
            <a:lvl1pPr>
              <a:defRPr>
                <a:solidFill>
                  <a:schemeClr val="tx1">
                    <a:lumMod val="75000"/>
                    <a:lumOff val="25000"/>
                  </a:schemeClr>
                </a:solidFill>
              </a:defRPr>
            </a:lvl1pPr>
          </a:lstStyle>
          <a:p>
            <a:r>
              <a:rPr lang="en-US" noProof="0"/>
              <a:t>Click to edit page title</a:t>
            </a:r>
          </a:p>
        </p:txBody>
      </p:sp>
      <p:sp>
        <p:nvSpPr>
          <p:cNvPr id="4" name="Footer Placeholder 3">
            <a:extLst>
              <a:ext uri="{FF2B5EF4-FFF2-40B4-BE49-F238E27FC236}">
                <a16:creationId xmlns:a16="http://schemas.microsoft.com/office/drawing/2014/main" id="{57847F90-9DB6-4832-9EB7-393AADAE8B70}"/>
              </a:ext>
            </a:extLst>
          </p:cNvPr>
          <p:cNvSpPr>
            <a:spLocks noGrp="1"/>
          </p:cNvSpPr>
          <p:nvPr>
            <p:ph type="ftr" sz="quarter" idx="13"/>
          </p:nvPr>
        </p:nvSpPr>
        <p:spPr/>
        <p:txBody>
          <a:bodyPr/>
          <a:lstStyle/>
          <a:p>
            <a:r>
              <a:rPr lang="en-US" noProof="0" dirty="0"/>
              <a:t>Add a footer</a:t>
            </a:r>
          </a:p>
        </p:txBody>
      </p:sp>
      <p:sp>
        <p:nvSpPr>
          <p:cNvPr id="5" name="Slide Number Placeholder 4">
            <a:extLst>
              <a:ext uri="{FF2B5EF4-FFF2-40B4-BE49-F238E27FC236}">
                <a16:creationId xmlns:a16="http://schemas.microsoft.com/office/drawing/2014/main" id="{F64CFC6C-1D8B-46C9-B0F7-A8BD88D8AB46}"/>
              </a:ext>
            </a:extLst>
          </p:cNvPr>
          <p:cNvSpPr>
            <a:spLocks noGrp="1"/>
          </p:cNvSpPr>
          <p:nvPr>
            <p:ph type="sldNum" sz="quarter" idx="33"/>
          </p:nvPr>
        </p:nvSpPr>
        <p:spPr/>
        <p:txBody>
          <a:bodyPr/>
          <a:lstStyle/>
          <a:p>
            <a:fld id="{19B51A1E-902D-48AF-9020-955120F399B6}" type="slidenum">
              <a:rPr lang="en-US" noProof="0" smtClean="0"/>
              <a:pPr/>
              <a:t>‹#›</a:t>
            </a:fld>
            <a:endParaRPr lang="en-US" noProof="0" dirty="0"/>
          </a:p>
        </p:txBody>
      </p:sp>
      <p:sp>
        <p:nvSpPr>
          <p:cNvPr id="11" name="Rectangle 10" descr="Accent block left">
            <a:extLst>
              <a:ext uri="{FF2B5EF4-FFF2-40B4-BE49-F238E27FC236}">
                <a16:creationId xmlns:a16="http://schemas.microsoft.com/office/drawing/2014/main" id="{48A1A904-FE62-4BE3-BAE9-0EEAE7B1E38C}"/>
              </a:ext>
              <a:ext uri="{C183D7F6-B498-43B3-948B-1728B52AA6E4}">
                <adec:decorative xmlns:adec="http://schemas.microsoft.com/office/drawing/2017/decorative" val="1"/>
              </a:ext>
            </a:extLst>
          </p:cNvPr>
          <p:cNvSpPr/>
          <p:nvPr userDrawn="1"/>
        </p:nvSpPr>
        <p:spPr>
          <a:xfrm>
            <a:off x="431800" y="1892926"/>
            <a:ext cx="1984175" cy="114824"/>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noProof="0" dirty="0"/>
          </a:p>
        </p:txBody>
      </p:sp>
      <p:sp>
        <p:nvSpPr>
          <p:cNvPr id="9" name="Text Placeholder 3">
            <a:extLst>
              <a:ext uri="{FF2B5EF4-FFF2-40B4-BE49-F238E27FC236}">
                <a16:creationId xmlns:a16="http://schemas.microsoft.com/office/drawing/2014/main" id="{3E50A411-2E68-4F4D-B4BC-62E87C633658}"/>
              </a:ext>
            </a:extLst>
          </p:cNvPr>
          <p:cNvSpPr>
            <a:spLocks noGrp="1"/>
          </p:cNvSpPr>
          <p:nvPr>
            <p:ph type="body" sz="half" idx="2"/>
          </p:nvPr>
        </p:nvSpPr>
        <p:spPr>
          <a:xfrm>
            <a:off x="432000"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noProof="0"/>
              <a:t>Click to edit Master text styles</a:t>
            </a:r>
          </a:p>
        </p:txBody>
      </p:sp>
      <p:sp>
        <p:nvSpPr>
          <p:cNvPr id="10" name="Picture Placeholder 2">
            <a:extLst>
              <a:ext uri="{FF2B5EF4-FFF2-40B4-BE49-F238E27FC236}">
                <a16:creationId xmlns:a16="http://schemas.microsoft.com/office/drawing/2014/main" id="{2FBF39A8-0BD5-48FD-9993-F595D4F727C1}"/>
              </a:ext>
            </a:extLst>
          </p:cNvPr>
          <p:cNvSpPr>
            <a:spLocks noGrp="1"/>
          </p:cNvSpPr>
          <p:nvPr>
            <p:ph type="pic" idx="1"/>
          </p:nvPr>
        </p:nvSpPr>
        <p:spPr>
          <a:xfrm>
            <a:off x="4788816" y="432001"/>
            <a:ext cx="6971184" cy="542905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noProof="0"/>
              <a:t>Click icon to add picture</a:t>
            </a:r>
            <a:endParaRPr lang="en-US" noProof="0" dirty="0"/>
          </a:p>
        </p:txBody>
      </p:sp>
    </p:spTree>
    <p:extLst>
      <p:ext uri="{BB962C8B-B14F-4D97-AF65-F5344CB8AC3E}">
        <p14:creationId xmlns:p14="http://schemas.microsoft.com/office/powerpoint/2010/main" val="204063337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itle and Sub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C626A5-4FF6-42BD-858A-AE4B2C23A6BC}"/>
              </a:ext>
            </a:extLst>
          </p:cNvPr>
          <p:cNvSpPr>
            <a:spLocks noGrp="1"/>
          </p:cNvSpPr>
          <p:nvPr>
            <p:ph type="title" hasCustomPrompt="1"/>
          </p:nvPr>
        </p:nvSpPr>
        <p:spPr/>
        <p:txBody>
          <a:bodyPr/>
          <a:lstStyle>
            <a:lvl1pPr>
              <a:defRPr>
                <a:solidFill>
                  <a:schemeClr val="tx1">
                    <a:lumMod val="75000"/>
                    <a:lumOff val="25000"/>
                  </a:schemeClr>
                </a:solidFill>
              </a:defRPr>
            </a:lvl1pPr>
          </a:lstStyle>
          <a:p>
            <a:r>
              <a:rPr lang="en-US" noProof="0"/>
              <a:t>Click to edit page title</a:t>
            </a:r>
          </a:p>
        </p:txBody>
      </p:sp>
      <p:sp>
        <p:nvSpPr>
          <p:cNvPr id="5" name="Subtitle 2">
            <a:extLst>
              <a:ext uri="{FF2B5EF4-FFF2-40B4-BE49-F238E27FC236}">
                <a16:creationId xmlns:a16="http://schemas.microsoft.com/office/drawing/2014/main" id="{10727B06-56A8-44A2-B6C2-9ED183D107F3}"/>
              </a:ext>
            </a:extLst>
          </p:cNvPr>
          <p:cNvSpPr>
            <a:spLocks noGrp="1"/>
          </p:cNvSpPr>
          <p:nvPr>
            <p:ph type="body" sz="quarter" idx="32" hasCustomPrompt="1"/>
          </p:nvPr>
        </p:nvSpPr>
        <p:spPr>
          <a:xfrm>
            <a:off x="431800" y="1008000"/>
            <a:ext cx="11339513" cy="360000"/>
          </a:xfrm>
        </p:spPr>
        <p:txBody>
          <a:bodyPr/>
          <a:lstStyle>
            <a:lvl1pPr marL="0" indent="0">
              <a:buNone/>
              <a:defRPr/>
            </a:lvl1pPr>
            <a:lvl2pPr marL="266700" indent="0">
              <a:buNone/>
              <a:defRPr/>
            </a:lvl2pPr>
            <a:lvl3pPr marL="542925" indent="0">
              <a:buNone/>
              <a:defRPr/>
            </a:lvl3pPr>
            <a:lvl4pPr marL="809625" indent="0">
              <a:buNone/>
              <a:defRPr/>
            </a:lvl4pPr>
            <a:lvl5pPr marL="1076325" indent="0">
              <a:buNone/>
              <a:defRPr/>
            </a:lvl5pPr>
          </a:lstStyle>
          <a:p>
            <a:pPr lvl="0"/>
            <a:r>
              <a:rPr lang="en-US" noProof="0"/>
              <a:t>Subtitle</a:t>
            </a:r>
          </a:p>
        </p:txBody>
      </p:sp>
      <p:sp>
        <p:nvSpPr>
          <p:cNvPr id="3" name="Footer Placeholder 2">
            <a:extLst>
              <a:ext uri="{FF2B5EF4-FFF2-40B4-BE49-F238E27FC236}">
                <a16:creationId xmlns:a16="http://schemas.microsoft.com/office/drawing/2014/main" id="{08CCB8C2-B6A2-4C69-8D3A-57420A034BA4}"/>
              </a:ext>
            </a:extLst>
          </p:cNvPr>
          <p:cNvSpPr>
            <a:spLocks noGrp="1"/>
          </p:cNvSpPr>
          <p:nvPr>
            <p:ph type="ftr" sz="quarter" idx="12"/>
          </p:nvPr>
        </p:nvSpPr>
        <p:spPr/>
        <p:txBody>
          <a:bodyPr/>
          <a:lstStyle/>
          <a:p>
            <a:r>
              <a:rPr lang="en-US" noProof="0" dirty="0"/>
              <a:t>Add a footer</a:t>
            </a:r>
          </a:p>
        </p:txBody>
      </p:sp>
      <p:sp>
        <p:nvSpPr>
          <p:cNvPr id="4" name="Slide Number Placeholder 3">
            <a:extLst>
              <a:ext uri="{FF2B5EF4-FFF2-40B4-BE49-F238E27FC236}">
                <a16:creationId xmlns:a16="http://schemas.microsoft.com/office/drawing/2014/main" id="{853CF994-8B2C-443F-B695-7378DD360DAA}"/>
              </a:ext>
            </a:extLst>
          </p:cNvPr>
          <p:cNvSpPr>
            <a:spLocks noGrp="1"/>
          </p:cNvSpPr>
          <p:nvPr>
            <p:ph type="sldNum" sz="quarter" idx="33"/>
          </p:nvPr>
        </p:nvSpPr>
        <p:spPr/>
        <p:txBody>
          <a:bodyPr/>
          <a:lstStyle/>
          <a:p>
            <a:fld id="{19B51A1E-902D-48AF-9020-955120F399B6}" type="slidenum">
              <a:rPr lang="en-US" noProof="0" smtClean="0"/>
              <a:pPr/>
              <a:t>‹#›</a:t>
            </a:fld>
            <a:endParaRPr lang="en-US" noProof="0" dirty="0"/>
          </a:p>
        </p:txBody>
      </p:sp>
    </p:spTree>
    <p:extLst>
      <p:ext uri="{BB962C8B-B14F-4D97-AF65-F5344CB8AC3E}">
        <p14:creationId xmlns:p14="http://schemas.microsoft.com/office/powerpoint/2010/main" val="150585527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16D0504D-4610-4E9E-A2DB-8B701F044BBC}"/>
              </a:ext>
            </a:extLst>
          </p:cNvPr>
          <p:cNvSpPr>
            <a:spLocks noGrp="1"/>
          </p:cNvSpPr>
          <p:nvPr>
            <p:ph type="ftr" sz="quarter" idx="12"/>
          </p:nvPr>
        </p:nvSpPr>
        <p:spPr/>
        <p:txBody>
          <a:bodyPr/>
          <a:lstStyle/>
          <a:p>
            <a:r>
              <a:rPr lang="en-US" noProof="0" dirty="0"/>
              <a:t>Add a footer</a:t>
            </a:r>
          </a:p>
        </p:txBody>
      </p:sp>
      <p:sp>
        <p:nvSpPr>
          <p:cNvPr id="3" name="Slide Number Placeholder 2">
            <a:extLst>
              <a:ext uri="{FF2B5EF4-FFF2-40B4-BE49-F238E27FC236}">
                <a16:creationId xmlns:a16="http://schemas.microsoft.com/office/drawing/2014/main" id="{A95CDFA7-DEA3-4BBE-8D70-0AF654A1E6FF}"/>
              </a:ext>
            </a:extLst>
          </p:cNvPr>
          <p:cNvSpPr>
            <a:spLocks noGrp="1"/>
          </p:cNvSpPr>
          <p:nvPr>
            <p:ph type="sldNum" sz="quarter" idx="13"/>
          </p:nvPr>
        </p:nvSpPr>
        <p:spPr/>
        <p:txBody>
          <a:bodyPr/>
          <a:lstStyle/>
          <a:p>
            <a:fld id="{19B51A1E-902D-48AF-9020-955120F399B6}" type="slidenum">
              <a:rPr lang="en-US" noProof="0" smtClean="0"/>
              <a:pPr/>
              <a:t>‹#›</a:t>
            </a:fld>
            <a:endParaRPr lang="en-US" noProof="0" dirty="0"/>
          </a:p>
        </p:txBody>
      </p:sp>
      <p:sp>
        <p:nvSpPr>
          <p:cNvPr id="4" name="Title 3">
            <a:extLst>
              <a:ext uri="{FF2B5EF4-FFF2-40B4-BE49-F238E27FC236}">
                <a16:creationId xmlns:a16="http://schemas.microsoft.com/office/drawing/2014/main" id="{90694D9D-C633-4D52-965E-E5BBD9883037}"/>
              </a:ext>
            </a:extLst>
          </p:cNvPr>
          <p:cNvSpPr>
            <a:spLocks noGrp="1"/>
          </p:cNvSpPr>
          <p:nvPr>
            <p:ph type="title"/>
          </p:nvPr>
        </p:nvSpPr>
        <p:spPr/>
        <p:txBody>
          <a:bodyPr/>
          <a:lstStyle/>
          <a:p>
            <a:r>
              <a:rPr lang="en-US" noProof="0"/>
              <a:t>Click to edit Master title style</a:t>
            </a:r>
          </a:p>
        </p:txBody>
      </p:sp>
    </p:spTree>
    <p:extLst>
      <p:ext uri="{BB962C8B-B14F-4D97-AF65-F5344CB8AC3E}">
        <p14:creationId xmlns:p14="http://schemas.microsoft.com/office/powerpoint/2010/main" val="113976703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1_Title Only">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16D0504D-4610-4E9E-A2DB-8B701F044BBC}"/>
              </a:ext>
            </a:extLst>
          </p:cNvPr>
          <p:cNvSpPr>
            <a:spLocks noGrp="1"/>
          </p:cNvSpPr>
          <p:nvPr>
            <p:ph type="ftr" sz="quarter" idx="12"/>
          </p:nvPr>
        </p:nvSpPr>
        <p:spPr/>
        <p:txBody>
          <a:bodyPr/>
          <a:lstStyle/>
          <a:p>
            <a:r>
              <a:rPr lang="en-US" noProof="0" dirty="0"/>
              <a:t>Add a footer</a:t>
            </a:r>
          </a:p>
        </p:txBody>
      </p:sp>
      <p:sp>
        <p:nvSpPr>
          <p:cNvPr id="3" name="Slide Number Placeholder 2">
            <a:extLst>
              <a:ext uri="{FF2B5EF4-FFF2-40B4-BE49-F238E27FC236}">
                <a16:creationId xmlns:a16="http://schemas.microsoft.com/office/drawing/2014/main" id="{A95CDFA7-DEA3-4BBE-8D70-0AF654A1E6FF}"/>
              </a:ext>
            </a:extLst>
          </p:cNvPr>
          <p:cNvSpPr>
            <a:spLocks noGrp="1"/>
          </p:cNvSpPr>
          <p:nvPr>
            <p:ph type="sldNum" sz="quarter" idx="13"/>
          </p:nvPr>
        </p:nvSpPr>
        <p:spPr/>
        <p:txBody>
          <a:bodyPr/>
          <a:lstStyle/>
          <a:p>
            <a:fld id="{19B51A1E-902D-48AF-9020-955120F399B6}" type="slidenum">
              <a:rPr lang="en-US" noProof="0" smtClean="0"/>
              <a:pPr/>
              <a:t>‹#›</a:t>
            </a:fld>
            <a:endParaRPr lang="en-US" noProof="0" dirty="0"/>
          </a:p>
        </p:txBody>
      </p:sp>
      <p:sp>
        <p:nvSpPr>
          <p:cNvPr id="4" name="Title 3">
            <a:extLst>
              <a:ext uri="{FF2B5EF4-FFF2-40B4-BE49-F238E27FC236}">
                <a16:creationId xmlns:a16="http://schemas.microsoft.com/office/drawing/2014/main" id="{90694D9D-C633-4D52-965E-E5BBD9883037}"/>
              </a:ext>
            </a:extLst>
          </p:cNvPr>
          <p:cNvSpPr>
            <a:spLocks noGrp="1"/>
          </p:cNvSpPr>
          <p:nvPr>
            <p:ph type="title"/>
          </p:nvPr>
        </p:nvSpPr>
        <p:spPr/>
        <p:txBody>
          <a:bodyPr/>
          <a:lstStyle/>
          <a:p>
            <a:r>
              <a:rPr lang="en-US" noProof="0"/>
              <a:t>Click to edit Master title style</a:t>
            </a:r>
          </a:p>
        </p:txBody>
      </p:sp>
      <p:sp>
        <p:nvSpPr>
          <p:cNvPr id="6" name="Text Placeholder 5">
            <a:extLst>
              <a:ext uri="{FF2B5EF4-FFF2-40B4-BE49-F238E27FC236}">
                <a16:creationId xmlns:a16="http://schemas.microsoft.com/office/drawing/2014/main" id="{0DB3A426-6D4A-4D91-ACD6-A2C25BAE44E3}"/>
              </a:ext>
            </a:extLst>
          </p:cNvPr>
          <p:cNvSpPr>
            <a:spLocks noGrp="1"/>
          </p:cNvSpPr>
          <p:nvPr>
            <p:ph type="body" sz="quarter" idx="14"/>
          </p:nvPr>
        </p:nvSpPr>
        <p:spPr>
          <a:xfrm>
            <a:off x="1664370" y="2033588"/>
            <a:ext cx="8863262" cy="2790825"/>
          </a:xfrm>
        </p:spPr>
        <p:txBody>
          <a:bodyPr anchor="ctr"/>
          <a:lstStyle>
            <a:lvl1pPr marL="0" indent="0" algn="ctr">
              <a:buNone/>
              <a:defRPr sz="6000"/>
            </a:lvl1pPr>
            <a:lvl2pPr marL="266700" indent="0">
              <a:buNone/>
              <a:defRPr/>
            </a:lvl2pPr>
          </a:lstStyle>
          <a:p>
            <a:pPr lvl="0"/>
            <a:r>
              <a:rPr lang="en-US" noProof="0"/>
              <a:t>Click to edit Master text styles</a:t>
            </a:r>
          </a:p>
        </p:txBody>
      </p:sp>
    </p:spTree>
    <p:extLst>
      <p:ext uri="{BB962C8B-B14F-4D97-AF65-F5344CB8AC3E}">
        <p14:creationId xmlns:p14="http://schemas.microsoft.com/office/powerpoint/2010/main" val="287724365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16D0504D-4610-4E9E-A2DB-8B701F044BBC}"/>
              </a:ext>
            </a:extLst>
          </p:cNvPr>
          <p:cNvSpPr>
            <a:spLocks noGrp="1"/>
          </p:cNvSpPr>
          <p:nvPr>
            <p:ph type="ftr" sz="quarter" idx="12"/>
          </p:nvPr>
        </p:nvSpPr>
        <p:spPr/>
        <p:txBody>
          <a:bodyPr/>
          <a:lstStyle/>
          <a:p>
            <a:r>
              <a:rPr lang="en-US" noProof="0" dirty="0"/>
              <a:t>Add a footer</a:t>
            </a:r>
          </a:p>
        </p:txBody>
      </p:sp>
      <p:sp>
        <p:nvSpPr>
          <p:cNvPr id="3" name="Slide Number Placeholder 2">
            <a:extLst>
              <a:ext uri="{FF2B5EF4-FFF2-40B4-BE49-F238E27FC236}">
                <a16:creationId xmlns:a16="http://schemas.microsoft.com/office/drawing/2014/main" id="{A95CDFA7-DEA3-4BBE-8D70-0AF654A1E6FF}"/>
              </a:ext>
            </a:extLst>
          </p:cNvPr>
          <p:cNvSpPr>
            <a:spLocks noGrp="1"/>
          </p:cNvSpPr>
          <p:nvPr>
            <p:ph type="sldNum" sz="quarter" idx="13"/>
          </p:nvPr>
        </p:nvSpPr>
        <p:spPr/>
        <p:txBody>
          <a:bodyPr/>
          <a:lstStyle/>
          <a:p>
            <a:fld id="{19B51A1E-902D-48AF-9020-955120F399B6}" type="slidenum">
              <a:rPr lang="en-US" noProof="0" smtClean="0"/>
              <a:pPr/>
              <a:t>‹#›</a:t>
            </a:fld>
            <a:endParaRPr lang="en-US" noProof="0" dirty="0"/>
          </a:p>
        </p:txBody>
      </p:sp>
    </p:spTree>
    <p:extLst>
      <p:ext uri="{BB962C8B-B14F-4D97-AF65-F5344CB8AC3E}">
        <p14:creationId xmlns:p14="http://schemas.microsoft.com/office/powerpoint/2010/main" val="390043351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EB0D177-9AA4-42F4-9CD7-CD206217CA6D}"/>
              </a:ext>
            </a:extLst>
          </p:cNvPr>
          <p:cNvSpPr/>
          <p:nvPr userDrawn="1"/>
        </p:nvSpPr>
        <p:spPr>
          <a:xfrm>
            <a:off x="9780101" y="6371351"/>
            <a:ext cx="1979897" cy="43199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8" name="Rectangle 27">
            <a:extLst>
              <a:ext uri="{FF2B5EF4-FFF2-40B4-BE49-F238E27FC236}">
                <a16:creationId xmlns:a16="http://schemas.microsoft.com/office/drawing/2014/main" id="{C825DB53-D610-4A40-AFDC-EBC47DB613CE}"/>
              </a:ext>
            </a:extLst>
          </p:cNvPr>
          <p:cNvSpPr/>
          <p:nvPr userDrawn="1"/>
        </p:nvSpPr>
        <p:spPr>
          <a:xfrm>
            <a:off x="9780103" y="6803351"/>
            <a:ext cx="1979897" cy="54650"/>
          </a:xfrm>
          <a:prstGeom prst="rect">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1" name="Freeform: Shape 30">
            <a:extLst>
              <a:ext uri="{FF2B5EF4-FFF2-40B4-BE49-F238E27FC236}">
                <a16:creationId xmlns:a16="http://schemas.microsoft.com/office/drawing/2014/main" id="{C2B9A6A4-83D0-40B1-8B15-964C84BF0705}"/>
              </a:ext>
            </a:extLst>
          </p:cNvPr>
          <p:cNvSpPr/>
          <p:nvPr userDrawn="1"/>
        </p:nvSpPr>
        <p:spPr>
          <a:xfrm>
            <a:off x="0" y="6371351"/>
            <a:ext cx="9780102" cy="432000"/>
          </a:xfrm>
          <a:custGeom>
            <a:avLst/>
            <a:gdLst>
              <a:gd name="connsiteX0" fmla="*/ 0 w 9780102"/>
              <a:gd name="connsiteY0" fmla="*/ 0 h 432000"/>
              <a:gd name="connsiteX1" fmla="*/ 9780102 w 9780102"/>
              <a:gd name="connsiteY1" fmla="*/ 0 h 432000"/>
              <a:gd name="connsiteX2" fmla="*/ 9780102 w 9780102"/>
              <a:gd name="connsiteY2" fmla="*/ 432000 h 432000"/>
              <a:gd name="connsiteX3" fmla="*/ 0 w 9780102"/>
              <a:gd name="connsiteY3" fmla="*/ 432000 h 432000"/>
            </a:gdLst>
            <a:ahLst/>
            <a:cxnLst>
              <a:cxn ang="0">
                <a:pos x="connsiteX0" y="connsiteY0"/>
              </a:cxn>
              <a:cxn ang="0">
                <a:pos x="connsiteX1" y="connsiteY1"/>
              </a:cxn>
              <a:cxn ang="0">
                <a:pos x="connsiteX2" y="connsiteY2"/>
              </a:cxn>
              <a:cxn ang="0">
                <a:pos x="connsiteX3" y="connsiteY3"/>
              </a:cxn>
            </a:cxnLst>
            <a:rect l="l" t="t" r="r" b="b"/>
            <a:pathLst>
              <a:path w="9780102" h="432000">
                <a:moveTo>
                  <a:pt x="0" y="0"/>
                </a:moveTo>
                <a:lnTo>
                  <a:pt x="9780102" y="0"/>
                </a:lnTo>
                <a:lnTo>
                  <a:pt x="9780102" y="432000"/>
                </a:lnTo>
                <a:lnTo>
                  <a:pt x="0" y="432000"/>
                </a:lnTo>
                <a:close/>
              </a:path>
            </a:pathLst>
          </a:cu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Placeholder 1">
            <a:extLst>
              <a:ext uri="{FF2B5EF4-FFF2-40B4-BE49-F238E27FC236}">
                <a16:creationId xmlns:a16="http://schemas.microsoft.com/office/drawing/2014/main" id="{090F41A2-6535-4CA6-81E4-026A5B56D9D7}"/>
              </a:ext>
            </a:extLst>
          </p:cNvPr>
          <p:cNvSpPr>
            <a:spLocks noGrp="1"/>
          </p:cNvSpPr>
          <p:nvPr>
            <p:ph type="title"/>
          </p:nvPr>
        </p:nvSpPr>
        <p:spPr>
          <a:xfrm>
            <a:off x="432000" y="432000"/>
            <a:ext cx="11328000" cy="432000"/>
          </a:xfrm>
          <a:prstGeom prst="rect">
            <a:avLst/>
          </a:prstGeom>
        </p:spPr>
        <p:txBody>
          <a:bodyPr vert="horz" lIns="0" tIns="0" rIns="0" bIns="0" rtlCol="0" anchor="ctr">
            <a:noAutofit/>
          </a:bodyPr>
          <a:lstStyle/>
          <a:p>
            <a:r>
              <a:rPr lang="en-US" noProof="0"/>
              <a:t>Click to edit page title</a:t>
            </a:r>
          </a:p>
        </p:txBody>
      </p:sp>
      <p:sp>
        <p:nvSpPr>
          <p:cNvPr id="3" name="Text Placeholder 2">
            <a:extLst>
              <a:ext uri="{FF2B5EF4-FFF2-40B4-BE49-F238E27FC236}">
                <a16:creationId xmlns:a16="http://schemas.microsoft.com/office/drawing/2014/main" id="{213AB95C-7DD4-4796-80E4-1B7466A2A037}"/>
              </a:ext>
            </a:extLst>
          </p:cNvPr>
          <p:cNvSpPr>
            <a:spLocks noGrp="1"/>
          </p:cNvSpPr>
          <p:nvPr>
            <p:ph type="body" idx="1"/>
          </p:nvPr>
        </p:nvSpPr>
        <p:spPr>
          <a:xfrm>
            <a:off x="432000" y="1512000"/>
            <a:ext cx="11328000" cy="4679250"/>
          </a:xfrm>
          <a:prstGeom prst="rect">
            <a:avLst/>
          </a:prstGeom>
        </p:spPr>
        <p:txBody>
          <a:bodyPr vert="horz" lIns="0" tIns="0" rIns="0" bIns="0" rtlCol="0">
            <a:no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5" name="Footer Placeholder 4">
            <a:extLst>
              <a:ext uri="{FF2B5EF4-FFF2-40B4-BE49-F238E27FC236}">
                <a16:creationId xmlns:a16="http://schemas.microsoft.com/office/drawing/2014/main" id="{58879C91-B77F-4273-9A27-A3535FB889DB}"/>
              </a:ext>
            </a:extLst>
          </p:cNvPr>
          <p:cNvSpPr>
            <a:spLocks noGrp="1"/>
          </p:cNvSpPr>
          <p:nvPr>
            <p:ph type="ftr" sz="quarter" idx="3"/>
          </p:nvPr>
        </p:nvSpPr>
        <p:spPr>
          <a:xfrm>
            <a:off x="432000" y="6439820"/>
            <a:ext cx="5664000" cy="295062"/>
          </a:xfrm>
          <a:prstGeom prst="rect">
            <a:avLst/>
          </a:prstGeom>
          <a:noFill/>
        </p:spPr>
        <p:txBody>
          <a:bodyPr vert="horz" lIns="0" tIns="0" rIns="0" bIns="0" rtlCol="0" anchor="ctr"/>
          <a:lstStyle>
            <a:lvl1pPr algn="l">
              <a:defRPr sz="1200">
                <a:solidFill>
                  <a:schemeClr val="tx1">
                    <a:lumMod val="75000"/>
                    <a:lumOff val="25000"/>
                  </a:schemeClr>
                </a:solidFill>
              </a:defRPr>
            </a:lvl1pPr>
          </a:lstStyle>
          <a:p>
            <a:r>
              <a:rPr lang="en-US" noProof="0" dirty="0"/>
              <a:t>Add a footer</a:t>
            </a:r>
          </a:p>
        </p:txBody>
      </p:sp>
      <p:sp>
        <p:nvSpPr>
          <p:cNvPr id="6" name="Slide Number Placeholder 5">
            <a:extLst>
              <a:ext uri="{FF2B5EF4-FFF2-40B4-BE49-F238E27FC236}">
                <a16:creationId xmlns:a16="http://schemas.microsoft.com/office/drawing/2014/main" id="{5ECA3099-A94F-4C3E-BC29-780EDD38F722}"/>
              </a:ext>
            </a:extLst>
          </p:cNvPr>
          <p:cNvSpPr>
            <a:spLocks noGrp="1"/>
          </p:cNvSpPr>
          <p:nvPr>
            <p:ph type="sldNum" sz="quarter" idx="4"/>
          </p:nvPr>
        </p:nvSpPr>
        <p:spPr>
          <a:xfrm>
            <a:off x="11760000" y="6371351"/>
            <a:ext cx="432000" cy="432000"/>
          </a:xfrm>
          <a:prstGeom prst="rect">
            <a:avLst/>
          </a:prstGeom>
          <a:solidFill>
            <a:schemeClr val="tx1">
              <a:lumMod val="75000"/>
              <a:lumOff val="25000"/>
            </a:schemeClr>
          </a:solidFill>
        </p:spPr>
        <p:txBody>
          <a:bodyPr vert="horz" lIns="0" tIns="0" rIns="0" bIns="0" rtlCol="0" anchor="ctr"/>
          <a:lstStyle>
            <a:lvl1pPr algn="ctr">
              <a:defRPr sz="1200">
                <a:solidFill>
                  <a:schemeClr val="bg1"/>
                </a:solidFill>
                <a:latin typeface="+mj-lt"/>
              </a:defRPr>
            </a:lvl1pPr>
          </a:lstStyle>
          <a:p>
            <a:fld id="{19B51A1E-902D-48AF-9020-955120F399B6}" type="slidenum">
              <a:rPr lang="en-US" noProof="0" smtClean="0"/>
              <a:pPr/>
              <a:t>‹#›</a:t>
            </a:fld>
            <a:endParaRPr lang="en-US" noProof="0" dirty="0"/>
          </a:p>
        </p:txBody>
      </p:sp>
      <p:sp>
        <p:nvSpPr>
          <p:cNvPr id="4" name="TextBox 3">
            <a:extLst>
              <a:ext uri="{FF2B5EF4-FFF2-40B4-BE49-F238E27FC236}">
                <a16:creationId xmlns:a16="http://schemas.microsoft.com/office/drawing/2014/main" id="{34FDC6F9-37F9-4E25-AECA-D307B8421C73}"/>
              </a:ext>
            </a:extLst>
          </p:cNvPr>
          <p:cNvSpPr txBox="1"/>
          <p:nvPr userDrawn="1"/>
        </p:nvSpPr>
        <p:spPr>
          <a:xfrm>
            <a:off x="10243100" y="6422491"/>
            <a:ext cx="1053900" cy="380860"/>
          </a:xfrm>
          <a:prstGeom prst="rect">
            <a:avLst/>
          </a:prstGeom>
          <a:noFill/>
        </p:spPr>
        <p:txBody>
          <a:bodyPr wrap="square" tIns="108000" bIns="0" rtlCol="0" anchor="ctr">
            <a:spAutoFit/>
          </a:bodyPr>
          <a:lstStyle/>
          <a:p>
            <a:pPr algn="r">
              <a:lnSpc>
                <a:spcPts val="1000"/>
              </a:lnSpc>
            </a:pPr>
            <a:r>
              <a:rPr lang="en-US" sz="2500" b="1" i="0" spc="-100" baseline="0" noProof="0" dirty="0">
                <a:solidFill>
                  <a:schemeClr val="accent1"/>
                </a:solidFill>
                <a:latin typeface="+mj-lt"/>
              </a:rPr>
              <a:t>TREY</a:t>
            </a:r>
            <a:r>
              <a:rPr lang="en-US" sz="1600" b="1" i="0" spc="-100" baseline="0" noProof="0" dirty="0">
                <a:solidFill>
                  <a:schemeClr val="accent1"/>
                </a:solidFill>
                <a:latin typeface="+mj-lt"/>
              </a:rPr>
              <a:t> </a:t>
            </a:r>
            <a:br>
              <a:rPr lang="en-US" sz="1600" b="1" i="0" spc="-100" baseline="0" noProof="0" dirty="0">
                <a:solidFill>
                  <a:schemeClr val="accent1"/>
                </a:solidFill>
                <a:latin typeface="+mj-lt"/>
              </a:rPr>
            </a:br>
            <a:r>
              <a:rPr lang="en-US" sz="1200" b="0" i="0" spc="140" baseline="0" noProof="0" dirty="0">
                <a:solidFill>
                  <a:schemeClr val="tx1">
                    <a:lumMod val="75000"/>
                    <a:lumOff val="25000"/>
                  </a:schemeClr>
                </a:solidFill>
                <a:latin typeface="+mj-lt"/>
              </a:rPr>
              <a:t>research</a:t>
            </a:r>
          </a:p>
        </p:txBody>
      </p:sp>
      <p:sp>
        <p:nvSpPr>
          <p:cNvPr id="9" name="Rectangle 8">
            <a:extLst>
              <a:ext uri="{FF2B5EF4-FFF2-40B4-BE49-F238E27FC236}">
                <a16:creationId xmlns:a16="http://schemas.microsoft.com/office/drawing/2014/main" id="{4BC39664-EB8B-4A32-915A-D4308F792772}"/>
              </a:ext>
            </a:extLst>
          </p:cNvPr>
          <p:cNvSpPr/>
          <p:nvPr userDrawn="1"/>
        </p:nvSpPr>
        <p:spPr>
          <a:xfrm>
            <a:off x="0" y="6803351"/>
            <a:ext cx="9780104" cy="5465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9" name="Rectangle 28">
            <a:extLst>
              <a:ext uri="{FF2B5EF4-FFF2-40B4-BE49-F238E27FC236}">
                <a16:creationId xmlns:a16="http://schemas.microsoft.com/office/drawing/2014/main" id="{9B49670D-8F18-44A8-B217-67B412095C0D}"/>
              </a:ext>
            </a:extLst>
          </p:cNvPr>
          <p:cNvSpPr/>
          <p:nvPr userDrawn="1"/>
        </p:nvSpPr>
        <p:spPr>
          <a:xfrm>
            <a:off x="11760000" y="6803351"/>
            <a:ext cx="432000" cy="5465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cxnSp>
        <p:nvCxnSpPr>
          <p:cNvPr id="18" name="Straight Connector 17">
            <a:extLst>
              <a:ext uri="{FF2B5EF4-FFF2-40B4-BE49-F238E27FC236}">
                <a16:creationId xmlns:a16="http://schemas.microsoft.com/office/drawing/2014/main" id="{030FA059-EC32-4FFF-9673-48849B2FA43A}"/>
              </a:ext>
            </a:extLst>
          </p:cNvPr>
          <p:cNvCxnSpPr>
            <a:cxnSpLocks/>
          </p:cNvCxnSpPr>
          <p:nvPr userDrawn="1"/>
        </p:nvCxnSpPr>
        <p:spPr>
          <a:xfrm flipH="1">
            <a:off x="1" y="6371351"/>
            <a:ext cx="12191999" cy="0"/>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46163275"/>
      </p:ext>
    </p:extLst>
  </p:cSld>
  <p:clrMap bg1="lt1" tx1="dk1" bg2="lt2" tx2="dk2" accent1="accent1" accent2="accent2" accent3="accent3" accent4="accent4" accent5="accent5" accent6="accent6" hlink="hlink" folHlink="folHlink"/>
  <p:sldLayoutIdLst>
    <p:sldLayoutId id="2147483649" r:id="rId1"/>
    <p:sldLayoutId id="2147483662" r:id="rId2"/>
    <p:sldLayoutId id="2147483663" r:id="rId3"/>
    <p:sldLayoutId id="2147483658" r:id="rId4"/>
    <p:sldLayoutId id="2147483666" r:id="rId5"/>
    <p:sldLayoutId id="2147483659" r:id="rId6"/>
    <p:sldLayoutId id="2147483660" r:id="rId7"/>
    <p:sldLayoutId id="2147483664" r:id="rId8"/>
    <p:sldLayoutId id="2147483650" r:id="rId9"/>
    <p:sldLayoutId id="2147483652" r:id="rId10"/>
    <p:sldLayoutId id="2147483656" r:id="rId11"/>
    <p:sldLayoutId id="2147483657" r:id="rId12"/>
    <p:sldLayoutId id="2147483667" r:id="rId13"/>
    <p:sldLayoutId id="2147483668" r:id="rId14"/>
    <p:sldLayoutId id="2147483669" r:id="rId15"/>
    <p:sldLayoutId id="2147483670" r:id="rId16"/>
    <p:sldLayoutId id="2147483671" r:id="rId17"/>
    <p:sldLayoutId id="2147483673" r:id="rId18"/>
    <p:sldLayoutId id="2147483674" r:id="rId19"/>
    <p:sldLayoutId id="2147483654" r:id="rId20"/>
    <p:sldLayoutId id="2147483655" r:id="rId21"/>
    <p:sldLayoutId id="2147483675" r:id="rId22"/>
    <p:sldLayoutId id="2147483672" r:id="rId23"/>
  </p:sldLayoutIdLst>
  <p:hf hdr="0" dt="0"/>
  <p:txStyles>
    <p:titleStyle>
      <a:lvl1pPr algn="l" defTabSz="914400" rtl="0" eaLnBrk="1" latinLnBrk="0" hangingPunct="1">
        <a:lnSpc>
          <a:spcPct val="90000"/>
        </a:lnSpc>
        <a:spcBef>
          <a:spcPct val="0"/>
        </a:spcBef>
        <a:buNone/>
        <a:defRPr sz="3200" b="1" kern="1200" spc="-150">
          <a:solidFill>
            <a:schemeClr val="tx1">
              <a:lumMod val="75000"/>
              <a:lumOff val="25000"/>
            </a:schemeClr>
          </a:solidFill>
          <a:latin typeface="+mj-lt"/>
          <a:ea typeface="+mj-ea"/>
          <a:cs typeface="+mj-cs"/>
        </a:defRPr>
      </a:lvl1pPr>
    </p:titleStyle>
    <p:bodyStyle>
      <a:lvl1pPr marL="266700" indent="-266700" algn="l" defTabSz="914400" rtl="0" eaLnBrk="1" latinLnBrk="0" hangingPunct="1">
        <a:lnSpc>
          <a:spcPct val="90000"/>
        </a:lnSpc>
        <a:spcBef>
          <a:spcPts val="1000"/>
        </a:spcBef>
        <a:buFont typeface="Arial" panose="020B0604020202020204" pitchFamily="34" charset="0"/>
        <a:buChar char="•"/>
        <a:defRPr sz="1800" kern="1200">
          <a:solidFill>
            <a:schemeClr val="tx1">
              <a:lumMod val="75000"/>
              <a:lumOff val="25000"/>
            </a:schemeClr>
          </a:solidFill>
          <a:latin typeface="+mn-lt"/>
          <a:ea typeface="+mn-ea"/>
          <a:cs typeface="+mn-cs"/>
        </a:defRPr>
      </a:lvl1pPr>
      <a:lvl2pPr marL="542925" indent="-276225" algn="l" defTabSz="914400" rtl="0" eaLnBrk="1" latinLnBrk="0" hangingPunct="1">
        <a:lnSpc>
          <a:spcPct val="90000"/>
        </a:lnSpc>
        <a:spcBef>
          <a:spcPts val="500"/>
        </a:spcBef>
        <a:buFont typeface="Arial" panose="020B0604020202020204" pitchFamily="34" charset="0"/>
        <a:buChar char="•"/>
        <a:defRPr sz="1600" kern="1200">
          <a:solidFill>
            <a:schemeClr val="tx1">
              <a:lumMod val="75000"/>
              <a:lumOff val="25000"/>
            </a:schemeClr>
          </a:solidFill>
          <a:latin typeface="+mn-lt"/>
          <a:ea typeface="+mn-ea"/>
          <a:cs typeface="+mn-cs"/>
        </a:defRPr>
      </a:lvl2pPr>
      <a:lvl3pPr marL="809625" indent="-266700" algn="l" defTabSz="914400" rtl="0" eaLnBrk="1" latinLnBrk="0" hangingPunct="1">
        <a:lnSpc>
          <a:spcPct val="90000"/>
        </a:lnSpc>
        <a:spcBef>
          <a:spcPts val="500"/>
        </a:spcBef>
        <a:buFont typeface="Arial" panose="020B0604020202020204" pitchFamily="34" charset="0"/>
        <a:buChar char="•"/>
        <a:defRPr sz="1400" kern="1200">
          <a:solidFill>
            <a:schemeClr val="tx1">
              <a:lumMod val="75000"/>
              <a:lumOff val="25000"/>
            </a:schemeClr>
          </a:solidFill>
          <a:latin typeface="+mn-lt"/>
          <a:ea typeface="+mn-ea"/>
          <a:cs typeface="+mn-cs"/>
        </a:defRPr>
      </a:lvl3pPr>
      <a:lvl4pPr marL="1076325" indent="-266700" algn="l" defTabSz="914400" rtl="0" eaLnBrk="1" latinLnBrk="0" hangingPunct="1">
        <a:lnSpc>
          <a:spcPct val="90000"/>
        </a:lnSpc>
        <a:spcBef>
          <a:spcPts val="500"/>
        </a:spcBef>
        <a:buFont typeface="Arial" panose="020B0604020202020204" pitchFamily="34" charset="0"/>
        <a:buChar char="•"/>
        <a:defRPr sz="1400" kern="1200">
          <a:solidFill>
            <a:schemeClr val="tx1">
              <a:lumMod val="75000"/>
              <a:lumOff val="25000"/>
            </a:schemeClr>
          </a:solidFill>
          <a:latin typeface="+mn-lt"/>
          <a:ea typeface="+mn-ea"/>
          <a:cs typeface="+mn-cs"/>
        </a:defRPr>
      </a:lvl4pPr>
      <a:lvl5pPr marL="1343025" indent="-266700" algn="l" defTabSz="914400" rtl="0" eaLnBrk="1" latinLnBrk="0" hangingPunct="1">
        <a:lnSpc>
          <a:spcPct val="90000"/>
        </a:lnSpc>
        <a:spcBef>
          <a:spcPts val="500"/>
        </a:spcBef>
        <a:buFont typeface="Arial" panose="020B0604020202020204" pitchFamily="34" charset="0"/>
        <a:buChar char="•"/>
        <a:defRPr sz="14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9.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8.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8.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8.xml"/></Relationships>
</file>

<file path=ppt/slides/_rels/slide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8.xml"/></Relationships>
</file>

<file path=ppt/slides/_rels/slide1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8.xml"/></Relationships>
</file>

<file path=ppt/slides/_rels/slide1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8.xml"/></Relationships>
</file>

<file path=ppt/slides/_rels/slide1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8.xml"/></Relationships>
</file>

<file path=ppt/slides/_rels/slide1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8.xml"/></Relationships>
</file>

<file path=ppt/slides/_rels/slide1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8.xml"/></Relationships>
</file>

<file path=ppt/slides/_rels/slide1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8.xml"/></Relationships>
</file>

<file path=ppt/slides/_rels/slide2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8.xml"/></Relationships>
</file>

<file path=ppt/slides/_rels/slide2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8.xml"/></Relationships>
</file>

<file path=ppt/slides/_rels/slide2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8.xml"/></Relationships>
</file>

<file path=ppt/slides/_rels/slide23.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8.xml"/></Relationships>
</file>

<file path=ppt/slides/_rels/slide24.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8.xml"/></Relationships>
</file>

<file path=ppt/slides/_rels/slide25.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18.xml"/></Relationships>
</file>

<file path=ppt/slides/_rels/slide26.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8.xml"/></Relationships>
</file>

<file path=ppt/slides/_rels/slide27.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8.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29.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18.xml"/></Relationships>
</file>

<file path=ppt/slides/_rels/slide31.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18.xml"/></Relationships>
</file>

<file path=ppt/slides/_rels/slide32.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18.xml"/></Relationships>
</file>

<file path=ppt/slides/_rels/slide33.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18.xml"/></Relationships>
</file>

<file path=ppt/slides/_rels/slide34.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18.xml"/></Relationships>
</file>

<file path=ppt/slides/_rels/slide35.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18.xml"/></Relationships>
</file>

<file path=ppt/slides/_rels/slide36.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18.xml"/></Relationships>
</file>

<file path=ppt/slides/_rels/slide37.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18.xml"/></Relationships>
</file>

<file path=ppt/slides/_rels/slide38.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18.xml"/></Relationships>
</file>

<file path=ppt/slides/_rels/slide39.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18.xml"/></Relationships>
</file>

<file path=ppt/slides/_rels/slide40.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18.xml"/></Relationships>
</file>

<file path=ppt/slides/_rels/slide41.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18.xml"/></Relationships>
</file>

<file path=ppt/slides/_rels/slide42.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18.xml"/></Relationships>
</file>

<file path=ppt/slides/_rels/slide43.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18.xml"/></Relationships>
</file>

<file path=ppt/slides/_rels/slide44.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18.xml"/></Relationships>
</file>

<file path=ppt/slides/_rels/slide4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47.xml.rels><?xml version="1.0" encoding="UTF-8" standalone="yes"?>
<Relationships xmlns="http://schemas.openxmlformats.org/package/2006/relationships"><Relationship Id="rId8" Type="http://schemas.openxmlformats.org/officeDocument/2006/relationships/image" Target="../media/image45.svg"/><Relationship Id="rId3" Type="http://schemas.openxmlformats.org/officeDocument/2006/relationships/image" Target="../media/image40.png"/><Relationship Id="rId7" Type="http://schemas.openxmlformats.org/officeDocument/2006/relationships/image" Target="../media/image44.png"/><Relationship Id="rId2" Type="http://schemas.openxmlformats.org/officeDocument/2006/relationships/image" Target="../media/image39.jpeg"/><Relationship Id="rId1" Type="http://schemas.openxmlformats.org/officeDocument/2006/relationships/slideLayout" Target="../slideLayouts/slideLayout8.xml"/><Relationship Id="rId6" Type="http://schemas.openxmlformats.org/officeDocument/2006/relationships/image" Target="../media/image43.svg"/><Relationship Id="rId11" Type="http://schemas.openxmlformats.org/officeDocument/2006/relationships/image" Target="../media/image47.svg"/><Relationship Id="rId5" Type="http://schemas.openxmlformats.org/officeDocument/2006/relationships/image" Target="../media/image42.png"/><Relationship Id="rId10" Type="http://schemas.openxmlformats.org/officeDocument/2006/relationships/image" Target="../media/image46.png"/><Relationship Id="rId4" Type="http://schemas.openxmlformats.org/officeDocument/2006/relationships/image" Target="../media/image41.svg"/><Relationship Id="rId9" Type="http://schemas.openxmlformats.org/officeDocument/2006/relationships/hyperlink" Target="https://www.linkedin.com/in/bhavya-sinha-540217225/"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Placeholder 11" descr="Hands coming together in circle">
            <a:extLst>
              <a:ext uri="{FF2B5EF4-FFF2-40B4-BE49-F238E27FC236}">
                <a16:creationId xmlns:a16="http://schemas.microsoft.com/office/drawing/2014/main" id="{AA8A1CBA-9BB5-2246-9F4B-98EAD7C90158}"/>
              </a:ext>
            </a:extLst>
          </p:cNvPr>
          <p:cNvPicPr>
            <a:picLocks noGrp="1" noChangeAspect="1"/>
          </p:cNvPicPr>
          <p:nvPr>
            <p:ph type="pic" sz="quarter" idx="10"/>
          </p:nvPr>
        </p:nvPicPr>
        <p:blipFill>
          <a:blip r:embed="rId2" cstate="screen">
            <a:extLst>
              <a:ext uri="{28A0092B-C50C-407E-A947-70E740481C1C}">
                <a14:useLocalDpi xmlns:a14="http://schemas.microsoft.com/office/drawing/2010/main"/>
              </a:ext>
            </a:extLst>
          </a:blip>
          <a:srcRect/>
          <a:stretch>
            <a:fillRect/>
          </a:stretch>
        </p:blipFill>
        <p:spPr/>
      </p:pic>
      <p:sp>
        <p:nvSpPr>
          <p:cNvPr id="3" name="Title 2">
            <a:extLst>
              <a:ext uri="{FF2B5EF4-FFF2-40B4-BE49-F238E27FC236}">
                <a16:creationId xmlns:a16="http://schemas.microsoft.com/office/drawing/2014/main" id="{200B3D2B-613A-41BE-987D-E6A1324B456D}"/>
              </a:ext>
            </a:extLst>
          </p:cNvPr>
          <p:cNvSpPr>
            <a:spLocks noGrp="1"/>
          </p:cNvSpPr>
          <p:nvPr>
            <p:ph type="ctrTitle"/>
          </p:nvPr>
        </p:nvSpPr>
        <p:spPr>
          <a:xfrm>
            <a:off x="2897204" y="2811053"/>
            <a:ext cx="9294796" cy="1261295"/>
          </a:xfrm>
        </p:spPr>
        <p:txBody>
          <a:bodyPr/>
          <a:lstStyle/>
          <a:p>
            <a:r>
              <a:rPr lang="en-IN" sz="4600" dirty="0"/>
              <a:t>Term  Deposit  Subscription  Prediction</a:t>
            </a:r>
            <a:endParaRPr lang="en-US" sz="4600" dirty="0"/>
          </a:p>
        </p:txBody>
      </p:sp>
      <p:sp>
        <p:nvSpPr>
          <p:cNvPr id="4" name="Subtitle 3">
            <a:extLst>
              <a:ext uri="{FF2B5EF4-FFF2-40B4-BE49-F238E27FC236}">
                <a16:creationId xmlns:a16="http://schemas.microsoft.com/office/drawing/2014/main" id="{4772945D-CA91-4CFE-8EB7-941C7618C994}"/>
              </a:ext>
            </a:extLst>
          </p:cNvPr>
          <p:cNvSpPr>
            <a:spLocks noGrp="1"/>
          </p:cNvSpPr>
          <p:nvPr>
            <p:ph type="subTitle" idx="1"/>
          </p:nvPr>
        </p:nvSpPr>
        <p:spPr>
          <a:xfrm>
            <a:off x="2897204" y="4080289"/>
            <a:ext cx="6883384" cy="580921"/>
          </a:xfrm>
        </p:spPr>
        <p:txBody>
          <a:bodyPr/>
          <a:lstStyle/>
          <a:p>
            <a:r>
              <a:rPr lang="en-GB" sz="1600" dirty="0"/>
              <a:t>Analysing Telemarketing Data to Forecast Client Subscriptions Using Python</a:t>
            </a:r>
            <a:endParaRPr lang="en-US" sz="1600" dirty="0"/>
          </a:p>
        </p:txBody>
      </p:sp>
    </p:spTree>
    <p:extLst>
      <p:ext uri="{BB962C8B-B14F-4D97-AF65-F5344CB8AC3E}">
        <p14:creationId xmlns:p14="http://schemas.microsoft.com/office/powerpoint/2010/main" val="398992327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Placeholder 13" descr="Hand writing on post-it note">
            <a:extLst>
              <a:ext uri="{FF2B5EF4-FFF2-40B4-BE49-F238E27FC236}">
                <a16:creationId xmlns:a16="http://schemas.microsoft.com/office/drawing/2014/main" id="{7E468295-904F-0743-AD06-67DA21353B9E}"/>
              </a:ext>
            </a:extLst>
          </p:cNvPr>
          <p:cNvPicPr>
            <a:picLocks noGrp="1" noChangeAspect="1"/>
          </p:cNvPicPr>
          <p:nvPr>
            <p:ph type="pic" sz="quarter" idx="14"/>
          </p:nvPr>
        </p:nvPicPr>
        <p:blipFill rotWithShape="1">
          <a:blip r:embed="rId2" cstate="screen">
            <a:extLst>
              <a:ext uri="{28A0092B-C50C-407E-A947-70E740481C1C}">
                <a14:useLocalDpi xmlns:a14="http://schemas.microsoft.com/office/drawing/2010/main"/>
              </a:ext>
            </a:extLst>
          </a:blip>
          <a:srcRect/>
          <a:stretch/>
        </p:blipFill>
        <p:spPr>
          <a:xfrm>
            <a:off x="0" y="-1"/>
            <a:ext cx="6096000" cy="6371351"/>
          </a:xfrm>
        </p:spPr>
      </p:pic>
      <p:sp>
        <p:nvSpPr>
          <p:cNvPr id="20" name="Rectangle 19">
            <a:extLst>
              <a:ext uri="{FF2B5EF4-FFF2-40B4-BE49-F238E27FC236}">
                <a16:creationId xmlns:a16="http://schemas.microsoft.com/office/drawing/2014/main" id="{EFA08948-2B6F-46B1-9D2D-8D7B2B3FBD56}"/>
              </a:ext>
              <a:ext uri="{C183D7F6-B498-43B3-948B-1728B52AA6E4}">
                <adec:decorative xmlns:adec="http://schemas.microsoft.com/office/drawing/2017/decorative" val="1"/>
              </a:ext>
            </a:extLst>
          </p:cNvPr>
          <p:cNvSpPr/>
          <p:nvPr/>
        </p:nvSpPr>
        <p:spPr>
          <a:xfrm>
            <a:off x="9775824" y="1762069"/>
            <a:ext cx="2091890" cy="10772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dirty="0"/>
          </a:p>
        </p:txBody>
      </p:sp>
      <p:sp>
        <p:nvSpPr>
          <p:cNvPr id="2" name="Title 1">
            <a:extLst>
              <a:ext uri="{FF2B5EF4-FFF2-40B4-BE49-F238E27FC236}">
                <a16:creationId xmlns:a16="http://schemas.microsoft.com/office/drawing/2014/main" id="{3560F281-4FF6-4617-A809-AC9C15ECF18A}"/>
              </a:ext>
            </a:extLst>
          </p:cNvPr>
          <p:cNvSpPr>
            <a:spLocks noGrp="1"/>
          </p:cNvSpPr>
          <p:nvPr>
            <p:ph type="title"/>
          </p:nvPr>
        </p:nvSpPr>
        <p:spPr>
          <a:xfrm>
            <a:off x="5118100" y="1869795"/>
            <a:ext cx="6749614" cy="1124345"/>
          </a:xfrm>
        </p:spPr>
        <p:txBody>
          <a:bodyPr/>
          <a:lstStyle/>
          <a:p>
            <a:r>
              <a:rPr lang="en-US" dirty="0"/>
              <a:t>About the Project</a:t>
            </a:r>
          </a:p>
        </p:txBody>
      </p:sp>
      <p:sp>
        <p:nvSpPr>
          <p:cNvPr id="3" name="Text Placeholder 2">
            <a:extLst>
              <a:ext uri="{FF2B5EF4-FFF2-40B4-BE49-F238E27FC236}">
                <a16:creationId xmlns:a16="http://schemas.microsoft.com/office/drawing/2014/main" id="{611DC577-0A95-47D0-95D9-5F8DA763D46B}"/>
              </a:ext>
            </a:extLst>
          </p:cNvPr>
          <p:cNvSpPr>
            <a:spLocks noGrp="1"/>
          </p:cNvSpPr>
          <p:nvPr>
            <p:ph type="body" sz="quarter" idx="32"/>
          </p:nvPr>
        </p:nvSpPr>
        <p:spPr>
          <a:xfrm>
            <a:off x="5118333" y="2994141"/>
            <a:ext cx="6749615" cy="590155"/>
          </a:xfrm>
        </p:spPr>
        <p:txBody>
          <a:bodyPr/>
          <a:lstStyle/>
          <a:p>
            <a:r>
              <a:rPr lang="en-GB" sz="1500" dirty="0"/>
              <a:t>Predict Term Deposit Subscriptions Using Client Data from Telecom Campaigns</a:t>
            </a:r>
            <a:endParaRPr lang="en-US" sz="1500" dirty="0"/>
          </a:p>
        </p:txBody>
      </p:sp>
      <p:sp>
        <p:nvSpPr>
          <p:cNvPr id="4" name="Content Placeholder 3">
            <a:extLst>
              <a:ext uri="{FF2B5EF4-FFF2-40B4-BE49-F238E27FC236}">
                <a16:creationId xmlns:a16="http://schemas.microsoft.com/office/drawing/2014/main" id="{D355C61F-C8F1-4977-8E1F-F16C0D9EA88C}"/>
              </a:ext>
            </a:extLst>
          </p:cNvPr>
          <p:cNvSpPr>
            <a:spLocks noGrp="1"/>
          </p:cNvSpPr>
          <p:nvPr>
            <p:ph sz="half" idx="1"/>
          </p:nvPr>
        </p:nvSpPr>
        <p:spPr>
          <a:xfrm>
            <a:off x="6288000" y="3782898"/>
            <a:ext cx="4723301" cy="2428351"/>
          </a:xfrm>
        </p:spPr>
        <p:txBody>
          <a:bodyPr/>
          <a:lstStyle/>
          <a:p>
            <a:pPr marL="0" indent="0" algn="just">
              <a:buNone/>
            </a:pPr>
            <a:r>
              <a:rPr lang="en-GB" sz="2000" dirty="0"/>
              <a:t>The goal is to predict whether a client will subscribe to a term deposit based on data from a Portuguese banking institution's direct marketing campaigns (phone calls).</a:t>
            </a:r>
          </a:p>
          <a:p>
            <a:pPr marL="0" indent="0" algn="just">
              <a:buNone/>
            </a:pPr>
            <a:r>
              <a:rPr lang="en-GB" dirty="0"/>
              <a:t>Identify clients likely to convert to term deposit subscriptions to optimise marketing efforts and reduce investment in broad campaigns.</a:t>
            </a:r>
            <a:endParaRPr lang="en-US" dirty="0"/>
          </a:p>
        </p:txBody>
      </p:sp>
      <p:sp>
        <p:nvSpPr>
          <p:cNvPr id="6" name="Slide Number Placeholder 5">
            <a:extLst>
              <a:ext uri="{FF2B5EF4-FFF2-40B4-BE49-F238E27FC236}">
                <a16:creationId xmlns:a16="http://schemas.microsoft.com/office/drawing/2014/main" id="{1C554D9F-1895-486E-BFBA-905BB2D29E08}"/>
              </a:ext>
            </a:extLst>
          </p:cNvPr>
          <p:cNvSpPr>
            <a:spLocks noGrp="1"/>
          </p:cNvSpPr>
          <p:nvPr>
            <p:ph type="sldNum" sz="quarter" idx="33"/>
          </p:nvPr>
        </p:nvSpPr>
        <p:spPr>
          <a:solidFill>
            <a:schemeClr val="tx1">
              <a:lumMod val="95000"/>
              <a:lumOff val="5000"/>
            </a:schemeClr>
          </a:solidFill>
        </p:spPr>
        <p:txBody>
          <a:bodyPr/>
          <a:lstStyle/>
          <a:p>
            <a:fld id="{19B51A1E-902D-48AF-9020-955120F399B6}" type="slidenum">
              <a:rPr lang="en-US" smtClean="0"/>
              <a:pPr/>
              <a:t>2</a:t>
            </a:fld>
            <a:endParaRPr lang="en-US" dirty="0"/>
          </a:p>
        </p:txBody>
      </p:sp>
      <p:sp>
        <p:nvSpPr>
          <p:cNvPr id="7" name="Rectangle 6">
            <a:extLst>
              <a:ext uri="{FF2B5EF4-FFF2-40B4-BE49-F238E27FC236}">
                <a16:creationId xmlns:a16="http://schemas.microsoft.com/office/drawing/2014/main" id="{6D498017-29EE-4888-895E-1BEB7FD291D0}"/>
              </a:ext>
            </a:extLst>
          </p:cNvPr>
          <p:cNvSpPr/>
          <p:nvPr/>
        </p:nvSpPr>
        <p:spPr>
          <a:xfrm>
            <a:off x="9775824" y="6371350"/>
            <a:ext cx="1984136" cy="432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72209879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D355C61F-C8F1-4977-8E1F-F16C0D9EA88C}"/>
              </a:ext>
            </a:extLst>
          </p:cNvPr>
          <p:cNvSpPr>
            <a:spLocks noGrp="1"/>
          </p:cNvSpPr>
          <p:nvPr>
            <p:ph sz="half" idx="1"/>
          </p:nvPr>
        </p:nvSpPr>
        <p:spPr>
          <a:xfrm>
            <a:off x="432000" y="2668686"/>
            <a:ext cx="5232000" cy="2999426"/>
          </a:xfrm>
        </p:spPr>
        <p:txBody>
          <a:bodyPr/>
          <a:lstStyle/>
          <a:p>
            <a:pPr marL="0" indent="0" algn="just">
              <a:buNone/>
            </a:pPr>
            <a:r>
              <a:rPr lang="en-GB" sz="2800" dirty="0"/>
              <a:t>Details of the dataset:</a:t>
            </a:r>
          </a:p>
          <a:p>
            <a:pPr algn="just"/>
            <a:r>
              <a:rPr lang="en-GB" b="1" dirty="0"/>
              <a:t>Size and Timeframe: </a:t>
            </a:r>
            <a:r>
              <a:rPr lang="en-GB" dirty="0"/>
              <a:t>45,211 rows and 18 columns, spanning May 2008 to November 2010.</a:t>
            </a:r>
          </a:p>
          <a:p>
            <a:pPr algn="just"/>
            <a:r>
              <a:rPr lang="en-GB" b="1" dirty="0"/>
              <a:t>Target Variable:</a:t>
            </a:r>
            <a:r>
              <a:rPr lang="en-GB" dirty="0"/>
              <a:t> Binary indicator of whether a client subscribed to a term deposit ("yes" or "no").</a:t>
            </a:r>
          </a:p>
          <a:p>
            <a:pPr algn="just"/>
            <a:r>
              <a:rPr lang="en-GB" b="1" dirty="0"/>
              <a:t>Features:</a:t>
            </a:r>
            <a:r>
              <a:rPr lang="en-GB" dirty="0"/>
              <a:t> Includes demographic, financial, and contact history information such as age, job, balance, contact type, and previous campaign outcomes.</a:t>
            </a:r>
          </a:p>
          <a:p>
            <a:pPr algn="just"/>
            <a:r>
              <a:rPr lang="en-GB" b="1" dirty="0"/>
              <a:t>Contact Data:</a:t>
            </a:r>
            <a:r>
              <a:rPr lang="en-GB" dirty="0"/>
              <a:t> Details of marketing interactions, including the duration of the last contact, the number of contacts, and the time since the last contact.</a:t>
            </a:r>
          </a:p>
          <a:p>
            <a:pPr algn="just"/>
            <a:r>
              <a:rPr lang="en-GB" b="1" dirty="0"/>
              <a:t>Campaign Context: </a:t>
            </a:r>
            <a:r>
              <a:rPr lang="en-GB" dirty="0"/>
              <a:t>Data from phone-based marketing campaigns used to identify potential term deposit subscribers.</a:t>
            </a:r>
            <a:endParaRPr lang="en-US" dirty="0"/>
          </a:p>
        </p:txBody>
      </p:sp>
      <p:pic>
        <p:nvPicPr>
          <p:cNvPr id="9" name="Picture Placeholder 8" descr="Handing touching mobile phone">
            <a:extLst>
              <a:ext uri="{FF2B5EF4-FFF2-40B4-BE49-F238E27FC236}">
                <a16:creationId xmlns:a16="http://schemas.microsoft.com/office/drawing/2014/main" id="{A9A75888-22E3-1D43-9112-DA02186070B5}"/>
              </a:ext>
            </a:extLst>
          </p:cNvPr>
          <p:cNvPicPr>
            <a:picLocks noGrp="1" noChangeAspect="1"/>
          </p:cNvPicPr>
          <p:nvPr>
            <p:ph type="pic" sz="quarter" idx="14"/>
          </p:nvPr>
        </p:nvPicPr>
        <p:blipFill>
          <a:blip r:embed="rId2" cstate="screen">
            <a:extLst>
              <a:ext uri="{28A0092B-C50C-407E-A947-70E740481C1C}">
                <a14:useLocalDpi xmlns:a14="http://schemas.microsoft.com/office/drawing/2010/main"/>
              </a:ext>
            </a:extLst>
          </a:blip>
          <a:srcRect/>
          <a:stretch>
            <a:fillRect/>
          </a:stretch>
        </p:blipFill>
        <p:spPr/>
      </p:pic>
      <p:sp>
        <p:nvSpPr>
          <p:cNvPr id="20" name="Rectangle 19">
            <a:extLst>
              <a:ext uri="{FF2B5EF4-FFF2-40B4-BE49-F238E27FC236}">
                <a16:creationId xmlns:a16="http://schemas.microsoft.com/office/drawing/2014/main" id="{EFA08948-2B6F-46B1-9D2D-8D7B2B3FBD56}"/>
              </a:ext>
              <a:ext uri="{C183D7F6-B498-43B3-948B-1728B52AA6E4}">
                <adec:decorative xmlns:adec="http://schemas.microsoft.com/office/drawing/2017/decorative" val="1"/>
              </a:ext>
            </a:extLst>
          </p:cNvPr>
          <p:cNvSpPr/>
          <p:nvPr/>
        </p:nvSpPr>
        <p:spPr>
          <a:xfrm>
            <a:off x="9348588" y="3688075"/>
            <a:ext cx="2411412" cy="11482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dirty="0"/>
          </a:p>
        </p:txBody>
      </p:sp>
      <p:sp>
        <p:nvSpPr>
          <p:cNvPr id="2" name="Title 1">
            <a:extLst>
              <a:ext uri="{FF2B5EF4-FFF2-40B4-BE49-F238E27FC236}">
                <a16:creationId xmlns:a16="http://schemas.microsoft.com/office/drawing/2014/main" id="{3560F281-4FF6-4617-A809-AC9C15ECF18A}"/>
              </a:ext>
            </a:extLst>
          </p:cNvPr>
          <p:cNvSpPr>
            <a:spLocks noGrp="1"/>
          </p:cNvSpPr>
          <p:nvPr>
            <p:ph type="title"/>
          </p:nvPr>
        </p:nvSpPr>
        <p:spPr/>
        <p:txBody>
          <a:bodyPr/>
          <a:lstStyle/>
          <a:p>
            <a:r>
              <a:rPr lang="en-US" sz="5400" dirty="0"/>
              <a:t>The Dataset</a:t>
            </a:r>
          </a:p>
        </p:txBody>
      </p:sp>
      <p:sp>
        <p:nvSpPr>
          <p:cNvPr id="3" name="Text Placeholder 2">
            <a:extLst>
              <a:ext uri="{FF2B5EF4-FFF2-40B4-BE49-F238E27FC236}">
                <a16:creationId xmlns:a16="http://schemas.microsoft.com/office/drawing/2014/main" id="{611DC577-0A95-47D0-95D9-5F8DA763D46B}"/>
              </a:ext>
            </a:extLst>
          </p:cNvPr>
          <p:cNvSpPr>
            <a:spLocks noGrp="1"/>
          </p:cNvSpPr>
          <p:nvPr>
            <p:ph type="body" sz="quarter" idx="32"/>
          </p:nvPr>
        </p:nvSpPr>
        <p:spPr>
          <a:xfrm>
            <a:off x="7111800" y="4787900"/>
            <a:ext cx="4648200" cy="1162800"/>
          </a:xfrm>
        </p:spPr>
        <p:txBody>
          <a:bodyPr/>
          <a:lstStyle/>
          <a:p>
            <a:r>
              <a:rPr lang="en-GB" dirty="0"/>
              <a:t>It consists of 45,211 records from a Portuguese bank’s phone-based marketing campaigns, spanning over two years</a:t>
            </a:r>
            <a:endParaRPr lang="en-US" dirty="0"/>
          </a:p>
        </p:txBody>
      </p:sp>
      <p:sp>
        <p:nvSpPr>
          <p:cNvPr id="6" name="Slide Number Placeholder 5">
            <a:extLst>
              <a:ext uri="{FF2B5EF4-FFF2-40B4-BE49-F238E27FC236}">
                <a16:creationId xmlns:a16="http://schemas.microsoft.com/office/drawing/2014/main" id="{1C554D9F-1895-486E-BFBA-905BB2D29E08}"/>
              </a:ext>
            </a:extLst>
          </p:cNvPr>
          <p:cNvSpPr>
            <a:spLocks noGrp="1"/>
          </p:cNvSpPr>
          <p:nvPr>
            <p:ph type="sldNum" sz="quarter" idx="33"/>
          </p:nvPr>
        </p:nvSpPr>
        <p:spPr>
          <a:solidFill>
            <a:schemeClr val="tx1">
              <a:lumMod val="95000"/>
              <a:lumOff val="5000"/>
            </a:schemeClr>
          </a:solidFill>
        </p:spPr>
        <p:txBody>
          <a:bodyPr/>
          <a:lstStyle/>
          <a:p>
            <a:fld id="{19B51A1E-902D-48AF-9020-955120F399B6}" type="slidenum">
              <a:rPr lang="en-US" smtClean="0"/>
              <a:pPr/>
              <a:t>3</a:t>
            </a:fld>
            <a:endParaRPr lang="en-US" dirty="0"/>
          </a:p>
        </p:txBody>
      </p:sp>
      <p:sp>
        <p:nvSpPr>
          <p:cNvPr id="10" name="Rectangle 9">
            <a:extLst>
              <a:ext uri="{FF2B5EF4-FFF2-40B4-BE49-F238E27FC236}">
                <a16:creationId xmlns:a16="http://schemas.microsoft.com/office/drawing/2014/main" id="{3C801EEE-D038-45A3-BA22-04F4C48C0418}"/>
              </a:ext>
            </a:extLst>
          </p:cNvPr>
          <p:cNvSpPr/>
          <p:nvPr/>
        </p:nvSpPr>
        <p:spPr>
          <a:xfrm>
            <a:off x="9775824" y="6371350"/>
            <a:ext cx="1984136" cy="432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132974669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Placeholder 10" descr="Desk with computer, phone, books, etc.">
            <a:extLst>
              <a:ext uri="{FF2B5EF4-FFF2-40B4-BE49-F238E27FC236}">
                <a16:creationId xmlns:a16="http://schemas.microsoft.com/office/drawing/2014/main" id="{2E7ADBC3-DECA-9F4C-9289-9E43C727592F}"/>
              </a:ext>
            </a:extLst>
          </p:cNvPr>
          <p:cNvPicPr>
            <a:picLocks noGrp="1" noChangeAspect="1"/>
          </p:cNvPicPr>
          <p:nvPr>
            <p:ph type="pic" sz="quarter" idx="10"/>
          </p:nvPr>
        </p:nvPicPr>
        <p:blipFill>
          <a:blip r:embed="rId2" cstate="screen">
            <a:extLst>
              <a:ext uri="{28A0092B-C50C-407E-A947-70E740481C1C}">
                <a14:useLocalDpi xmlns:a14="http://schemas.microsoft.com/office/drawing/2010/main"/>
              </a:ext>
            </a:extLst>
          </a:blip>
          <a:srcRect/>
          <a:stretch>
            <a:fillRect/>
          </a:stretch>
        </p:blipFill>
        <p:spPr/>
      </p:pic>
      <p:sp>
        <p:nvSpPr>
          <p:cNvPr id="3" name="Title 2">
            <a:extLst>
              <a:ext uri="{FF2B5EF4-FFF2-40B4-BE49-F238E27FC236}">
                <a16:creationId xmlns:a16="http://schemas.microsoft.com/office/drawing/2014/main" id="{200B3D2B-613A-41BE-987D-E6A1324B456D}"/>
              </a:ext>
            </a:extLst>
          </p:cNvPr>
          <p:cNvSpPr>
            <a:spLocks noGrp="1"/>
          </p:cNvSpPr>
          <p:nvPr>
            <p:ph type="ctrTitle"/>
          </p:nvPr>
        </p:nvSpPr>
        <p:spPr/>
        <p:txBody>
          <a:bodyPr/>
          <a:lstStyle/>
          <a:p>
            <a:r>
              <a:rPr lang="en-US" sz="5400" dirty="0"/>
              <a:t>Summary Statistics &amp; Analysis</a:t>
            </a:r>
          </a:p>
        </p:txBody>
      </p:sp>
      <p:sp>
        <p:nvSpPr>
          <p:cNvPr id="14" name="Text Placeholder 13">
            <a:extLst>
              <a:ext uri="{FF2B5EF4-FFF2-40B4-BE49-F238E27FC236}">
                <a16:creationId xmlns:a16="http://schemas.microsoft.com/office/drawing/2014/main" id="{F278402B-CA7D-4F5B-B3FA-ED74AB3CFB6C}"/>
              </a:ext>
            </a:extLst>
          </p:cNvPr>
          <p:cNvSpPr>
            <a:spLocks noGrp="1"/>
          </p:cNvSpPr>
          <p:nvPr>
            <p:ph type="body" sz="quarter" idx="13"/>
          </p:nvPr>
        </p:nvSpPr>
        <p:spPr/>
        <p:txBody>
          <a:bodyPr/>
          <a:lstStyle/>
          <a:p>
            <a:r>
              <a:rPr lang="en-US" dirty="0"/>
              <a:t>Reviewing the Summary Details and Drawing Analysis</a:t>
            </a:r>
          </a:p>
        </p:txBody>
      </p:sp>
      <p:sp>
        <p:nvSpPr>
          <p:cNvPr id="5" name="Slide Number Placeholder 4">
            <a:extLst>
              <a:ext uri="{FF2B5EF4-FFF2-40B4-BE49-F238E27FC236}">
                <a16:creationId xmlns:a16="http://schemas.microsoft.com/office/drawing/2014/main" id="{BDD5A594-D852-43BB-B591-E9D9027253BD}"/>
              </a:ext>
            </a:extLst>
          </p:cNvPr>
          <p:cNvSpPr>
            <a:spLocks noGrp="1"/>
          </p:cNvSpPr>
          <p:nvPr>
            <p:ph type="sldNum" sz="quarter" idx="12"/>
          </p:nvPr>
        </p:nvSpPr>
        <p:spPr>
          <a:solidFill>
            <a:schemeClr val="tx1">
              <a:lumMod val="95000"/>
              <a:lumOff val="5000"/>
            </a:schemeClr>
          </a:solidFill>
        </p:spPr>
        <p:txBody>
          <a:bodyPr/>
          <a:lstStyle/>
          <a:p>
            <a:fld id="{19B51A1E-902D-48AF-9020-955120F399B6}" type="slidenum">
              <a:rPr lang="en-US" smtClean="0"/>
              <a:pPr/>
              <a:t>4</a:t>
            </a:fld>
            <a:endParaRPr lang="en-US" dirty="0"/>
          </a:p>
        </p:txBody>
      </p:sp>
      <p:sp>
        <p:nvSpPr>
          <p:cNvPr id="6" name="Rectangle 5">
            <a:extLst>
              <a:ext uri="{FF2B5EF4-FFF2-40B4-BE49-F238E27FC236}">
                <a16:creationId xmlns:a16="http://schemas.microsoft.com/office/drawing/2014/main" id="{B6F72168-50E2-48A8-8A5C-83A912118E7A}"/>
              </a:ext>
            </a:extLst>
          </p:cNvPr>
          <p:cNvSpPr/>
          <p:nvPr/>
        </p:nvSpPr>
        <p:spPr>
          <a:xfrm>
            <a:off x="9775824" y="6371350"/>
            <a:ext cx="1984136" cy="432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409167464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A0F55D-93FD-4241-956E-D08DDB9953B7}"/>
              </a:ext>
            </a:extLst>
          </p:cNvPr>
          <p:cNvSpPr>
            <a:spLocks noGrp="1"/>
          </p:cNvSpPr>
          <p:nvPr>
            <p:ph type="title"/>
          </p:nvPr>
        </p:nvSpPr>
        <p:spPr/>
        <p:txBody>
          <a:bodyPr/>
          <a:lstStyle/>
          <a:p>
            <a:r>
              <a:rPr lang="en-IN" dirty="0"/>
              <a:t>Summary Statistics</a:t>
            </a:r>
          </a:p>
        </p:txBody>
      </p:sp>
      <p:sp>
        <p:nvSpPr>
          <p:cNvPr id="4" name="Slide Number Placeholder 3">
            <a:extLst>
              <a:ext uri="{FF2B5EF4-FFF2-40B4-BE49-F238E27FC236}">
                <a16:creationId xmlns:a16="http://schemas.microsoft.com/office/drawing/2014/main" id="{2788C1B3-9E96-4950-A1BE-B622E9D47D7F}"/>
              </a:ext>
            </a:extLst>
          </p:cNvPr>
          <p:cNvSpPr>
            <a:spLocks noGrp="1"/>
          </p:cNvSpPr>
          <p:nvPr>
            <p:ph type="sldNum" sz="quarter" idx="33"/>
          </p:nvPr>
        </p:nvSpPr>
        <p:spPr/>
        <p:txBody>
          <a:bodyPr/>
          <a:lstStyle/>
          <a:p>
            <a:fld id="{19B51A1E-902D-48AF-9020-955120F399B6}" type="slidenum">
              <a:rPr lang="en-US" noProof="0" smtClean="0"/>
              <a:pPr/>
              <a:t>5</a:t>
            </a:fld>
            <a:endParaRPr lang="en-US" noProof="0" dirty="0"/>
          </a:p>
        </p:txBody>
      </p:sp>
      <p:sp>
        <p:nvSpPr>
          <p:cNvPr id="5" name="Text Placeholder 4">
            <a:extLst>
              <a:ext uri="{FF2B5EF4-FFF2-40B4-BE49-F238E27FC236}">
                <a16:creationId xmlns:a16="http://schemas.microsoft.com/office/drawing/2014/main" id="{97EAEFD8-1CE3-4327-867C-0CE26093A11A}"/>
              </a:ext>
            </a:extLst>
          </p:cNvPr>
          <p:cNvSpPr>
            <a:spLocks noGrp="1"/>
          </p:cNvSpPr>
          <p:nvPr>
            <p:ph type="body" idx="1"/>
          </p:nvPr>
        </p:nvSpPr>
        <p:spPr/>
        <p:txBody>
          <a:bodyPr/>
          <a:lstStyle/>
          <a:p>
            <a:r>
              <a:rPr lang="en-IN" dirty="0"/>
              <a:t>Standard Industry Figures</a:t>
            </a:r>
          </a:p>
        </p:txBody>
      </p:sp>
      <p:sp>
        <p:nvSpPr>
          <p:cNvPr id="6" name="Text Placeholder 5">
            <a:extLst>
              <a:ext uri="{FF2B5EF4-FFF2-40B4-BE49-F238E27FC236}">
                <a16:creationId xmlns:a16="http://schemas.microsoft.com/office/drawing/2014/main" id="{B516C4EA-894A-4C5B-83FF-C408D99F19BB}"/>
              </a:ext>
            </a:extLst>
          </p:cNvPr>
          <p:cNvSpPr>
            <a:spLocks noGrp="1"/>
          </p:cNvSpPr>
          <p:nvPr>
            <p:ph type="body" sz="quarter" idx="3"/>
          </p:nvPr>
        </p:nvSpPr>
        <p:spPr/>
        <p:txBody>
          <a:bodyPr/>
          <a:lstStyle/>
          <a:p>
            <a:r>
              <a:rPr lang="en-IN" dirty="0"/>
              <a:t>Current Dataset Figures</a:t>
            </a:r>
          </a:p>
        </p:txBody>
      </p:sp>
      <p:sp>
        <p:nvSpPr>
          <p:cNvPr id="7" name="Content Placeholder 6">
            <a:extLst>
              <a:ext uri="{FF2B5EF4-FFF2-40B4-BE49-F238E27FC236}">
                <a16:creationId xmlns:a16="http://schemas.microsoft.com/office/drawing/2014/main" id="{52162346-6D6E-4784-824E-628FC897D1EA}"/>
              </a:ext>
            </a:extLst>
          </p:cNvPr>
          <p:cNvSpPr>
            <a:spLocks noGrp="1"/>
          </p:cNvSpPr>
          <p:nvPr>
            <p:ph sz="quarter" idx="4"/>
          </p:nvPr>
        </p:nvSpPr>
        <p:spPr>
          <a:xfrm>
            <a:off x="6299886" y="1763226"/>
            <a:ext cx="5447914" cy="4233932"/>
          </a:xfrm>
        </p:spPr>
        <p:txBody>
          <a:bodyPr/>
          <a:lstStyle/>
          <a:p>
            <a:pPr algn="just"/>
            <a:r>
              <a:rPr lang="en-GB" sz="1500" b="1" dirty="0"/>
              <a:t>Age of Clients:</a:t>
            </a:r>
            <a:r>
              <a:rPr lang="en-GB" sz="1500" dirty="0"/>
              <a:t> Mean: 40, Min: 18, Max: 95</a:t>
            </a:r>
          </a:p>
          <a:p>
            <a:pPr algn="just"/>
            <a:r>
              <a:rPr lang="en-GB" sz="1500" b="1" dirty="0"/>
              <a:t>Balance per Clients:</a:t>
            </a:r>
            <a:r>
              <a:rPr lang="en-GB" sz="1500" dirty="0"/>
              <a:t> Mean: €1,362.28, Min: - €8,019.00, Max: €102,127.00</a:t>
            </a:r>
          </a:p>
          <a:p>
            <a:pPr algn="just"/>
            <a:r>
              <a:rPr lang="en-GB" sz="1500" b="1" dirty="0"/>
              <a:t>Duration of Contact:</a:t>
            </a:r>
            <a:r>
              <a:rPr lang="en-GB" sz="1500" dirty="0"/>
              <a:t> Mean: 258.17 seconds, Min: 0 seconds, Max: 4,918 seconds</a:t>
            </a:r>
          </a:p>
          <a:p>
            <a:pPr algn="just"/>
            <a:r>
              <a:rPr lang="en-GB" sz="1500" b="1" dirty="0"/>
              <a:t>Number of Contacts Performed During the Campaign:</a:t>
            </a:r>
            <a:r>
              <a:rPr lang="en-GB" sz="1500" dirty="0"/>
              <a:t> Mean: 2.76, Min: 1, Max: 63</a:t>
            </a:r>
          </a:p>
          <a:p>
            <a:pPr algn="just"/>
            <a:r>
              <a:rPr lang="en-GB" sz="1500" b="1" dirty="0"/>
              <a:t>Marital Status of the Clients:</a:t>
            </a:r>
            <a:r>
              <a:rPr lang="en-GB" sz="1500" dirty="0"/>
              <a:t> Married (27K), Single (12K), Divorced (5K)</a:t>
            </a:r>
          </a:p>
          <a:p>
            <a:pPr algn="just"/>
            <a:r>
              <a:rPr lang="en-GB" sz="1500" b="1" dirty="0"/>
              <a:t>Job Type of the Clients:</a:t>
            </a:r>
            <a:r>
              <a:rPr lang="en-GB" sz="1500" dirty="0"/>
              <a:t> Blue-collar (9K), Management (9K), Technician (7K)</a:t>
            </a:r>
          </a:p>
          <a:p>
            <a:pPr algn="just"/>
            <a:r>
              <a:rPr lang="en-GB" sz="1500" b="1" dirty="0"/>
              <a:t>Credit Subscription by the Clients: </a:t>
            </a:r>
            <a:r>
              <a:rPr lang="en-GB" sz="1500" dirty="0"/>
              <a:t>No default (44K), Default (800)</a:t>
            </a:r>
          </a:p>
          <a:p>
            <a:pPr algn="just"/>
            <a:r>
              <a:rPr lang="en-GB" sz="1500" b="1" dirty="0"/>
              <a:t>Term Deposit Subscription by the Clients:</a:t>
            </a:r>
            <a:r>
              <a:rPr lang="en-GB" sz="1500" dirty="0"/>
              <a:t> No (39K), Yes (5K)</a:t>
            </a:r>
          </a:p>
        </p:txBody>
      </p:sp>
      <p:sp>
        <p:nvSpPr>
          <p:cNvPr id="8" name="Content Placeholder 7">
            <a:extLst>
              <a:ext uri="{FF2B5EF4-FFF2-40B4-BE49-F238E27FC236}">
                <a16:creationId xmlns:a16="http://schemas.microsoft.com/office/drawing/2014/main" id="{EED7B2A4-AACE-4589-9934-54534F793E26}"/>
              </a:ext>
            </a:extLst>
          </p:cNvPr>
          <p:cNvSpPr>
            <a:spLocks noGrp="1"/>
          </p:cNvSpPr>
          <p:nvPr>
            <p:ph sz="half" idx="2"/>
          </p:nvPr>
        </p:nvSpPr>
        <p:spPr>
          <a:xfrm>
            <a:off x="431800" y="1721649"/>
            <a:ext cx="5555114" cy="4246632"/>
          </a:xfrm>
        </p:spPr>
        <p:txBody>
          <a:bodyPr/>
          <a:lstStyle/>
          <a:p>
            <a:pPr algn="just"/>
            <a:r>
              <a:rPr lang="en-GB" sz="1200" b="1" dirty="0"/>
              <a:t>Age of Clients: </a:t>
            </a:r>
            <a:r>
              <a:rPr lang="en-GB" sz="1200" dirty="0"/>
              <a:t>The average age of banking clients typically ranges between 35-55 years, with a slight upward trend as younger clients increasingly engage with digital banking services. </a:t>
            </a:r>
            <a:r>
              <a:rPr lang="en-GB" sz="1200" i="1" dirty="0"/>
              <a:t>(Source: S&amp;P Global and BAI Research)</a:t>
            </a:r>
          </a:p>
          <a:p>
            <a:pPr algn="just"/>
            <a:r>
              <a:rPr lang="en-GB" sz="1200" b="1" dirty="0"/>
              <a:t>Balance per Client: </a:t>
            </a:r>
            <a:r>
              <a:rPr lang="en-GB" sz="1200" dirty="0"/>
              <a:t>Average balances can vary widely, but in many regions, they range between €1,000 - €5,000. </a:t>
            </a:r>
            <a:r>
              <a:rPr lang="en-GB" sz="1200" i="1" dirty="0"/>
              <a:t>(Source: European Central Bank (ECB) data and industry reports from McKinsey &amp; Company)</a:t>
            </a:r>
          </a:p>
          <a:p>
            <a:pPr algn="just"/>
            <a:r>
              <a:rPr lang="en-GB" sz="1200" b="1" dirty="0"/>
              <a:t>Duration of Contact: </a:t>
            </a:r>
            <a:r>
              <a:rPr lang="en-GB" sz="1200" dirty="0"/>
              <a:t>The average duration of contact, especially for digital channels, is around 200-300 seconds. </a:t>
            </a:r>
            <a:r>
              <a:rPr lang="en-GB" sz="1200" i="1" dirty="0"/>
              <a:t>(Source: BAI Research)</a:t>
            </a:r>
          </a:p>
          <a:p>
            <a:pPr algn="just"/>
            <a:r>
              <a:rPr lang="en-GB" sz="1200" b="1" dirty="0"/>
              <a:t>Number of Contacts Performed During the Campaign:</a:t>
            </a:r>
            <a:r>
              <a:rPr lang="en-GB" sz="1200" dirty="0"/>
              <a:t> Typically, successful campaigns involve 2-5 contacts per client. </a:t>
            </a:r>
            <a:r>
              <a:rPr lang="en-GB" sz="1200" i="1" dirty="0"/>
              <a:t>(Source: S&amp;P Global and McKinsey &amp; Company)</a:t>
            </a:r>
          </a:p>
          <a:p>
            <a:pPr algn="just"/>
            <a:r>
              <a:rPr lang="en-GB" sz="1200" b="1" dirty="0"/>
              <a:t>Marital Status of the Clients: </a:t>
            </a:r>
            <a:r>
              <a:rPr lang="en-GB" sz="1200" dirty="0"/>
              <a:t>The distribution often sees married clients making up the majority at around 50-60%, followed by single clients at around 30-40%, and divorced clients at about 10% </a:t>
            </a:r>
            <a:r>
              <a:rPr lang="en-GB" sz="1200" i="1" dirty="0"/>
              <a:t>(Source: S&amp;P Global)</a:t>
            </a:r>
          </a:p>
          <a:p>
            <a:pPr algn="just"/>
            <a:r>
              <a:rPr lang="en-GB" sz="1200" b="1" dirty="0"/>
              <a:t>Job Type of the Clients:</a:t>
            </a:r>
            <a:r>
              <a:rPr lang="en-GB" sz="1200" dirty="0"/>
              <a:t> The most common job types include white-collar professionals (e.g., management, technical roles) at around 40%, blue-collar workers at about 30%, and service roles at 20%. </a:t>
            </a:r>
            <a:r>
              <a:rPr lang="en-GB" sz="1200" i="1" dirty="0"/>
              <a:t>(Source: S&amp;P Global)</a:t>
            </a:r>
          </a:p>
          <a:p>
            <a:pPr algn="just"/>
            <a:r>
              <a:rPr lang="en-GB" sz="1200" b="1" dirty="0"/>
              <a:t>Credit Subscription by the Clients:</a:t>
            </a:r>
            <a:r>
              <a:rPr lang="en-GB" sz="1200" dirty="0"/>
              <a:t> The credit default rate varies but generally hovers around 5-10% of total clients. </a:t>
            </a:r>
            <a:r>
              <a:rPr lang="en-GB" sz="1200" i="1" dirty="0"/>
              <a:t>(Source: McKinsey &amp; Company)</a:t>
            </a:r>
          </a:p>
          <a:p>
            <a:pPr algn="just"/>
            <a:r>
              <a:rPr lang="en-GB" sz="1200" b="1" dirty="0"/>
              <a:t>Term Deposit Subscription by the Clients:</a:t>
            </a:r>
            <a:r>
              <a:rPr lang="en-GB" sz="1200" dirty="0"/>
              <a:t> The subscription rate for term deposits typically ranges between 10-20%. </a:t>
            </a:r>
            <a:r>
              <a:rPr lang="en-GB" sz="1200" i="1" dirty="0"/>
              <a:t>(Source: BAI Research and McKinsey &amp; Company)</a:t>
            </a:r>
            <a:endParaRPr lang="en-IN" sz="1200" i="1" dirty="0"/>
          </a:p>
        </p:txBody>
      </p:sp>
      <p:sp>
        <p:nvSpPr>
          <p:cNvPr id="9" name="Rectangle 8">
            <a:extLst>
              <a:ext uri="{FF2B5EF4-FFF2-40B4-BE49-F238E27FC236}">
                <a16:creationId xmlns:a16="http://schemas.microsoft.com/office/drawing/2014/main" id="{41CF983E-E8D5-4739-8C93-385C3C1AB96E}"/>
              </a:ext>
            </a:extLst>
          </p:cNvPr>
          <p:cNvSpPr/>
          <p:nvPr/>
        </p:nvSpPr>
        <p:spPr>
          <a:xfrm>
            <a:off x="9775824" y="6371350"/>
            <a:ext cx="1984136" cy="432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253436030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393127-589C-4A8D-8427-47DB88C6B50E}"/>
              </a:ext>
            </a:extLst>
          </p:cNvPr>
          <p:cNvSpPr>
            <a:spLocks noGrp="1"/>
          </p:cNvSpPr>
          <p:nvPr>
            <p:ph type="title"/>
          </p:nvPr>
        </p:nvSpPr>
        <p:spPr/>
        <p:txBody>
          <a:bodyPr/>
          <a:lstStyle/>
          <a:p>
            <a:r>
              <a:rPr lang="en-IN" dirty="0"/>
              <a:t>Insights – Industry Figures vs Figures in Hand</a:t>
            </a:r>
          </a:p>
        </p:txBody>
      </p:sp>
      <p:sp>
        <p:nvSpPr>
          <p:cNvPr id="3" name="Text Placeholder 2">
            <a:extLst>
              <a:ext uri="{FF2B5EF4-FFF2-40B4-BE49-F238E27FC236}">
                <a16:creationId xmlns:a16="http://schemas.microsoft.com/office/drawing/2014/main" id="{151E845B-5B41-47FD-AB22-120B53E72A84}"/>
              </a:ext>
            </a:extLst>
          </p:cNvPr>
          <p:cNvSpPr>
            <a:spLocks noGrp="1"/>
          </p:cNvSpPr>
          <p:nvPr>
            <p:ph type="body" sz="quarter" idx="32"/>
          </p:nvPr>
        </p:nvSpPr>
        <p:spPr/>
        <p:txBody>
          <a:bodyPr/>
          <a:lstStyle/>
          <a:p>
            <a:r>
              <a:rPr lang="en-IN" dirty="0"/>
              <a:t>Analysis and Insights Derived by Comparing Industry and Available Figures</a:t>
            </a:r>
          </a:p>
        </p:txBody>
      </p:sp>
      <p:sp>
        <p:nvSpPr>
          <p:cNvPr id="4" name="Text Placeholder 3">
            <a:extLst>
              <a:ext uri="{FF2B5EF4-FFF2-40B4-BE49-F238E27FC236}">
                <a16:creationId xmlns:a16="http://schemas.microsoft.com/office/drawing/2014/main" id="{F98E1B64-B015-45FE-AA99-09ADBFF368C9}"/>
              </a:ext>
            </a:extLst>
          </p:cNvPr>
          <p:cNvSpPr>
            <a:spLocks noGrp="1"/>
          </p:cNvSpPr>
          <p:nvPr>
            <p:ph type="body" idx="1"/>
          </p:nvPr>
        </p:nvSpPr>
        <p:spPr/>
        <p:txBody>
          <a:bodyPr/>
          <a:lstStyle/>
          <a:p>
            <a:r>
              <a:rPr lang="en-IN" sz="1800" dirty="0"/>
              <a:t>Analysis and Interpretation</a:t>
            </a:r>
          </a:p>
        </p:txBody>
      </p:sp>
      <p:sp>
        <p:nvSpPr>
          <p:cNvPr id="5" name="Content Placeholder 4">
            <a:extLst>
              <a:ext uri="{FF2B5EF4-FFF2-40B4-BE49-F238E27FC236}">
                <a16:creationId xmlns:a16="http://schemas.microsoft.com/office/drawing/2014/main" id="{3A239188-DF31-40DE-8866-EED0E1EF2723}"/>
              </a:ext>
            </a:extLst>
          </p:cNvPr>
          <p:cNvSpPr>
            <a:spLocks noGrp="1"/>
          </p:cNvSpPr>
          <p:nvPr>
            <p:ph sz="half" idx="2"/>
          </p:nvPr>
        </p:nvSpPr>
        <p:spPr>
          <a:xfrm>
            <a:off x="432000" y="2699534"/>
            <a:ext cx="5664000" cy="3491716"/>
          </a:xfrm>
        </p:spPr>
        <p:txBody>
          <a:bodyPr/>
          <a:lstStyle/>
          <a:p>
            <a:pPr algn="just">
              <a:lnSpc>
                <a:spcPct val="107000"/>
              </a:lnSpc>
            </a:pPr>
            <a:r>
              <a:rPr lang="en-US" sz="1050" b="1" dirty="0">
                <a:effectLst/>
                <a:ea typeface="Calibri" panose="020F0502020204030204" pitchFamily="34" charset="0"/>
                <a:cs typeface="Times New Roman" panose="02020603050405020304" pitchFamily="18" charset="0"/>
              </a:rPr>
              <a:t>Client Age:</a:t>
            </a:r>
            <a:r>
              <a:rPr lang="en-US" sz="1050" dirty="0">
                <a:effectLst/>
                <a:ea typeface="Calibri" panose="020F0502020204030204" pitchFamily="34" charset="0"/>
                <a:cs typeface="Times New Roman" panose="02020603050405020304" pitchFamily="18" charset="0"/>
              </a:rPr>
              <a:t> The average age is 40 years with a broad range, including a notable number of older clients (55+). This contrasts with the narrower age range typical in the industry.</a:t>
            </a:r>
            <a:endParaRPr lang="en-IN" sz="1050" dirty="0">
              <a:ea typeface="Calibri" panose="020F0502020204030204" pitchFamily="34" charset="0"/>
              <a:cs typeface="Times New Roman" panose="02020603050405020304" pitchFamily="18" charset="0"/>
            </a:endParaRPr>
          </a:p>
          <a:p>
            <a:pPr algn="just">
              <a:lnSpc>
                <a:spcPct val="107000"/>
              </a:lnSpc>
            </a:pPr>
            <a:r>
              <a:rPr lang="en-US" sz="1050" b="1" dirty="0">
                <a:effectLst/>
                <a:ea typeface="Calibri" panose="020F0502020204030204" pitchFamily="34" charset="0"/>
                <a:cs typeface="Times New Roman" panose="02020603050405020304" pitchFamily="18" charset="0"/>
              </a:rPr>
              <a:t>Client Balance:</a:t>
            </a:r>
            <a:r>
              <a:rPr lang="en-US" sz="1050" dirty="0">
                <a:effectLst/>
                <a:ea typeface="Calibri" panose="020F0502020204030204" pitchFamily="34" charset="0"/>
                <a:cs typeface="Times New Roman" panose="02020603050405020304" pitchFamily="18" charset="0"/>
              </a:rPr>
              <a:t> The average balance is at the lower end of the industry standard, but there are a few clients with very high balances and some with negative balances.</a:t>
            </a:r>
            <a:endParaRPr lang="en-IN" sz="1050" dirty="0">
              <a:effectLst/>
              <a:ea typeface="Calibri" panose="020F0502020204030204" pitchFamily="34" charset="0"/>
              <a:cs typeface="Times New Roman" panose="02020603050405020304" pitchFamily="18" charset="0"/>
            </a:endParaRPr>
          </a:p>
          <a:p>
            <a:pPr algn="just">
              <a:lnSpc>
                <a:spcPct val="107000"/>
              </a:lnSpc>
            </a:pPr>
            <a:r>
              <a:rPr lang="en-US" sz="1050" b="1" dirty="0">
                <a:effectLst/>
                <a:ea typeface="Calibri" panose="020F0502020204030204" pitchFamily="34" charset="0"/>
                <a:cs typeface="Times New Roman" panose="02020603050405020304" pitchFamily="18" charset="0"/>
              </a:rPr>
              <a:t>Contact Duration:</a:t>
            </a:r>
            <a:r>
              <a:rPr lang="en-US" sz="1050" dirty="0">
                <a:effectLst/>
                <a:ea typeface="Calibri" panose="020F0502020204030204" pitchFamily="34" charset="0"/>
                <a:cs typeface="Times New Roman" panose="02020603050405020304" pitchFamily="18" charset="0"/>
              </a:rPr>
              <a:t> The mean contact duration is within the industry standard range, though there are variations with some exceptionally long calls.</a:t>
            </a:r>
            <a:endParaRPr lang="en-IN" sz="1050" dirty="0">
              <a:effectLst/>
              <a:ea typeface="Calibri" panose="020F0502020204030204" pitchFamily="34" charset="0"/>
              <a:cs typeface="Times New Roman" panose="02020603050405020304" pitchFamily="18" charset="0"/>
            </a:endParaRPr>
          </a:p>
          <a:p>
            <a:pPr algn="just">
              <a:lnSpc>
                <a:spcPct val="107000"/>
              </a:lnSpc>
            </a:pPr>
            <a:r>
              <a:rPr lang="en-US" sz="1050" b="1" dirty="0">
                <a:effectLst/>
                <a:ea typeface="Calibri" panose="020F0502020204030204" pitchFamily="34" charset="0"/>
                <a:cs typeface="Times New Roman" panose="02020603050405020304" pitchFamily="18" charset="0"/>
              </a:rPr>
              <a:t>Number of Contacts:</a:t>
            </a:r>
            <a:r>
              <a:rPr lang="en-US" sz="1050" dirty="0">
                <a:effectLst/>
                <a:ea typeface="Calibri" panose="020F0502020204030204" pitchFamily="34" charset="0"/>
                <a:cs typeface="Times New Roman" panose="02020603050405020304" pitchFamily="18" charset="0"/>
              </a:rPr>
              <a:t> The average number of contacts per client is within industry norms, but some clients have unusually high contacts, suggesting potential inefficiencies.</a:t>
            </a:r>
            <a:endParaRPr lang="en-IN" sz="1050" dirty="0">
              <a:effectLst/>
              <a:ea typeface="Calibri" panose="020F0502020204030204" pitchFamily="34" charset="0"/>
              <a:cs typeface="Times New Roman" panose="02020603050405020304" pitchFamily="18" charset="0"/>
            </a:endParaRPr>
          </a:p>
          <a:p>
            <a:pPr algn="just">
              <a:lnSpc>
                <a:spcPct val="107000"/>
              </a:lnSpc>
            </a:pPr>
            <a:r>
              <a:rPr lang="en-US" sz="1050" b="1" dirty="0">
                <a:effectLst/>
                <a:ea typeface="Calibri" panose="020F0502020204030204" pitchFamily="34" charset="0"/>
                <a:cs typeface="Times New Roman" panose="02020603050405020304" pitchFamily="18" charset="0"/>
              </a:rPr>
              <a:t>Marital Status:</a:t>
            </a:r>
            <a:r>
              <a:rPr lang="en-US" sz="1050" dirty="0">
                <a:effectLst/>
                <a:ea typeface="Calibri" panose="020F0502020204030204" pitchFamily="34" charset="0"/>
                <a:cs typeface="Times New Roman" panose="02020603050405020304" pitchFamily="18" charset="0"/>
              </a:rPr>
              <a:t> Marital status distribution aligns with industry norms, with married clients being the largest group, followed by single and divorced clients.</a:t>
            </a:r>
            <a:endParaRPr lang="en-IN" sz="1050" dirty="0">
              <a:effectLst/>
              <a:ea typeface="Calibri" panose="020F0502020204030204" pitchFamily="34" charset="0"/>
              <a:cs typeface="Times New Roman" panose="02020603050405020304" pitchFamily="18" charset="0"/>
            </a:endParaRPr>
          </a:p>
          <a:p>
            <a:pPr algn="just">
              <a:lnSpc>
                <a:spcPct val="107000"/>
              </a:lnSpc>
            </a:pPr>
            <a:r>
              <a:rPr lang="en-US" sz="1050" b="1" dirty="0">
                <a:effectLst/>
                <a:ea typeface="Calibri" panose="020F0502020204030204" pitchFamily="34" charset="0"/>
                <a:cs typeface="Times New Roman" panose="02020603050405020304" pitchFamily="18" charset="0"/>
              </a:rPr>
              <a:t>Job Type:</a:t>
            </a:r>
            <a:r>
              <a:rPr lang="en-US" sz="1050" dirty="0">
                <a:effectLst/>
                <a:ea typeface="Calibri" panose="020F0502020204030204" pitchFamily="34" charset="0"/>
                <a:cs typeface="Times New Roman" panose="02020603050405020304" pitchFamily="18" charset="0"/>
              </a:rPr>
              <a:t> The dataset significantly represents blue-collar and management roles, </a:t>
            </a:r>
            <a:r>
              <a:rPr lang="en-GB" sz="1050" dirty="0">
                <a:effectLst/>
                <a:ea typeface="Calibri" panose="020F0502020204030204" pitchFamily="34" charset="0"/>
                <a:cs typeface="Times New Roman" panose="02020603050405020304" pitchFamily="18" charset="0"/>
              </a:rPr>
              <a:t>emphasising white-collar and service roles less </a:t>
            </a:r>
            <a:r>
              <a:rPr lang="en-US" sz="1050" dirty="0">
                <a:effectLst/>
                <a:ea typeface="Calibri" panose="020F0502020204030204" pitchFamily="34" charset="0"/>
                <a:cs typeface="Times New Roman" panose="02020603050405020304" pitchFamily="18" charset="0"/>
              </a:rPr>
              <a:t>than industry standards.</a:t>
            </a:r>
            <a:endParaRPr lang="en-IN" sz="1050" dirty="0">
              <a:effectLst/>
              <a:ea typeface="Calibri" panose="020F0502020204030204" pitchFamily="34" charset="0"/>
              <a:cs typeface="Times New Roman" panose="02020603050405020304" pitchFamily="18" charset="0"/>
            </a:endParaRPr>
          </a:p>
          <a:p>
            <a:pPr algn="just">
              <a:lnSpc>
                <a:spcPct val="107000"/>
              </a:lnSpc>
            </a:pPr>
            <a:r>
              <a:rPr lang="en-US" sz="1050" b="1" dirty="0">
                <a:effectLst/>
                <a:ea typeface="Calibri" panose="020F0502020204030204" pitchFamily="34" charset="0"/>
                <a:cs typeface="Times New Roman" panose="02020603050405020304" pitchFamily="18" charset="0"/>
              </a:rPr>
              <a:t>Credit Subscription:</a:t>
            </a:r>
            <a:r>
              <a:rPr lang="en-US" sz="1050" dirty="0">
                <a:effectLst/>
                <a:ea typeface="Calibri" panose="020F0502020204030204" pitchFamily="34" charset="0"/>
                <a:cs typeface="Times New Roman" panose="02020603050405020304" pitchFamily="18" charset="0"/>
              </a:rPr>
              <a:t> A low credit default rate indicates good credit management among clients.</a:t>
            </a:r>
            <a:endParaRPr lang="en-IN" sz="1050" dirty="0">
              <a:effectLst/>
              <a:ea typeface="Calibri" panose="020F0502020204030204" pitchFamily="34" charset="0"/>
              <a:cs typeface="Times New Roman" panose="02020603050405020304" pitchFamily="18" charset="0"/>
            </a:endParaRPr>
          </a:p>
          <a:p>
            <a:pPr algn="just">
              <a:lnSpc>
                <a:spcPct val="107000"/>
              </a:lnSpc>
              <a:spcAft>
                <a:spcPts val="800"/>
              </a:spcAft>
            </a:pPr>
            <a:r>
              <a:rPr lang="en-US" sz="1050" b="1" dirty="0">
                <a:effectLst/>
                <a:ea typeface="Calibri" panose="020F0502020204030204" pitchFamily="34" charset="0"/>
                <a:cs typeface="Times New Roman" panose="02020603050405020304" pitchFamily="18" charset="0"/>
              </a:rPr>
              <a:t>Term Deposit Subscription:</a:t>
            </a:r>
            <a:r>
              <a:rPr lang="en-US" sz="1050" dirty="0">
                <a:effectLst/>
                <a:ea typeface="Calibri" panose="020F0502020204030204" pitchFamily="34" charset="0"/>
                <a:cs typeface="Times New Roman" panose="02020603050405020304" pitchFamily="18" charset="0"/>
              </a:rPr>
              <a:t> The subscription rate for term deposits is within the industry standard, but there’s room for improvement.</a:t>
            </a:r>
            <a:endParaRPr lang="en-IN" sz="1050" dirty="0">
              <a:effectLst/>
              <a:ea typeface="Calibri" panose="020F0502020204030204" pitchFamily="34" charset="0"/>
              <a:cs typeface="Times New Roman" panose="02020603050405020304" pitchFamily="18" charset="0"/>
            </a:endParaRPr>
          </a:p>
        </p:txBody>
      </p:sp>
      <p:sp>
        <p:nvSpPr>
          <p:cNvPr id="6" name="Text Placeholder 5">
            <a:extLst>
              <a:ext uri="{FF2B5EF4-FFF2-40B4-BE49-F238E27FC236}">
                <a16:creationId xmlns:a16="http://schemas.microsoft.com/office/drawing/2014/main" id="{5F7F3994-A9CA-4C27-AA8E-99698776ACF0}"/>
              </a:ext>
            </a:extLst>
          </p:cNvPr>
          <p:cNvSpPr>
            <a:spLocks noGrp="1"/>
          </p:cNvSpPr>
          <p:nvPr>
            <p:ph type="body" sz="quarter" idx="13"/>
          </p:nvPr>
        </p:nvSpPr>
        <p:spPr>
          <a:xfrm>
            <a:off x="6251875" y="2308214"/>
            <a:ext cx="5472000" cy="358775"/>
          </a:xfrm>
        </p:spPr>
        <p:txBody>
          <a:bodyPr/>
          <a:lstStyle/>
          <a:p>
            <a:r>
              <a:rPr lang="en-IN" sz="1800" dirty="0"/>
              <a:t>Insights</a:t>
            </a:r>
          </a:p>
        </p:txBody>
      </p:sp>
      <p:sp>
        <p:nvSpPr>
          <p:cNvPr id="7" name="Text Placeholder 6">
            <a:extLst>
              <a:ext uri="{FF2B5EF4-FFF2-40B4-BE49-F238E27FC236}">
                <a16:creationId xmlns:a16="http://schemas.microsoft.com/office/drawing/2014/main" id="{8F6065BB-7A1C-4739-AE8C-851C1C530CCE}"/>
              </a:ext>
            </a:extLst>
          </p:cNvPr>
          <p:cNvSpPr>
            <a:spLocks noGrp="1"/>
          </p:cNvSpPr>
          <p:nvPr>
            <p:ph type="body" sz="quarter" idx="12"/>
          </p:nvPr>
        </p:nvSpPr>
        <p:spPr>
          <a:xfrm>
            <a:off x="6242136" y="2677462"/>
            <a:ext cx="5892113" cy="3513788"/>
          </a:xfrm>
        </p:spPr>
        <p:txBody>
          <a:bodyPr/>
          <a:lstStyle/>
          <a:p>
            <a:pPr marL="342900" lvl="0" indent="-342900" algn="just">
              <a:lnSpc>
                <a:spcPct val="107000"/>
              </a:lnSpc>
              <a:buFont typeface="Symbol" panose="05050102010706020507" pitchFamily="18" charset="2"/>
              <a:buChar char=""/>
            </a:pPr>
            <a:r>
              <a:rPr lang="en-US" sz="1000" b="1" dirty="0">
                <a:effectLst/>
                <a:ea typeface="Calibri" panose="020F0502020204030204" pitchFamily="34" charset="0"/>
                <a:cs typeface="Times New Roman" panose="02020603050405020304" pitchFamily="18" charset="0"/>
              </a:rPr>
              <a:t>Age-Based Marketing:</a:t>
            </a:r>
            <a:r>
              <a:rPr lang="en-US" sz="1000" dirty="0">
                <a:effectLst/>
                <a:ea typeface="Calibri" panose="020F0502020204030204" pitchFamily="34" charset="0"/>
                <a:cs typeface="Times New Roman" panose="02020603050405020304" pitchFamily="18" charset="0"/>
              </a:rPr>
              <a:t> Develop targeted marketing and services for older clients (55+) and support their digital literacy to enhance engagement.</a:t>
            </a:r>
            <a:endParaRPr lang="en-IN" sz="1000" dirty="0">
              <a:effectLst/>
              <a:ea typeface="Calibri" panose="020F0502020204030204" pitchFamily="34" charset="0"/>
              <a:cs typeface="Times New Roman" panose="02020603050405020304" pitchFamily="18" charset="0"/>
            </a:endParaRPr>
          </a:p>
          <a:p>
            <a:pPr marL="342900" lvl="0" indent="-342900" algn="just">
              <a:lnSpc>
                <a:spcPct val="107000"/>
              </a:lnSpc>
              <a:buFont typeface="Symbol" panose="05050102010706020507" pitchFamily="18" charset="2"/>
              <a:buChar char=""/>
            </a:pPr>
            <a:r>
              <a:rPr lang="en-US" sz="1000" b="1" dirty="0">
                <a:effectLst/>
                <a:ea typeface="Calibri" panose="020F0502020204030204" pitchFamily="34" charset="0"/>
                <a:cs typeface="Times New Roman" panose="02020603050405020304" pitchFamily="18" charset="0"/>
              </a:rPr>
              <a:t>Financial Advisory:</a:t>
            </a:r>
            <a:r>
              <a:rPr lang="en-US" sz="1000" dirty="0">
                <a:effectLst/>
                <a:ea typeface="Calibri" panose="020F0502020204030204" pitchFamily="34" charset="0"/>
                <a:cs typeface="Times New Roman" panose="02020603050405020304" pitchFamily="18" charset="0"/>
              </a:rPr>
              <a:t> To improve overall client satisfaction and retention, offer </a:t>
            </a:r>
            <a:r>
              <a:rPr lang="en-US" sz="1000" dirty="0" err="1">
                <a:effectLst/>
                <a:ea typeface="Calibri" panose="020F0502020204030204" pitchFamily="34" charset="0"/>
                <a:cs typeface="Times New Roman" panose="02020603050405020304" pitchFamily="18" charset="0"/>
              </a:rPr>
              <a:t>personalised</a:t>
            </a:r>
            <a:r>
              <a:rPr lang="en-US" sz="1000" dirty="0">
                <a:effectLst/>
                <a:ea typeface="Calibri" panose="020F0502020204030204" pitchFamily="34" charset="0"/>
                <a:cs typeface="Times New Roman" panose="02020603050405020304" pitchFamily="18" charset="0"/>
              </a:rPr>
              <a:t> advisory services for high-balance clients and financial planning for those with negative balances.</a:t>
            </a:r>
            <a:endParaRPr lang="en-IN" sz="1000" dirty="0">
              <a:effectLst/>
              <a:ea typeface="Calibri" panose="020F0502020204030204" pitchFamily="34" charset="0"/>
              <a:cs typeface="Times New Roman" panose="02020603050405020304" pitchFamily="18" charset="0"/>
            </a:endParaRPr>
          </a:p>
          <a:p>
            <a:pPr marL="342900" lvl="0" indent="-342900" algn="just">
              <a:lnSpc>
                <a:spcPct val="107000"/>
              </a:lnSpc>
              <a:buFont typeface="Symbol" panose="05050102010706020507" pitchFamily="18" charset="2"/>
              <a:buChar char=""/>
            </a:pPr>
            <a:r>
              <a:rPr lang="en-US" sz="1000" b="1" dirty="0">
                <a:effectLst/>
                <a:ea typeface="Calibri" panose="020F0502020204030204" pitchFamily="34" charset="0"/>
                <a:cs typeface="Times New Roman" panose="02020603050405020304" pitchFamily="18" charset="0"/>
              </a:rPr>
              <a:t>Contact Optimization:</a:t>
            </a:r>
            <a:r>
              <a:rPr lang="en-US" sz="1000" dirty="0">
                <a:effectLst/>
                <a:ea typeface="Calibri" panose="020F0502020204030204" pitchFamily="34" charset="0"/>
                <a:cs typeface="Times New Roman" panose="02020603050405020304" pitchFamily="18" charset="0"/>
              </a:rPr>
              <a:t> Maintain efficient contact duration while addressing cases with excessively long calls and refining strategies to reduce unnecessary contacts.</a:t>
            </a:r>
            <a:endParaRPr lang="en-IN" sz="1000" dirty="0">
              <a:effectLst/>
              <a:ea typeface="Calibri" panose="020F0502020204030204" pitchFamily="34" charset="0"/>
              <a:cs typeface="Times New Roman" panose="02020603050405020304" pitchFamily="18" charset="0"/>
            </a:endParaRPr>
          </a:p>
          <a:p>
            <a:pPr marL="342900" lvl="0" indent="-342900" algn="just">
              <a:lnSpc>
                <a:spcPct val="107000"/>
              </a:lnSpc>
              <a:buFont typeface="Symbol" panose="05050102010706020507" pitchFamily="18" charset="2"/>
              <a:buChar char=""/>
            </a:pPr>
            <a:r>
              <a:rPr lang="en-US" sz="1000" b="1" dirty="0">
                <a:effectLst/>
                <a:ea typeface="Calibri" panose="020F0502020204030204" pitchFamily="34" charset="0"/>
                <a:cs typeface="Times New Roman" panose="02020603050405020304" pitchFamily="18" charset="0"/>
              </a:rPr>
              <a:t>Campaign Efficiency:</a:t>
            </a:r>
            <a:r>
              <a:rPr lang="en-US" sz="1000" dirty="0">
                <a:effectLst/>
                <a:ea typeface="Calibri" panose="020F0502020204030204" pitchFamily="34" charset="0"/>
                <a:cs typeface="Times New Roman" panose="02020603050405020304" pitchFamily="18" charset="0"/>
              </a:rPr>
              <a:t> Optimize the number of contacts per client by improving initial engagement strategies and reducing redundant follow-ups.</a:t>
            </a:r>
            <a:endParaRPr lang="en-IN" sz="1000" dirty="0">
              <a:effectLst/>
              <a:ea typeface="Calibri" panose="020F0502020204030204" pitchFamily="34" charset="0"/>
              <a:cs typeface="Times New Roman" panose="02020603050405020304" pitchFamily="18" charset="0"/>
            </a:endParaRPr>
          </a:p>
          <a:p>
            <a:pPr marL="342900" lvl="0" indent="-342900" algn="just">
              <a:lnSpc>
                <a:spcPct val="107000"/>
              </a:lnSpc>
              <a:buFont typeface="Symbol" panose="05050102010706020507" pitchFamily="18" charset="2"/>
              <a:buChar char=""/>
            </a:pPr>
            <a:r>
              <a:rPr lang="en-US" sz="1000" b="1" dirty="0">
                <a:effectLst/>
                <a:ea typeface="Calibri" panose="020F0502020204030204" pitchFamily="34" charset="0"/>
                <a:cs typeface="Times New Roman" panose="02020603050405020304" pitchFamily="18" charset="0"/>
              </a:rPr>
              <a:t>Marital Status Targeting:</a:t>
            </a:r>
            <a:r>
              <a:rPr lang="en-US" sz="1000" dirty="0">
                <a:effectLst/>
                <a:ea typeface="Calibri" panose="020F0502020204030204" pitchFamily="34" charset="0"/>
                <a:cs typeface="Times New Roman" panose="02020603050405020304" pitchFamily="18" charset="0"/>
              </a:rPr>
              <a:t> Create financial products and campaigns tailored to the needs of married, single, and divorced clients, focusing on their specific financial requirements.</a:t>
            </a:r>
            <a:endParaRPr lang="en-IN" sz="1000" dirty="0">
              <a:effectLst/>
              <a:ea typeface="Calibri" panose="020F0502020204030204" pitchFamily="34" charset="0"/>
              <a:cs typeface="Times New Roman" panose="02020603050405020304" pitchFamily="18" charset="0"/>
            </a:endParaRPr>
          </a:p>
          <a:p>
            <a:pPr marL="342900" lvl="0" indent="-342900" algn="just">
              <a:lnSpc>
                <a:spcPct val="107000"/>
              </a:lnSpc>
              <a:buFont typeface="Symbol" panose="05050102010706020507" pitchFamily="18" charset="2"/>
              <a:buChar char=""/>
            </a:pPr>
            <a:r>
              <a:rPr lang="en-US" sz="1000" b="1" dirty="0">
                <a:effectLst/>
                <a:ea typeface="Calibri" panose="020F0502020204030204" pitchFamily="34" charset="0"/>
                <a:cs typeface="Times New Roman" panose="02020603050405020304" pitchFamily="18" charset="0"/>
              </a:rPr>
              <a:t>Job-Specific Products: </a:t>
            </a:r>
            <a:r>
              <a:rPr lang="en-US" sz="1000" dirty="0">
                <a:effectLst/>
                <a:ea typeface="Calibri" panose="020F0502020204030204" pitchFamily="34" charset="0"/>
                <a:cs typeface="Times New Roman" panose="02020603050405020304" pitchFamily="18" charset="0"/>
              </a:rPr>
              <a:t>Tailor financial products and marketing messages to the predominant job types, </a:t>
            </a:r>
            <a:r>
              <a:rPr lang="en-US" sz="1000" dirty="0" err="1">
                <a:effectLst/>
                <a:ea typeface="Calibri" panose="020F0502020204030204" pitchFamily="34" charset="0"/>
                <a:cs typeface="Times New Roman" panose="02020603050405020304" pitchFamily="18" charset="0"/>
              </a:rPr>
              <a:t>emphasising</a:t>
            </a:r>
            <a:r>
              <a:rPr lang="en-US" sz="1000" dirty="0">
                <a:effectLst/>
                <a:ea typeface="Calibri" panose="020F0502020204030204" pitchFamily="34" charset="0"/>
                <a:cs typeface="Times New Roman" panose="02020603050405020304" pitchFamily="18" charset="0"/>
              </a:rPr>
              <a:t> investment opportunities for management and secure savings for blue-collar workers.</a:t>
            </a:r>
            <a:endParaRPr lang="en-IN" sz="1000" dirty="0">
              <a:effectLst/>
              <a:ea typeface="Calibri" panose="020F0502020204030204" pitchFamily="34" charset="0"/>
              <a:cs typeface="Times New Roman" panose="02020603050405020304" pitchFamily="18" charset="0"/>
            </a:endParaRPr>
          </a:p>
          <a:p>
            <a:pPr marL="342900" lvl="0" indent="-342900" algn="just">
              <a:lnSpc>
                <a:spcPct val="107000"/>
              </a:lnSpc>
              <a:buFont typeface="Symbol" panose="05050102010706020507" pitchFamily="18" charset="2"/>
              <a:buChar char=""/>
            </a:pPr>
            <a:r>
              <a:rPr lang="en-US" sz="1000" b="1" dirty="0">
                <a:effectLst/>
                <a:ea typeface="Calibri" panose="020F0502020204030204" pitchFamily="34" charset="0"/>
                <a:cs typeface="Times New Roman" panose="02020603050405020304" pitchFamily="18" charset="0"/>
              </a:rPr>
              <a:t>Credit Product Promotion: </a:t>
            </a:r>
            <a:r>
              <a:rPr lang="en-US" sz="1000" dirty="0">
                <a:effectLst/>
                <a:ea typeface="Calibri" panose="020F0502020204030204" pitchFamily="34" charset="0"/>
                <a:cs typeface="Times New Roman" panose="02020603050405020304" pitchFamily="18" charset="0"/>
              </a:rPr>
              <a:t>Leverage the low default rate to promote </a:t>
            </a:r>
            <a:r>
              <a:rPr lang="en-US" sz="1000" dirty="0" err="1">
                <a:effectLst/>
                <a:ea typeface="Calibri" panose="020F0502020204030204" pitchFamily="34" charset="0"/>
                <a:cs typeface="Times New Roman" panose="02020603050405020304" pitchFamily="18" charset="0"/>
              </a:rPr>
              <a:t>favourable</a:t>
            </a:r>
            <a:r>
              <a:rPr lang="en-US" sz="1000" dirty="0">
                <a:effectLst/>
                <a:ea typeface="Calibri" panose="020F0502020204030204" pitchFamily="34" charset="0"/>
                <a:cs typeface="Times New Roman" panose="02020603050405020304" pitchFamily="18" charset="0"/>
              </a:rPr>
              <a:t> credit products and provide targeted debt management solutions for clients with defaults.</a:t>
            </a:r>
            <a:endParaRPr lang="en-IN" sz="1000" dirty="0">
              <a:effectLst/>
              <a:ea typeface="Calibri" panose="020F0502020204030204" pitchFamily="34" charset="0"/>
              <a:cs typeface="Times New Roman" panose="02020603050405020304" pitchFamily="18" charset="0"/>
            </a:endParaRPr>
          </a:p>
          <a:p>
            <a:pPr marL="342900" lvl="0" indent="-342900" algn="just">
              <a:lnSpc>
                <a:spcPct val="107000"/>
              </a:lnSpc>
              <a:spcAft>
                <a:spcPts val="800"/>
              </a:spcAft>
              <a:buFont typeface="Symbol" panose="05050102010706020507" pitchFamily="18" charset="2"/>
              <a:buChar char=""/>
            </a:pPr>
            <a:r>
              <a:rPr lang="en-US" sz="1000" b="1" dirty="0">
                <a:effectLst/>
                <a:ea typeface="Calibri" panose="020F0502020204030204" pitchFamily="34" charset="0"/>
                <a:cs typeface="Times New Roman" panose="02020603050405020304" pitchFamily="18" charset="0"/>
              </a:rPr>
              <a:t>Term Deposit Strategy:</a:t>
            </a:r>
            <a:r>
              <a:rPr lang="en-US" sz="1000" dirty="0">
                <a:effectLst/>
                <a:ea typeface="Calibri" panose="020F0502020204030204" pitchFamily="34" charset="0"/>
                <a:cs typeface="Times New Roman" panose="02020603050405020304" pitchFamily="18" charset="0"/>
              </a:rPr>
              <a:t> Enhance marketing efforts to increase term deposit subscriptions by </a:t>
            </a:r>
            <a:r>
              <a:rPr lang="en-US" sz="1000" dirty="0" err="1">
                <a:effectLst/>
                <a:ea typeface="Calibri" panose="020F0502020204030204" pitchFamily="34" charset="0"/>
                <a:cs typeface="Times New Roman" panose="02020603050405020304" pitchFamily="18" charset="0"/>
              </a:rPr>
              <a:t>analysing</a:t>
            </a:r>
            <a:r>
              <a:rPr lang="en-US" sz="1000" dirty="0">
                <a:effectLst/>
                <a:ea typeface="Calibri" panose="020F0502020204030204" pitchFamily="34" charset="0"/>
                <a:cs typeface="Times New Roman" panose="02020603050405020304" pitchFamily="18" charset="0"/>
              </a:rPr>
              <a:t> the characteristics of existing subscribers and offering </a:t>
            </a:r>
            <a:r>
              <a:rPr lang="en-US" sz="1000" dirty="0" err="1">
                <a:effectLst/>
                <a:ea typeface="Calibri" panose="020F0502020204030204" pitchFamily="34" charset="0"/>
                <a:cs typeface="Times New Roman" panose="02020603050405020304" pitchFamily="18" charset="0"/>
              </a:rPr>
              <a:t>personalised</a:t>
            </a:r>
            <a:r>
              <a:rPr lang="en-US" sz="1000" dirty="0">
                <a:effectLst/>
                <a:ea typeface="Calibri" panose="020F0502020204030204" pitchFamily="34" charset="0"/>
                <a:cs typeface="Times New Roman" panose="02020603050405020304" pitchFamily="18" charset="0"/>
              </a:rPr>
              <a:t> incentives.</a:t>
            </a:r>
            <a:endParaRPr lang="en-IN" sz="1000" dirty="0">
              <a:effectLst/>
              <a:ea typeface="Calibri" panose="020F0502020204030204" pitchFamily="34" charset="0"/>
              <a:cs typeface="Times New Roman" panose="02020603050405020304" pitchFamily="18" charset="0"/>
            </a:endParaRPr>
          </a:p>
          <a:p>
            <a:pPr algn="just"/>
            <a:endParaRPr lang="en-IN" sz="1000" dirty="0"/>
          </a:p>
        </p:txBody>
      </p:sp>
      <p:sp>
        <p:nvSpPr>
          <p:cNvPr id="9" name="Slide Number Placeholder 8">
            <a:extLst>
              <a:ext uri="{FF2B5EF4-FFF2-40B4-BE49-F238E27FC236}">
                <a16:creationId xmlns:a16="http://schemas.microsoft.com/office/drawing/2014/main" id="{5B50AB5B-BD85-45CC-94BF-4B466B6CA8E1}"/>
              </a:ext>
            </a:extLst>
          </p:cNvPr>
          <p:cNvSpPr>
            <a:spLocks noGrp="1"/>
          </p:cNvSpPr>
          <p:nvPr>
            <p:ph type="sldNum" sz="quarter" idx="33"/>
          </p:nvPr>
        </p:nvSpPr>
        <p:spPr/>
        <p:txBody>
          <a:bodyPr/>
          <a:lstStyle/>
          <a:p>
            <a:fld id="{19B51A1E-902D-48AF-9020-955120F399B6}" type="slidenum">
              <a:rPr lang="en-US" noProof="0" smtClean="0"/>
              <a:pPr/>
              <a:t>6</a:t>
            </a:fld>
            <a:endParaRPr lang="en-US" noProof="0" dirty="0"/>
          </a:p>
        </p:txBody>
      </p:sp>
      <p:sp>
        <p:nvSpPr>
          <p:cNvPr id="10" name="Rectangle 9">
            <a:extLst>
              <a:ext uri="{FF2B5EF4-FFF2-40B4-BE49-F238E27FC236}">
                <a16:creationId xmlns:a16="http://schemas.microsoft.com/office/drawing/2014/main" id="{D735DE88-9755-478B-947B-C355EC8F8FB1}"/>
              </a:ext>
            </a:extLst>
          </p:cNvPr>
          <p:cNvSpPr/>
          <p:nvPr/>
        </p:nvSpPr>
        <p:spPr>
          <a:xfrm>
            <a:off x="9775824" y="6371350"/>
            <a:ext cx="1984136" cy="432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328095609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tx1">
            <a:lumMod val="75000"/>
            <a:lumOff val="25000"/>
          </a:schemeClr>
        </a:solidFill>
        <a:effectLst/>
      </p:bgPr>
    </p:bg>
    <p:spTree>
      <p:nvGrpSpPr>
        <p:cNvPr id="1" name=""/>
        <p:cNvGrpSpPr/>
        <p:nvPr/>
      </p:nvGrpSpPr>
      <p:grpSpPr>
        <a:xfrm>
          <a:off x="0" y="0"/>
          <a:ext cx="0" cy="0"/>
          <a:chOff x="0" y="0"/>
          <a:chExt cx="0" cy="0"/>
        </a:xfrm>
      </p:grpSpPr>
      <p:pic>
        <p:nvPicPr>
          <p:cNvPr id="23" name="Picture Placeholder 22" descr="Push pins laying down with one standing up">
            <a:extLst>
              <a:ext uri="{FF2B5EF4-FFF2-40B4-BE49-F238E27FC236}">
                <a16:creationId xmlns:a16="http://schemas.microsoft.com/office/drawing/2014/main" id="{35E3CE9E-B03C-CB4B-A83A-D3265C7A0545}"/>
              </a:ext>
            </a:extLst>
          </p:cNvPr>
          <p:cNvPicPr>
            <a:picLocks noGrp="1" noChangeAspect="1"/>
          </p:cNvPicPr>
          <p:nvPr>
            <p:ph type="pic" sz="quarter" idx="10"/>
          </p:nvPr>
        </p:nvPicPr>
        <p:blipFill>
          <a:blip r:embed="rId2"/>
          <a:srcRect/>
          <a:stretch/>
        </p:blipFill>
        <p:spPr>
          <a:xfrm>
            <a:off x="2411412" y="251022"/>
            <a:ext cx="9780588" cy="5869307"/>
          </a:xfrm>
        </p:spPr>
      </p:pic>
      <p:sp>
        <p:nvSpPr>
          <p:cNvPr id="3" name="Title 2">
            <a:extLst>
              <a:ext uri="{FF2B5EF4-FFF2-40B4-BE49-F238E27FC236}">
                <a16:creationId xmlns:a16="http://schemas.microsoft.com/office/drawing/2014/main" id="{200B3D2B-613A-41BE-987D-E6A1324B456D}"/>
              </a:ext>
            </a:extLst>
          </p:cNvPr>
          <p:cNvSpPr>
            <a:spLocks noGrp="1"/>
          </p:cNvSpPr>
          <p:nvPr>
            <p:ph type="title"/>
          </p:nvPr>
        </p:nvSpPr>
        <p:spPr>
          <a:xfrm>
            <a:off x="-1700" y="2156226"/>
            <a:ext cx="4903599" cy="1958400"/>
          </a:xfrm>
        </p:spPr>
        <p:txBody>
          <a:bodyPr/>
          <a:lstStyle/>
          <a:p>
            <a:r>
              <a:rPr lang="en-US" sz="4550" dirty="0"/>
              <a:t>Deriving Preliminary Observations</a:t>
            </a:r>
          </a:p>
        </p:txBody>
      </p:sp>
      <p:sp>
        <p:nvSpPr>
          <p:cNvPr id="10" name="Text Placeholder 9">
            <a:extLst>
              <a:ext uri="{FF2B5EF4-FFF2-40B4-BE49-F238E27FC236}">
                <a16:creationId xmlns:a16="http://schemas.microsoft.com/office/drawing/2014/main" id="{2972F17A-D965-40B9-8ABB-C634072DBCC0}"/>
              </a:ext>
            </a:extLst>
          </p:cNvPr>
          <p:cNvSpPr>
            <a:spLocks noGrp="1"/>
          </p:cNvSpPr>
          <p:nvPr>
            <p:ph type="body" sz="quarter" idx="13"/>
          </p:nvPr>
        </p:nvSpPr>
        <p:spPr>
          <a:xfrm>
            <a:off x="0" y="4110760"/>
            <a:ext cx="4902200" cy="1100565"/>
          </a:xfrm>
        </p:spPr>
        <p:txBody>
          <a:bodyPr/>
          <a:lstStyle/>
          <a:p>
            <a:r>
              <a:rPr lang="en-US" dirty="0"/>
              <a:t>Interpreting Data via Metrics and Providing Actionable Insights</a:t>
            </a:r>
          </a:p>
          <a:p>
            <a:endParaRPr lang="en-US" dirty="0"/>
          </a:p>
        </p:txBody>
      </p:sp>
      <p:sp>
        <p:nvSpPr>
          <p:cNvPr id="5" name="Slide Number Placeholder 4">
            <a:extLst>
              <a:ext uri="{FF2B5EF4-FFF2-40B4-BE49-F238E27FC236}">
                <a16:creationId xmlns:a16="http://schemas.microsoft.com/office/drawing/2014/main" id="{F6964141-6F81-4947-A236-746D94ED3F6F}"/>
              </a:ext>
            </a:extLst>
          </p:cNvPr>
          <p:cNvSpPr>
            <a:spLocks noGrp="1"/>
          </p:cNvSpPr>
          <p:nvPr>
            <p:ph type="sldNum" sz="quarter" idx="12"/>
          </p:nvPr>
        </p:nvSpPr>
        <p:spPr>
          <a:solidFill>
            <a:schemeClr val="tx1">
              <a:lumMod val="95000"/>
              <a:lumOff val="5000"/>
            </a:schemeClr>
          </a:solidFill>
        </p:spPr>
        <p:txBody>
          <a:bodyPr/>
          <a:lstStyle/>
          <a:p>
            <a:fld id="{19B51A1E-902D-48AF-9020-955120F399B6}" type="slidenum">
              <a:rPr lang="en-US" smtClean="0"/>
              <a:pPr/>
              <a:t>7</a:t>
            </a:fld>
            <a:endParaRPr lang="en-US" dirty="0"/>
          </a:p>
        </p:txBody>
      </p:sp>
      <p:sp>
        <p:nvSpPr>
          <p:cNvPr id="6" name="Rectangle 5">
            <a:extLst>
              <a:ext uri="{FF2B5EF4-FFF2-40B4-BE49-F238E27FC236}">
                <a16:creationId xmlns:a16="http://schemas.microsoft.com/office/drawing/2014/main" id="{82A6A880-F19E-4C29-B91D-B6D5A818B4FD}"/>
              </a:ext>
            </a:extLst>
          </p:cNvPr>
          <p:cNvSpPr/>
          <p:nvPr/>
        </p:nvSpPr>
        <p:spPr>
          <a:xfrm>
            <a:off x="9775824" y="6371350"/>
            <a:ext cx="1984136" cy="432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211769541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6645B2-745D-49E4-B56E-8DCEE5A1D3F4}"/>
              </a:ext>
            </a:extLst>
          </p:cNvPr>
          <p:cNvSpPr>
            <a:spLocks noGrp="1"/>
          </p:cNvSpPr>
          <p:nvPr>
            <p:ph type="title"/>
          </p:nvPr>
        </p:nvSpPr>
        <p:spPr/>
        <p:txBody>
          <a:bodyPr/>
          <a:lstStyle/>
          <a:p>
            <a:r>
              <a:rPr lang="en-US" dirty="0"/>
              <a:t>Analysis, Interpretation and Recommendations</a:t>
            </a:r>
            <a:endParaRPr lang="en-IN" dirty="0"/>
          </a:p>
        </p:txBody>
      </p:sp>
      <p:graphicFrame>
        <p:nvGraphicFramePr>
          <p:cNvPr id="6" name="Content Placeholder 5">
            <a:extLst>
              <a:ext uri="{FF2B5EF4-FFF2-40B4-BE49-F238E27FC236}">
                <a16:creationId xmlns:a16="http://schemas.microsoft.com/office/drawing/2014/main" id="{DBB494F6-202C-45A4-8428-18C13EA50AD8}"/>
              </a:ext>
            </a:extLst>
          </p:cNvPr>
          <p:cNvGraphicFramePr>
            <a:graphicFrameLocks noGrp="1"/>
          </p:cNvGraphicFramePr>
          <p:nvPr>
            <p:ph idx="1"/>
            <p:extLst>
              <p:ext uri="{D42A27DB-BD31-4B8C-83A1-F6EECF244321}">
                <p14:modId xmlns:p14="http://schemas.microsoft.com/office/powerpoint/2010/main" val="1390722194"/>
              </p:ext>
            </p:extLst>
          </p:nvPr>
        </p:nvGraphicFramePr>
        <p:xfrm>
          <a:off x="432000" y="1001481"/>
          <a:ext cx="11328400" cy="5245220"/>
        </p:xfrm>
        <a:graphic>
          <a:graphicData uri="http://schemas.openxmlformats.org/drawingml/2006/table">
            <a:tbl>
              <a:tblPr firstRow="1" firstCol="1" bandRow="1">
                <a:tableStyleId>{073A0DAA-6AF3-43AB-8588-CEC1D06C72B9}</a:tableStyleId>
              </a:tblPr>
              <a:tblGrid>
                <a:gridCol w="2590333">
                  <a:extLst>
                    <a:ext uri="{9D8B030D-6E8A-4147-A177-3AD203B41FA5}">
                      <a16:colId xmlns:a16="http://schemas.microsoft.com/office/drawing/2014/main" val="1041497619"/>
                    </a:ext>
                  </a:extLst>
                </a:gridCol>
                <a:gridCol w="3073867">
                  <a:extLst>
                    <a:ext uri="{9D8B030D-6E8A-4147-A177-3AD203B41FA5}">
                      <a16:colId xmlns:a16="http://schemas.microsoft.com/office/drawing/2014/main" val="1352593077"/>
                    </a:ext>
                  </a:extLst>
                </a:gridCol>
                <a:gridCol w="2832100">
                  <a:extLst>
                    <a:ext uri="{9D8B030D-6E8A-4147-A177-3AD203B41FA5}">
                      <a16:colId xmlns:a16="http://schemas.microsoft.com/office/drawing/2014/main" val="719557920"/>
                    </a:ext>
                  </a:extLst>
                </a:gridCol>
                <a:gridCol w="2832100">
                  <a:extLst>
                    <a:ext uri="{9D8B030D-6E8A-4147-A177-3AD203B41FA5}">
                      <a16:colId xmlns:a16="http://schemas.microsoft.com/office/drawing/2014/main" val="3110220756"/>
                    </a:ext>
                  </a:extLst>
                </a:gridCol>
              </a:tblGrid>
              <a:tr h="425316">
                <a:tc>
                  <a:txBody>
                    <a:bodyPr/>
                    <a:lstStyle/>
                    <a:p>
                      <a:pPr algn="just">
                        <a:lnSpc>
                          <a:spcPct val="107000"/>
                        </a:lnSpc>
                        <a:spcAft>
                          <a:spcPts val="800"/>
                        </a:spcAft>
                      </a:pPr>
                      <a:r>
                        <a:rPr lang="en-IN" sz="1250" dirty="0">
                          <a:effectLst/>
                        </a:rPr>
                        <a:t>Metric</a:t>
                      </a:r>
                      <a:endParaRPr lang="en-IN" sz="125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07000"/>
                        </a:lnSpc>
                        <a:spcAft>
                          <a:spcPts val="800"/>
                        </a:spcAft>
                      </a:pPr>
                      <a:r>
                        <a:rPr lang="en-IN" sz="1250" dirty="0">
                          <a:effectLst/>
                        </a:rPr>
                        <a:t>Analysis</a:t>
                      </a:r>
                      <a:endParaRPr lang="en-IN" sz="125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07000"/>
                        </a:lnSpc>
                        <a:spcAft>
                          <a:spcPts val="800"/>
                        </a:spcAft>
                      </a:pPr>
                      <a:r>
                        <a:rPr lang="en-IN" sz="1250" dirty="0">
                          <a:effectLst/>
                        </a:rPr>
                        <a:t>Interpretation</a:t>
                      </a:r>
                      <a:endParaRPr lang="en-IN" sz="125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07000"/>
                        </a:lnSpc>
                        <a:spcAft>
                          <a:spcPts val="800"/>
                        </a:spcAft>
                      </a:pPr>
                      <a:r>
                        <a:rPr lang="en-IN" sz="1250" dirty="0">
                          <a:effectLst/>
                        </a:rPr>
                        <a:t>Recommendation</a:t>
                      </a:r>
                      <a:endParaRPr lang="en-IN" sz="125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486268062"/>
                  </a:ext>
                </a:extLst>
              </a:tr>
              <a:tr h="0">
                <a:tc>
                  <a:txBody>
                    <a:bodyPr/>
                    <a:lstStyle/>
                    <a:p>
                      <a:pPr algn="just">
                        <a:lnSpc>
                          <a:spcPct val="107000"/>
                        </a:lnSpc>
                        <a:spcAft>
                          <a:spcPts val="800"/>
                        </a:spcAft>
                      </a:pPr>
                      <a:r>
                        <a:rPr lang="en-IN" sz="1250" dirty="0">
                          <a:effectLst/>
                        </a:rPr>
                        <a:t>Conversion Rate: 11.71%</a:t>
                      </a:r>
                      <a:endParaRPr lang="en-IN" sz="125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07000"/>
                        </a:lnSpc>
                        <a:spcAft>
                          <a:spcPts val="800"/>
                        </a:spcAft>
                      </a:pPr>
                      <a:r>
                        <a:rPr lang="en-IN" sz="1250" dirty="0">
                          <a:effectLst/>
                        </a:rPr>
                        <a:t>Indicates that 11.71% of contacted clients subscribed to the term deposit.</a:t>
                      </a:r>
                      <a:endParaRPr lang="en-IN" sz="125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07000"/>
                        </a:lnSpc>
                        <a:spcAft>
                          <a:spcPts val="800"/>
                        </a:spcAft>
                      </a:pPr>
                      <a:r>
                        <a:rPr lang="en-IN" sz="1250" dirty="0">
                          <a:effectLst/>
                        </a:rPr>
                        <a:t>Majority of clients do not subscribe despite marketing efforts.</a:t>
                      </a:r>
                      <a:endParaRPr lang="en-IN" sz="125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07000"/>
                        </a:lnSpc>
                        <a:spcAft>
                          <a:spcPts val="800"/>
                        </a:spcAft>
                      </a:pPr>
                      <a:r>
                        <a:rPr lang="en-IN" sz="1250" dirty="0">
                          <a:effectLst/>
                        </a:rPr>
                        <a:t>Improve targeting strategies to focus on more promising leads to increase this rate.</a:t>
                      </a:r>
                      <a:endParaRPr lang="en-IN" sz="125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580549041"/>
                  </a:ext>
                </a:extLst>
              </a:tr>
              <a:tr h="0">
                <a:tc>
                  <a:txBody>
                    <a:bodyPr/>
                    <a:lstStyle/>
                    <a:p>
                      <a:pPr algn="just">
                        <a:lnSpc>
                          <a:spcPct val="107000"/>
                        </a:lnSpc>
                        <a:spcAft>
                          <a:spcPts val="800"/>
                        </a:spcAft>
                      </a:pPr>
                      <a:r>
                        <a:rPr lang="en-IN" sz="1250" dirty="0">
                          <a:effectLst/>
                        </a:rPr>
                        <a:t>Average Contact Duration: 258.16 seconds</a:t>
                      </a:r>
                      <a:endParaRPr lang="en-IN" sz="125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07000"/>
                        </a:lnSpc>
                        <a:spcAft>
                          <a:spcPts val="800"/>
                        </a:spcAft>
                      </a:pPr>
                      <a:r>
                        <a:rPr lang="en-IN" sz="1250" dirty="0">
                          <a:effectLst/>
                        </a:rPr>
                        <a:t>Average call duration is approximately 4 minutes and 18 seconds.</a:t>
                      </a:r>
                      <a:endParaRPr lang="en-IN" sz="125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07000"/>
                        </a:lnSpc>
                        <a:spcAft>
                          <a:spcPts val="800"/>
                        </a:spcAft>
                      </a:pPr>
                      <a:r>
                        <a:rPr lang="en-IN" sz="1250" dirty="0">
                          <a:effectLst/>
                        </a:rPr>
                        <a:t>Duration is reasonable for explaining product details and convincing clients.</a:t>
                      </a:r>
                      <a:endParaRPr lang="en-IN" sz="125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07000"/>
                        </a:lnSpc>
                        <a:spcAft>
                          <a:spcPts val="800"/>
                        </a:spcAft>
                      </a:pPr>
                      <a:r>
                        <a:rPr lang="en-IN" sz="1250" dirty="0">
                          <a:effectLst/>
                        </a:rPr>
                        <a:t>Analyse if longer or shorter calls have a higher conversion rate to optimize call durations.</a:t>
                      </a:r>
                      <a:endParaRPr lang="en-IN" sz="125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818154448"/>
                  </a:ext>
                </a:extLst>
              </a:tr>
              <a:tr h="0">
                <a:tc>
                  <a:txBody>
                    <a:bodyPr/>
                    <a:lstStyle/>
                    <a:p>
                      <a:pPr algn="just">
                        <a:lnSpc>
                          <a:spcPct val="107000"/>
                        </a:lnSpc>
                        <a:spcAft>
                          <a:spcPts val="800"/>
                        </a:spcAft>
                      </a:pPr>
                      <a:r>
                        <a:rPr lang="en-IN" sz="1250" dirty="0">
                          <a:effectLst/>
                        </a:rPr>
                        <a:t>Average Yearly Balance for Subscribed Clients: 1804.18 Rs.</a:t>
                      </a:r>
                      <a:endParaRPr lang="en-IN" sz="125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07000"/>
                        </a:lnSpc>
                        <a:spcAft>
                          <a:spcPts val="800"/>
                        </a:spcAft>
                      </a:pPr>
                      <a:r>
                        <a:rPr lang="en-IN" sz="1250">
                          <a:effectLst/>
                        </a:rPr>
                        <a:t>Subscribed clients have a higher average yearly balance compared to non-subscribed clients.</a:t>
                      </a:r>
                      <a:endParaRPr lang="en-IN" sz="125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07000"/>
                        </a:lnSpc>
                        <a:spcAft>
                          <a:spcPts val="800"/>
                        </a:spcAft>
                      </a:pPr>
                      <a:r>
                        <a:rPr lang="en-IN" sz="1250" dirty="0">
                          <a:effectLst/>
                        </a:rPr>
                        <a:t>Clients with higher balances are more likely to subscribe to term deposits.</a:t>
                      </a:r>
                      <a:endParaRPr lang="en-IN" sz="125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07000"/>
                        </a:lnSpc>
                        <a:spcAft>
                          <a:spcPts val="800"/>
                        </a:spcAft>
                      </a:pPr>
                      <a:r>
                        <a:rPr lang="en-IN" sz="1250" dirty="0">
                          <a:effectLst/>
                        </a:rPr>
                        <a:t>Focus marketing efforts on clients with higher balances.</a:t>
                      </a:r>
                      <a:endParaRPr lang="en-IN" sz="125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992466778"/>
                  </a:ext>
                </a:extLst>
              </a:tr>
              <a:tr h="0">
                <a:tc>
                  <a:txBody>
                    <a:bodyPr/>
                    <a:lstStyle/>
                    <a:p>
                      <a:pPr algn="just">
                        <a:lnSpc>
                          <a:spcPct val="107000"/>
                        </a:lnSpc>
                        <a:spcAft>
                          <a:spcPts val="800"/>
                        </a:spcAft>
                      </a:pPr>
                      <a:r>
                        <a:rPr lang="en-IN" sz="1250" dirty="0">
                          <a:effectLst/>
                        </a:rPr>
                        <a:t>Average Yearly Balance for Non-Subscribed Clients: 1303.74 Rs.</a:t>
                      </a:r>
                      <a:endParaRPr lang="en-IN" sz="125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07000"/>
                        </a:lnSpc>
                        <a:spcAft>
                          <a:spcPts val="800"/>
                        </a:spcAft>
                      </a:pPr>
                      <a:r>
                        <a:rPr lang="en-IN" sz="1250">
                          <a:effectLst/>
                        </a:rPr>
                        <a:t>Non-subscribed clients have a lower average yearly balance compared to subscribed clients.</a:t>
                      </a:r>
                      <a:endParaRPr lang="en-IN" sz="125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07000"/>
                        </a:lnSpc>
                        <a:spcAft>
                          <a:spcPts val="800"/>
                        </a:spcAft>
                      </a:pPr>
                      <a:r>
                        <a:rPr lang="en-IN" sz="1250">
                          <a:effectLst/>
                        </a:rPr>
                        <a:t>Clients with lower balances are less likely to subscribe to term deposits.</a:t>
                      </a:r>
                      <a:endParaRPr lang="en-IN" sz="125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07000"/>
                        </a:lnSpc>
                        <a:spcAft>
                          <a:spcPts val="800"/>
                        </a:spcAft>
                      </a:pPr>
                      <a:r>
                        <a:rPr lang="en-IN" sz="1250" dirty="0">
                          <a:effectLst/>
                        </a:rPr>
                        <a:t>Develop targeted campaigns to address the needs and concerns of clients with lower balances.</a:t>
                      </a:r>
                      <a:endParaRPr lang="en-IN" sz="125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597020985"/>
                  </a:ext>
                </a:extLst>
              </a:tr>
              <a:tr h="0">
                <a:tc>
                  <a:txBody>
                    <a:bodyPr/>
                    <a:lstStyle/>
                    <a:p>
                      <a:pPr algn="just">
                        <a:lnSpc>
                          <a:spcPct val="107000"/>
                        </a:lnSpc>
                        <a:spcAft>
                          <a:spcPts val="800"/>
                        </a:spcAft>
                      </a:pPr>
                      <a:r>
                        <a:rPr lang="en-IN" sz="1250" dirty="0">
                          <a:effectLst/>
                        </a:rPr>
                        <a:t>Loan Default Rate: 1.80%</a:t>
                      </a:r>
                      <a:endParaRPr lang="en-IN" sz="125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07000"/>
                        </a:lnSpc>
                        <a:spcAft>
                          <a:spcPts val="800"/>
                        </a:spcAft>
                      </a:pPr>
                      <a:r>
                        <a:rPr lang="en-IN" sz="1250">
                          <a:effectLst/>
                        </a:rPr>
                        <a:t>Low default rate among clients.</a:t>
                      </a:r>
                      <a:endParaRPr lang="en-IN" sz="125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07000"/>
                        </a:lnSpc>
                        <a:spcAft>
                          <a:spcPts val="800"/>
                        </a:spcAft>
                      </a:pPr>
                      <a:r>
                        <a:rPr lang="en-IN" sz="1250">
                          <a:effectLst/>
                        </a:rPr>
                        <a:t>Clients are generally financially healthy and capable of considering additional financial products.</a:t>
                      </a:r>
                      <a:endParaRPr lang="en-IN" sz="125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07000"/>
                        </a:lnSpc>
                        <a:spcAft>
                          <a:spcPts val="800"/>
                        </a:spcAft>
                      </a:pPr>
                      <a:r>
                        <a:rPr lang="en-IN" sz="1250" dirty="0">
                          <a:effectLst/>
                        </a:rPr>
                        <a:t>Continue monitoring default rates and maintain client financial health.</a:t>
                      </a:r>
                      <a:endParaRPr lang="en-IN" sz="125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307616273"/>
                  </a:ext>
                </a:extLst>
              </a:tr>
              <a:tr h="0">
                <a:tc>
                  <a:txBody>
                    <a:bodyPr/>
                    <a:lstStyle/>
                    <a:p>
                      <a:pPr algn="just">
                        <a:lnSpc>
                          <a:spcPct val="107000"/>
                        </a:lnSpc>
                        <a:spcAft>
                          <a:spcPts val="800"/>
                        </a:spcAft>
                      </a:pPr>
                      <a:r>
                        <a:rPr lang="en-IN" sz="1250" dirty="0">
                          <a:effectLst/>
                        </a:rPr>
                        <a:t>Average Number of Contacts per Client: 2.76</a:t>
                      </a:r>
                      <a:endParaRPr lang="en-IN" sz="125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07000"/>
                        </a:lnSpc>
                        <a:spcAft>
                          <a:spcPts val="800"/>
                        </a:spcAft>
                      </a:pPr>
                      <a:r>
                        <a:rPr lang="en-IN" sz="1250">
                          <a:effectLst/>
                        </a:rPr>
                        <a:t>Each client was contacted approximately 2.76 times during the campaign.</a:t>
                      </a:r>
                      <a:endParaRPr lang="en-IN" sz="125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07000"/>
                        </a:lnSpc>
                        <a:spcAft>
                          <a:spcPts val="800"/>
                        </a:spcAft>
                      </a:pPr>
                      <a:r>
                        <a:rPr lang="en-IN" sz="1250">
                          <a:effectLst/>
                        </a:rPr>
                        <a:t>Multiple contacts may be necessary to convert clients but can cause fatigue.</a:t>
                      </a:r>
                      <a:endParaRPr lang="en-IN" sz="125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07000"/>
                        </a:lnSpc>
                        <a:spcAft>
                          <a:spcPts val="800"/>
                        </a:spcAft>
                      </a:pPr>
                      <a:r>
                        <a:rPr lang="en-IN" sz="1250" dirty="0">
                          <a:effectLst/>
                        </a:rPr>
                        <a:t>Analyse the optimal number of contacts that maximize conversion without causing client fatigue.</a:t>
                      </a:r>
                      <a:endParaRPr lang="en-IN" sz="125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666115510"/>
                  </a:ext>
                </a:extLst>
              </a:tr>
              <a:tr h="0">
                <a:tc>
                  <a:txBody>
                    <a:bodyPr/>
                    <a:lstStyle/>
                    <a:p>
                      <a:pPr algn="just">
                        <a:lnSpc>
                          <a:spcPct val="107000"/>
                        </a:lnSpc>
                        <a:spcAft>
                          <a:spcPts val="800"/>
                        </a:spcAft>
                      </a:pPr>
                      <a:r>
                        <a:rPr lang="en-IN" sz="1250" dirty="0">
                          <a:effectLst/>
                        </a:rPr>
                        <a:t>Previous Campaign Success Rate: 18.34%</a:t>
                      </a:r>
                      <a:endParaRPr lang="en-IN" sz="125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07000"/>
                        </a:lnSpc>
                        <a:spcAft>
                          <a:spcPts val="800"/>
                        </a:spcAft>
                      </a:pPr>
                      <a:r>
                        <a:rPr lang="en-IN" sz="1250">
                          <a:effectLst/>
                        </a:rPr>
                        <a:t>Previous campaign had a higher success rate than the current one.</a:t>
                      </a:r>
                      <a:endParaRPr lang="en-IN" sz="125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07000"/>
                        </a:lnSpc>
                        <a:spcAft>
                          <a:spcPts val="800"/>
                        </a:spcAft>
                      </a:pPr>
                      <a:r>
                        <a:rPr lang="en-IN" sz="1250">
                          <a:effectLst/>
                        </a:rPr>
                        <a:t>Previous strategies were more effective.</a:t>
                      </a:r>
                      <a:endParaRPr lang="en-IN" sz="125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07000"/>
                        </a:lnSpc>
                        <a:spcAft>
                          <a:spcPts val="800"/>
                        </a:spcAft>
                      </a:pPr>
                      <a:r>
                        <a:rPr lang="en-IN" sz="1250" dirty="0">
                          <a:effectLst/>
                        </a:rPr>
                        <a:t>Learn from previous successful campaigns and replicate effective strategies.</a:t>
                      </a:r>
                      <a:endParaRPr lang="en-IN" sz="125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519960659"/>
                  </a:ext>
                </a:extLst>
              </a:tr>
              <a:tr h="0">
                <a:tc>
                  <a:txBody>
                    <a:bodyPr/>
                    <a:lstStyle/>
                    <a:p>
                      <a:pPr algn="just">
                        <a:lnSpc>
                          <a:spcPct val="107000"/>
                        </a:lnSpc>
                        <a:spcAft>
                          <a:spcPts val="800"/>
                        </a:spcAft>
                      </a:pPr>
                      <a:r>
                        <a:rPr lang="en-IN" sz="1250" dirty="0">
                          <a:effectLst/>
                        </a:rPr>
                        <a:t>Churn Rate: 14.04%</a:t>
                      </a:r>
                      <a:endParaRPr lang="en-IN" sz="125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07000"/>
                        </a:lnSpc>
                        <a:spcAft>
                          <a:spcPts val="800"/>
                        </a:spcAft>
                      </a:pPr>
                      <a:r>
                        <a:rPr lang="en-IN" sz="1250" dirty="0">
                          <a:effectLst/>
                        </a:rPr>
                        <a:t>Indicates that 14.04% of previously contacted clients who did not subscribe are considered churned.</a:t>
                      </a:r>
                      <a:endParaRPr lang="en-IN" sz="125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07000"/>
                        </a:lnSpc>
                        <a:spcAft>
                          <a:spcPts val="800"/>
                        </a:spcAft>
                      </a:pPr>
                      <a:r>
                        <a:rPr lang="en-IN" sz="1250" dirty="0">
                          <a:effectLst/>
                        </a:rPr>
                        <a:t>Can be a concern if it indicates client dissatisfaction or lack of interest in the bank's products.</a:t>
                      </a:r>
                      <a:endParaRPr lang="en-IN" sz="125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07000"/>
                        </a:lnSpc>
                        <a:spcAft>
                          <a:spcPts val="800"/>
                        </a:spcAft>
                      </a:pPr>
                      <a:r>
                        <a:rPr lang="en-IN" sz="1250" dirty="0">
                          <a:effectLst/>
                        </a:rPr>
                        <a:t>Investigate reasons behind churn and implement measures to reduce it, improving retention.</a:t>
                      </a:r>
                      <a:endParaRPr lang="en-IN" sz="125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962518806"/>
                  </a:ext>
                </a:extLst>
              </a:tr>
            </a:tbl>
          </a:graphicData>
        </a:graphic>
      </p:graphicFrame>
      <p:sp>
        <p:nvSpPr>
          <p:cNvPr id="5" name="Slide Number Placeholder 4">
            <a:extLst>
              <a:ext uri="{FF2B5EF4-FFF2-40B4-BE49-F238E27FC236}">
                <a16:creationId xmlns:a16="http://schemas.microsoft.com/office/drawing/2014/main" id="{B3DE04B6-8F46-4F3A-8B95-5FA9EFEDF766}"/>
              </a:ext>
            </a:extLst>
          </p:cNvPr>
          <p:cNvSpPr>
            <a:spLocks noGrp="1"/>
          </p:cNvSpPr>
          <p:nvPr>
            <p:ph type="sldNum" sz="quarter" idx="33"/>
          </p:nvPr>
        </p:nvSpPr>
        <p:spPr/>
        <p:txBody>
          <a:bodyPr/>
          <a:lstStyle/>
          <a:p>
            <a:fld id="{19B51A1E-902D-48AF-9020-955120F399B6}" type="slidenum">
              <a:rPr lang="en-US" noProof="0" smtClean="0"/>
              <a:pPr/>
              <a:t>8</a:t>
            </a:fld>
            <a:endParaRPr lang="en-US" noProof="0" dirty="0"/>
          </a:p>
        </p:txBody>
      </p:sp>
      <p:sp>
        <p:nvSpPr>
          <p:cNvPr id="7" name="Rectangle 1">
            <a:extLst>
              <a:ext uri="{FF2B5EF4-FFF2-40B4-BE49-F238E27FC236}">
                <a16:creationId xmlns:a16="http://schemas.microsoft.com/office/drawing/2014/main" id="{3FA36758-8D4F-48C6-BD28-2E62B3DC33CC}"/>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
        <p:nvSpPr>
          <p:cNvPr id="8" name="Rectangle 7">
            <a:extLst>
              <a:ext uri="{FF2B5EF4-FFF2-40B4-BE49-F238E27FC236}">
                <a16:creationId xmlns:a16="http://schemas.microsoft.com/office/drawing/2014/main" id="{EA7B55A1-5AD4-4A27-A7FF-9B1590E0A872}"/>
              </a:ext>
            </a:extLst>
          </p:cNvPr>
          <p:cNvSpPr/>
          <p:nvPr/>
        </p:nvSpPr>
        <p:spPr>
          <a:xfrm>
            <a:off x="9775824" y="6371350"/>
            <a:ext cx="1984136" cy="432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222097768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Placeholder 10" descr="Desk with computer, phone, books, etc.">
            <a:extLst>
              <a:ext uri="{FF2B5EF4-FFF2-40B4-BE49-F238E27FC236}">
                <a16:creationId xmlns:a16="http://schemas.microsoft.com/office/drawing/2014/main" id="{2E7ADBC3-DECA-9F4C-9289-9E43C727592F}"/>
              </a:ext>
            </a:extLst>
          </p:cNvPr>
          <p:cNvPicPr>
            <a:picLocks noGrp="1" noChangeAspect="1"/>
          </p:cNvPicPr>
          <p:nvPr>
            <p:ph type="pic" sz="quarter" idx="10"/>
          </p:nvPr>
        </p:nvPicPr>
        <p:blipFill>
          <a:blip r:embed="rId2" cstate="screen">
            <a:extLst>
              <a:ext uri="{28A0092B-C50C-407E-A947-70E740481C1C}">
                <a14:useLocalDpi xmlns:a14="http://schemas.microsoft.com/office/drawing/2010/main"/>
              </a:ext>
            </a:extLst>
          </a:blip>
          <a:srcRect/>
          <a:stretch>
            <a:fillRect/>
          </a:stretch>
        </p:blipFill>
        <p:spPr/>
      </p:pic>
      <p:sp>
        <p:nvSpPr>
          <p:cNvPr id="3" name="Title 2">
            <a:extLst>
              <a:ext uri="{FF2B5EF4-FFF2-40B4-BE49-F238E27FC236}">
                <a16:creationId xmlns:a16="http://schemas.microsoft.com/office/drawing/2014/main" id="{200B3D2B-613A-41BE-987D-E6A1324B456D}"/>
              </a:ext>
            </a:extLst>
          </p:cNvPr>
          <p:cNvSpPr>
            <a:spLocks noGrp="1"/>
          </p:cNvSpPr>
          <p:nvPr>
            <p:ph type="ctrTitle"/>
          </p:nvPr>
        </p:nvSpPr>
        <p:spPr/>
        <p:txBody>
          <a:bodyPr/>
          <a:lstStyle/>
          <a:p>
            <a:r>
              <a:rPr lang="en-US" sz="5400" dirty="0"/>
              <a:t>Primary </a:t>
            </a:r>
            <a:r>
              <a:rPr lang="en-US" sz="5400" dirty="0" err="1"/>
              <a:t>Visualisations</a:t>
            </a:r>
            <a:endParaRPr lang="en-US" sz="5400" dirty="0"/>
          </a:p>
        </p:txBody>
      </p:sp>
      <p:sp>
        <p:nvSpPr>
          <p:cNvPr id="14" name="Text Placeholder 13">
            <a:extLst>
              <a:ext uri="{FF2B5EF4-FFF2-40B4-BE49-F238E27FC236}">
                <a16:creationId xmlns:a16="http://schemas.microsoft.com/office/drawing/2014/main" id="{F278402B-CA7D-4F5B-B3FA-ED74AB3CFB6C}"/>
              </a:ext>
            </a:extLst>
          </p:cNvPr>
          <p:cNvSpPr>
            <a:spLocks noGrp="1"/>
          </p:cNvSpPr>
          <p:nvPr>
            <p:ph type="body" sz="quarter" idx="13"/>
          </p:nvPr>
        </p:nvSpPr>
        <p:spPr/>
        <p:txBody>
          <a:bodyPr/>
          <a:lstStyle/>
          <a:p>
            <a:r>
              <a:rPr lang="en-US" dirty="0"/>
              <a:t>Plotting the Given Data on Various Graphs to Drive Insights</a:t>
            </a:r>
          </a:p>
        </p:txBody>
      </p:sp>
      <p:sp>
        <p:nvSpPr>
          <p:cNvPr id="5" name="Slide Number Placeholder 4">
            <a:extLst>
              <a:ext uri="{FF2B5EF4-FFF2-40B4-BE49-F238E27FC236}">
                <a16:creationId xmlns:a16="http://schemas.microsoft.com/office/drawing/2014/main" id="{BDD5A594-D852-43BB-B591-E9D9027253BD}"/>
              </a:ext>
            </a:extLst>
          </p:cNvPr>
          <p:cNvSpPr>
            <a:spLocks noGrp="1"/>
          </p:cNvSpPr>
          <p:nvPr>
            <p:ph type="sldNum" sz="quarter" idx="12"/>
          </p:nvPr>
        </p:nvSpPr>
        <p:spPr>
          <a:solidFill>
            <a:schemeClr val="tx1">
              <a:lumMod val="95000"/>
              <a:lumOff val="5000"/>
            </a:schemeClr>
          </a:solidFill>
        </p:spPr>
        <p:txBody>
          <a:bodyPr/>
          <a:lstStyle/>
          <a:p>
            <a:fld id="{19B51A1E-902D-48AF-9020-955120F399B6}" type="slidenum">
              <a:rPr lang="en-US" smtClean="0"/>
              <a:pPr/>
              <a:t>9</a:t>
            </a:fld>
            <a:endParaRPr lang="en-US" dirty="0"/>
          </a:p>
        </p:txBody>
      </p:sp>
      <p:sp>
        <p:nvSpPr>
          <p:cNvPr id="6" name="Rectangle 5">
            <a:extLst>
              <a:ext uri="{FF2B5EF4-FFF2-40B4-BE49-F238E27FC236}">
                <a16:creationId xmlns:a16="http://schemas.microsoft.com/office/drawing/2014/main" id="{B6F72168-50E2-48A8-8A5C-83A912118E7A}"/>
              </a:ext>
            </a:extLst>
          </p:cNvPr>
          <p:cNvSpPr/>
          <p:nvPr/>
        </p:nvSpPr>
        <p:spPr>
          <a:xfrm>
            <a:off x="9775824" y="6371350"/>
            <a:ext cx="1984136" cy="432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15152409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E4A4B1-D011-479D-881A-5B80C053A516}"/>
              </a:ext>
            </a:extLst>
          </p:cNvPr>
          <p:cNvSpPr>
            <a:spLocks noGrp="1"/>
          </p:cNvSpPr>
          <p:nvPr>
            <p:ph type="title"/>
          </p:nvPr>
        </p:nvSpPr>
        <p:spPr>
          <a:xfrm>
            <a:off x="432000" y="432000"/>
            <a:ext cx="3932037" cy="1054568"/>
          </a:xfrm>
        </p:spPr>
        <p:txBody>
          <a:bodyPr/>
          <a:lstStyle/>
          <a:p>
            <a:r>
              <a:rPr lang="en-IN" sz="3600" dirty="0"/>
              <a:t>Distribution of Clients by Age</a:t>
            </a:r>
          </a:p>
        </p:txBody>
      </p:sp>
      <p:sp>
        <p:nvSpPr>
          <p:cNvPr id="4" name="Slide Number Placeholder 3">
            <a:extLst>
              <a:ext uri="{FF2B5EF4-FFF2-40B4-BE49-F238E27FC236}">
                <a16:creationId xmlns:a16="http://schemas.microsoft.com/office/drawing/2014/main" id="{93A5BDA4-FD99-431D-A673-3C45EA1281B2}"/>
              </a:ext>
            </a:extLst>
          </p:cNvPr>
          <p:cNvSpPr>
            <a:spLocks noGrp="1"/>
          </p:cNvSpPr>
          <p:nvPr>
            <p:ph type="sldNum" sz="quarter" idx="33"/>
          </p:nvPr>
        </p:nvSpPr>
        <p:spPr/>
        <p:txBody>
          <a:bodyPr/>
          <a:lstStyle/>
          <a:p>
            <a:fld id="{19B51A1E-902D-48AF-9020-955120F399B6}" type="slidenum">
              <a:rPr lang="en-US" noProof="0" smtClean="0"/>
              <a:pPr/>
              <a:t>10</a:t>
            </a:fld>
            <a:endParaRPr lang="en-US" noProof="0" dirty="0"/>
          </a:p>
        </p:txBody>
      </p:sp>
      <p:pic>
        <p:nvPicPr>
          <p:cNvPr id="8" name="Content Placeholder 7">
            <a:extLst>
              <a:ext uri="{FF2B5EF4-FFF2-40B4-BE49-F238E27FC236}">
                <a16:creationId xmlns:a16="http://schemas.microsoft.com/office/drawing/2014/main" id="{B363CEB7-1017-4646-BD6D-B74E76FAA0A5}"/>
              </a:ext>
            </a:extLst>
          </p:cNvPr>
          <p:cNvPicPr>
            <a:picLocks noGrp="1" noChangeAspect="1"/>
          </p:cNvPicPr>
          <p:nvPr>
            <p:ph idx="1"/>
          </p:nvPr>
        </p:nvPicPr>
        <p:blipFill rotWithShape="1">
          <a:blip r:embed="rId2"/>
          <a:srcRect l="3212" r="4125"/>
          <a:stretch/>
        </p:blipFill>
        <p:spPr>
          <a:xfrm>
            <a:off x="5476775" y="634130"/>
            <a:ext cx="6477802" cy="5314282"/>
          </a:xfrm>
          <a:noFill/>
          <a:ln>
            <a:solidFill>
              <a:schemeClr val="bg2">
                <a:lumMod val="75000"/>
              </a:schemeClr>
            </a:solidFill>
          </a:ln>
        </p:spPr>
      </p:pic>
      <p:sp>
        <p:nvSpPr>
          <p:cNvPr id="9" name="Rectangle 8">
            <a:extLst>
              <a:ext uri="{FF2B5EF4-FFF2-40B4-BE49-F238E27FC236}">
                <a16:creationId xmlns:a16="http://schemas.microsoft.com/office/drawing/2014/main" id="{F6F85A4D-8039-4A99-902E-9CAEBF6C7DEB}"/>
              </a:ext>
            </a:extLst>
          </p:cNvPr>
          <p:cNvSpPr/>
          <p:nvPr/>
        </p:nvSpPr>
        <p:spPr>
          <a:xfrm>
            <a:off x="432000" y="1568918"/>
            <a:ext cx="1955065" cy="12512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Rectangle 9">
            <a:extLst>
              <a:ext uri="{FF2B5EF4-FFF2-40B4-BE49-F238E27FC236}">
                <a16:creationId xmlns:a16="http://schemas.microsoft.com/office/drawing/2014/main" id="{DBA99882-9C1E-478F-B7A6-2B27602FAD67}"/>
              </a:ext>
            </a:extLst>
          </p:cNvPr>
          <p:cNvSpPr/>
          <p:nvPr/>
        </p:nvSpPr>
        <p:spPr>
          <a:xfrm>
            <a:off x="430398" y="1849922"/>
            <a:ext cx="2091421" cy="20505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Text Placeholder 5">
            <a:extLst>
              <a:ext uri="{FF2B5EF4-FFF2-40B4-BE49-F238E27FC236}">
                <a16:creationId xmlns:a16="http://schemas.microsoft.com/office/drawing/2014/main" id="{1D9506F6-762F-48C2-80E1-3D9BE378F3F5}"/>
              </a:ext>
            </a:extLst>
          </p:cNvPr>
          <p:cNvSpPr>
            <a:spLocks noGrp="1"/>
          </p:cNvSpPr>
          <p:nvPr>
            <p:ph type="body" sz="half" idx="2"/>
          </p:nvPr>
        </p:nvSpPr>
        <p:spPr>
          <a:xfrm>
            <a:off x="432000" y="1849922"/>
            <a:ext cx="4765642" cy="4019066"/>
          </a:xfrm>
        </p:spPr>
        <p:txBody>
          <a:bodyPr/>
          <a:lstStyle/>
          <a:p>
            <a:pPr algn="just"/>
            <a:r>
              <a:rPr lang="en-IN" sz="1150" b="1" dirty="0"/>
              <a:t>Analysis:</a:t>
            </a:r>
            <a:r>
              <a:rPr lang="en-IN" sz="1150" dirty="0"/>
              <a:t> </a:t>
            </a:r>
            <a:r>
              <a:rPr lang="en-GB" sz="1150" b="0" i="0" dirty="0">
                <a:solidFill>
                  <a:srgbClr val="020817"/>
                </a:solidFill>
                <a:effectLst/>
              </a:rPr>
              <a:t>The histogram shows the distribution of ages among the clients. The summary statistics indicate that the average age is approximately 40.94, with a standard deviation of about 10.62. The ages range from 18 to 95.</a:t>
            </a:r>
          </a:p>
          <a:p>
            <a:pPr algn="just"/>
            <a:br>
              <a:rPr lang="en-IN" sz="1150" b="1" dirty="0"/>
            </a:br>
            <a:r>
              <a:rPr lang="en-IN" sz="1150" b="1" dirty="0"/>
              <a:t>Interpretation and Insights</a:t>
            </a:r>
          </a:p>
          <a:p>
            <a:pPr marL="228600" indent="-228600" algn="just">
              <a:buFont typeface="+mj-lt"/>
              <a:buAutoNum type="arabicPeriod"/>
            </a:pPr>
            <a:r>
              <a:rPr lang="en-GB" sz="1150" b="1" i="0" dirty="0">
                <a:solidFill>
                  <a:srgbClr val="020817"/>
                </a:solidFill>
                <a:effectLst/>
              </a:rPr>
              <a:t>Age Distribution: </a:t>
            </a:r>
            <a:r>
              <a:rPr lang="en-GB" sz="1150" b="0" i="0" dirty="0">
                <a:solidFill>
                  <a:srgbClr val="020817"/>
                </a:solidFill>
                <a:effectLst/>
              </a:rPr>
              <a:t>The histogram shows a right-skewed distribution, with most clients between 30 and 50 years old.</a:t>
            </a:r>
          </a:p>
          <a:p>
            <a:pPr marL="228600" indent="-228600" algn="just">
              <a:buFont typeface="+mj-lt"/>
              <a:buAutoNum type="arabicPeriod"/>
            </a:pPr>
            <a:r>
              <a:rPr lang="en-GB" sz="1150" b="1" i="0" dirty="0">
                <a:solidFill>
                  <a:srgbClr val="020817"/>
                </a:solidFill>
                <a:effectLst/>
              </a:rPr>
              <a:t>Target Demographics: </a:t>
            </a:r>
            <a:r>
              <a:rPr lang="en-GB" sz="1150" b="0" i="0" dirty="0">
                <a:solidFill>
                  <a:srgbClr val="020817"/>
                </a:solidFill>
                <a:effectLst/>
              </a:rPr>
              <a:t>The mean age is about 41 years, suggesting that middle-aged individuals are the primary clientele. Marketing strategies could be tailored to this age group.</a:t>
            </a:r>
          </a:p>
          <a:p>
            <a:pPr marL="228600" indent="-228600" algn="just">
              <a:buFont typeface="+mj-lt"/>
              <a:buAutoNum type="arabicPeriod"/>
            </a:pPr>
            <a:r>
              <a:rPr lang="en-GB" sz="1150" b="1" i="0" dirty="0">
                <a:solidFill>
                  <a:srgbClr val="020817"/>
                </a:solidFill>
                <a:effectLst/>
              </a:rPr>
              <a:t>Age Range:</a:t>
            </a:r>
            <a:r>
              <a:rPr lang="en-GB" sz="1150" b="0" i="0" dirty="0">
                <a:solidFill>
                  <a:srgbClr val="020817"/>
                </a:solidFill>
                <a:effectLst/>
              </a:rPr>
              <a:t> The bank serves a diverse age group, with clients ranging from 18 to 95. Consider developing products or services for different life stages.</a:t>
            </a:r>
          </a:p>
          <a:p>
            <a:pPr marL="228600" indent="-228600" algn="just">
              <a:buFont typeface="+mj-lt"/>
              <a:buAutoNum type="arabicPeriod"/>
            </a:pPr>
            <a:r>
              <a:rPr lang="en-GB" sz="1150" b="1" i="0" dirty="0">
                <a:solidFill>
                  <a:srgbClr val="020817"/>
                </a:solidFill>
                <a:effectLst/>
              </a:rPr>
              <a:t>Potential Segments</a:t>
            </a:r>
          </a:p>
          <a:p>
            <a:pPr marL="742950" lvl="1" indent="-285750" algn="just">
              <a:buFont typeface="Arial" panose="020B0604020202020204" pitchFamily="34" charset="0"/>
              <a:buChar char="•"/>
            </a:pPr>
            <a:r>
              <a:rPr lang="en-GB" sz="1150" b="1" i="0" dirty="0">
                <a:solidFill>
                  <a:srgbClr val="020817"/>
                </a:solidFill>
                <a:effectLst/>
              </a:rPr>
              <a:t>Young adults (18-30):</a:t>
            </a:r>
            <a:r>
              <a:rPr lang="en-GB" sz="1150" b="0" i="0" dirty="0">
                <a:solidFill>
                  <a:srgbClr val="020817"/>
                </a:solidFill>
                <a:effectLst/>
              </a:rPr>
              <a:t> Tailor products for early career professionals.</a:t>
            </a:r>
          </a:p>
          <a:p>
            <a:pPr marL="742950" lvl="1" indent="-285750" algn="just">
              <a:buFont typeface="Arial" panose="020B0604020202020204" pitchFamily="34" charset="0"/>
              <a:buChar char="•"/>
            </a:pPr>
            <a:r>
              <a:rPr lang="en-GB" sz="1150" b="1" i="0" dirty="0">
                <a:solidFill>
                  <a:srgbClr val="020817"/>
                </a:solidFill>
                <a:effectLst/>
              </a:rPr>
              <a:t>Middle-aged (30-50):</a:t>
            </a:r>
            <a:r>
              <a:rPr lang="en-GB" sz="1150" b="0" i="0" dirty="0">
                <a:solidFill>
                  <a:srgbClr val="020817"/>
                </a:solidFill>
                <a:effectLst/>
              </a:rPr>
              <a:t> Focus on family-oriented financial products.</a:t>
            </a:r>
          </a:p>
          <a:p>
            <a:pPr marL="742950" lvl="1" indent="-285750" algn="just">
              <a:buFont typeface="Arial" panose="020B0604020202020204" pitchFamily="34" charset="0"/>
              <a:buChar char="•"/>
            </a:pPr>
            <a:r>
              <a:rPr lang="en-GB" sz="1150" b="1" i="0" dirty="0">
                <a:solidFill>
                  <a:srgbClr val="020817"/>
                </a:solidFill>
                <a:effectLst/>
              </a:rPr>
              <a:t>Seniors (60+):</a:t>
            </a:r>
            <a:r>
              <a:rPr lang="en-GB" sz="1150" b="0" i="0" dirty="0">
                <a:solidFill>
                  <a:srgbClr val="020817"/>
                </a:solidFill>
                <a:effectLst/>
              </a:rPr>
              <a:t> Offer retirement and estate planning services.</a:t>
            </a:r>
          </a:p>
          <a:p>
            <a:pPr algn="just"/>
            <a:r>
              <a:rPr lang="en-GB" sz="1150" b="1" i="0" dirty="0">
                <a:solidFill>
                  <a:srgbClr val="020817"/>
                </a:solidFill>
                <a:effectLst/>
              </a:rPr>
              <a:t>5. Customer Retention:</a:t>
            </a:r>
            <a:r>
              <a:rPr lang="en-GB" sz="1150" b="0" i="0" dirty="0">
                <a:solidFill>
                  <a:srgbClr val="020817"/>
                </a:solidFill>
                <a:effectLst/>
              </a:rPr>
              <a:t> Analyse how age correlates with other variables to improve retention strategies across different age groups.</a:t>
            </a:r>
          </a:p>
          <a:p>
            <a:pPr algn="just"/>
            <a:endParaRPr lang="en-IN" sz="1150" dirty="0"/>
          </a:p>
          <a:p>
            <a:pPr algn="just"/>
            <a:endParaRPr lang="en-IN" sz="1150" dirty="0"/>
          </a:p>
        </p:txBody>
      </p:sp>
      <p:sp>
        <p:nvSpPr>
          <p:cNvPr id="11" name="Rectangle 10">
            <a:extLst>
              <a:ext uri="{FF2B5EF4-FFF2-40B4-BE49-F238E27FC236}">
                <a16:creationId xmlns:a16="http://schemas.microsoft.com/office/drawing/2014/main" id="{5B5D3EF4-0120-4246-9434-DF7B13331D00}"/>
              </a:ext>
            </a:extLst>
          </p:cNvPr>
          <p:cNvSpPr/>
          <p:nvPr/>
        </p:nvSpPr>
        <p:spPr>
          <a:xfrm>
            <a:off x="9775824" y="6371350"/>
            <a:ext cx="1984136" cy="432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5270724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E4A4B1-D011-479D-881A-5B80C053A516}"/>
              </a:ext>
            </a:extLst>
          </p:cNvPr>
          <p:cNvSpPr>
            <a:spLocks noGrp="1"/>
          </p:cNvSpPr>
          <p:nvPr>
            <p:ph type="title"/>
          </p:nvPr>
        </p:nvSpPr>
        <p:spPr>
          <a:xfrm>
            <a:off x="432000" y="432000"/>
            <a:ext cx="3932037" cy="1054568"/>
          </a:xfrm>
        </p:spPr>
        <p:txBody>
          <a:bodyPr/>
          <a:lstStyle/>
          <a:p>
            <a:r>
              <a:rPr lang="en-IN" sz="3600" dirty="0"/>
              <a:t>Distribution of Clients by Job Type</a:t>
            </a:r>
          </a:p>
        </p:txBody>
      </p:sp>
      <p:sp>
        <p:nvSpPr>
          <p:cNvPr id="4" name="Slide Number Placeholder 3">
            <a:extLst>
              <a:ext uri="{FF2B5EF4-FFF2-40B4-BE49-F238E27FC236}">
                <a16:creationId xmlns:a16="http://schemas.microsoft.com/office/drawing/2014/main" id="{93A5BDA4-FD99-431D-A673-3C45EA1281B2}"/>
              </a:ext>
            </a:extLst>
          </p:cNvPr>
          <p:cNvSpPr>
            <a:spLocks noGrp="1"/>
          </p:cNvSpPr>
          <p:nvPr>
            <p:ph type="sldNum" sz="quarter" idx="33"/>
          </p:nvPr>
        </p:nvSpPr>
        <p:spPr/>
        <p:txBody>
          <a:bodyPr/>
          <a:lstStyle/>
          <a:p>
            <a:fld id="{19B51A1E-902D-48AF-9020-955120F399B6}" type="slidenum">
              <a:rPr lang="en-US" noProof="0" smtClean="0"/>
              <a:pPr/>
              <a:t>11</a:t>
            </a:fld>
            <a:endParaRPr lang="en-US" noProof="0" dirty="0"/>
          </a:p>
        </p:txBody>
      </p:sp>
      <p:pic>
        <p:nvPicPr>
          <p:cNvPr id="8" name="Content Placeholder 7">
            <a:extLst>
              <a:ext uri="{FF2B5EF4-FFF2-40B4-BE49-F238E27FC236}">
                <a16:creationId xmlns:a16="http://schemas.microsoft.com/office/drawing/2014/main" id="{B363CEB7-1017-4646-BD6D-B74E76FAA0A5}"/>
              </a:ext>
            </a:extLst>
          </p:cNvPr>
          <p:cNvPicPr>
            <a:picLocks noGrp="1" noChangeAspect="1"/>
          </p:cNvPicPr>
          <p:nvPr>
            <p:ph idx="1"/>
          </p:nvPr>
        </p:nvPicPr>
        <p:blipFill rotWithShape="1">
          <a:blip r:embed="rId2"/>
          <a:srcRect l="2454" r="2454"/>
          <a:stretch/>
        </p:blipFill>
        <p:spPr>
          <a:xfrm>
            <a:off x="5188016" y="527662"/>
            <a:ext cx="6787983" cy="5266746"/>
          </a:xfrm>
          <a:noFill/>
          <a:ln>
            <a:solidFill>
              <a:schemeClr val="bg2">
                <a:lumMod val="75000"/>
              </a:schemeClr>
            </a:solidFill>
          </a:ln>
        </p:spPr>
      </p:pic>
      <p:sp>
        <p:nvSpPr>
          <p:cNvPr id="9" name="Rectangle 8">
            <a:extLst>
              <a:ext uri="{FF2B5EF4-FFF2-40B4-BE49-F238E27FC236}">
                <a16:creationId xmlns:a16="http://schemas.microsoft.com/office/drawing/2014/main" id="{F6F85A4D-8039-4A99-902E-9CAEBF6C7DEB}"/>
              </a:ext>
            </a:extLst>
          </p:cNvPr>
          <p:cNvSpPr/>
          <p:nvPr/>
        </p:nvSpPr>
        <p:spPr>
          <a:xfrm>
            <a:off x="432000" y="1568918"/>
            <a:ext cx="1955065" cy="12512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Rectangle 9">
            <a:extLst>
              <a:ext uri="{FF2B5EF4-FFF2-40B4-BE49-F238E27FC236}">
                <a16:creationId xmlns:a16="http://schemas.microsoft.com/office/drawing/2014/main" id="{DBA99882-9C1E-478F-B7A6-2B27602FAD67}"/>
              </a:ext>
            </a:extLst>
          </p:cNvPr>
          <p:cNvSpPr/>
          <p:nvPr/>
        </p:nvSpPr>
        <p:spPr>
          <a:xfrm>
            <a:off x="430398" y="1849922"/>
            <a:ext cx="2091421" cy="20505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Text Placeholder 5">
            <a:extLst>
              <a:ext uri="{FF2B5EF4-FFF2-40B4-BE49-F238E27FC236}">
                <a16:creationId xmlns:a16="http://schemas.microsoft.com/office/drawing/2014/main" id="{1D9506F6-762F-48C2-80E1-3D9BE378F3F5}"/>
              </a:ext>
            </a:extLst>
          </p:cNvPr>
          <p:cNvSpPr>
            <a:spLocks noGrp="1"/>
          </p:cNvSpPr>
          <p:nvPr>
            <p:ph type="body" sz="half" idx="2"/>
          </p:nvPr>
        </p:nvSpPr>
        <p:spPr>
          <a:xfrm>
            <a:off x="432000" y="1849922"/>
            <a:ext cx="4486509" cy="4019066"/>
          </a:xfrm>
        </p:spPr>
        <p:txBody>
          <a:bodyPr/>
          <a:lstStyle/>
          <a:p>
            <a:pPr algn="just"/>
            <a:r>
              <a:rPr lang="en-GB" sz="1050" b="1" i="0" dirty="0">
                <a:effectLst/>
              </a:rPr>
              <a:t>Analysis and Interpretation</a:t>
            </a:r>
          </a:p>
          <a:p>
            <a:pPr algn="just">
              <a:lnSpc>
                <a:spcPct val="70000"/>
              </a:lnSpc>
            </a:pPr>
            <a:r>
              <a:rPr lang="en-GB" sz="1050" b="1" i="0" dirty="0">
                <a:solidFill>
                  <a:srgbClr val="020817"/>
                </a:solidFill>
                <a:effectLst/>
              </a:rPr>
              <a:t>1. Dominant Job Types</a:t>
            </a:r>
            <a:r>
              <a:rPr lang="en-GB" sz="1050" b="0" i="0" dirty="0">
                <a:solidFill>
                  <a:srgbClr val="020817"/>
                </a:solidFill>
                <a:effectLst/>
              </a:rPr>
              <a:t>: The most common job types among clients are:</a:t>
            </a:r>
          </a:p>
          <a:p>
            <a:pPr marL="742950" lvl="1" indent="-285750" algn="just">
              <a:lnSpc>
                <a:spcPct val="70000"/>
              </a:lnSpc>
              <a:buFont typeface="Arial" panose="020B0604020202020204" pitchFamily="34" charset="0"/>
              <a:buChar char="•"/>
            </a:pPr>
            <a:r>
              <a:rPr lang="en-GB" sz="1050" b="0" i="0" dirty="0">
                <a:solidFill>
                  <a:srgbClr val="020817"/>
                </a:solidFill>
                <a:effectLst/>
              </a:rPr>
              <a:t>Blue-collar: 9,732 clients</a:t>
            </a:r>
          </a:p>
          <a:p>
            <a:pPr marL="742950" lvl="1" indent="-285750" algn="just">
              <a:lnSpc>
                <a:spcPct val="70000"/>
              </a:lnSpc>
              <a:buFont typeface="Arial" panose="020B0604020202020204" pitchFamily="34" charset="0"/>
              <a:buChar char="•"/>
            </a:pPr>
            <a:r>
              <a:rPr lang="en-GB" sz="1050" b="0" i="0" dirty="0">
                <a:solidFill>
                  <a:srgbClr val="020817"/>
                </a:solidFill>
                <a:effectLst/>
              </a:rPr>
              <a:t>Management: 9,460 clients</a:t>
            </a:r>
          </a:p>
          <a:p>
            <a:pPr marL="742950" lvl="1" indent="-285750" algn="just">
              <a:lnSpc>
                <a:spcPct val="70000"/>
              </a:lnSpc>
              <a:buFont typeface="Arial" panose="020B0604020202020204" pitchFamily="34" charset="0"/>
              <a:buChar char="•"/>
            </a:pPr>
            <a:r>
              <a:rPr lang="en-GB" sz="1050" b="0" i="0" dirty="0">
                <a:solidFill>
                  <a:srgbClr val="020817"/>
                </a:solidFill>
                <a:effectLst/>
              </a:rPr>
              <a:t>Technician: 7,597 clients</a:t>
            </a:r>
          </a:p>
          <a:p>
            <a:pPr algn="just">
              <a:lnSpc>
                <a:spcPct val="70000"/>
              </a:lnSpc>
            </a:pPr>
            <a:r>
              <a:rPr lang="en-GB" sz="1050" b="1" i="0" dirty="0">
                <a:solidFill>
                  <a:srgbClr val="020817"/>
                </a:solidFill>
                <a:effectLst/>
              </a:rPr>
              <a:t>2. Least Common Job Types</a:t>
            </a:r>
            <a:r>
              <a:rPr lang="en-GB" sz="1050" b="0" i="0" dirty="0">
                <a:solidFill>
                  <a:srgbClr val="020817"/>
                </a:solidFill>
                <a:effectLst/>
              </a:rPr>
              <a:t>: The least common job types are:</a:t>
            </a:r>
          </a:p>
          <a:p>
            <a:pPr marL="742950" lvl="1" indent="-285750" algn="just">
              <a:lnSpc>
                <a:spcPct val="70000"/>
              </a:lnSpc>
              <a:buFont typeface="Arial" panose="020B0604020202020204" pitchFamily="34" charset="0"/>
              <a:buChar char="•"/>
            </a:pPr>
            <a:r>
              <a:rPr lang="en-GB" sz="1050" b="0" i="0" dirty="0">
                <a:solidFill>
                  <a:srgbClr val="020817"/>
                </a:solidFill>
                <a:effectLst/>
              </a:rPr>
              <a:t>Student: 938 clients</a:t>
            </a:r>
          </a:p>
          <a:p>
            <a:pPr marL="742950" lvl="1" indent="-285750" algn="just">
              <a:lnSpc>
                <a:spcPct val="70000"/>
              </a:lnSpc>
              <a:buFont typeface="Arial" panose="020B0604020202020204" pitchFamily="34" charset="0"/>
              <a:buChar char="•"/>
            </a:pPr>
            <a:r>
              <a:rPr lang="en-GB" sz="1050" b="0" i="0" dirty="0">
                <a:solidFill>
                  <a:srgbClr val="020817"/>
                </a:solidFill>
                <a:effectLst/>
              </a:rPr>
              <a:t>Housemaid: 1,240 clients</a:t>
            </a:r>
          </a:p>
          <a:p>
            <a:pPr marL="742950" lvl="1" indent="-285750" algn="just">
              <a:lnSpc>
                <a:spcPct val="70000"/>
              </a:lnSpc>
              <a:buFont typeface="Arial" panose="020B0604020202020204" pitchFamily="34" charset="0"/>
              <a:buChar char="•"/>
            </a:pPr>
            <a:r>
              <a:rPr lang="en-GB" sz="1050" b="0" i="0" dirty="0">
                <a:solidFill>
                  <a:srgbClr val="020817"/>
                </a:solidFill>
                <a:effectLst/>
              </a:rPr>
              <a:t>Unemployed: 1,303 clients</a:t>
            </a:r>
            <a:endParaRPr lang="en-GB" sz="1050" dirty="0">
              <a:solidFill>
                <a:srgbClr val="020817"/>
              </a:solidFill>
            </a:endParaRPr>
          </a:p>
          <a:p>
            <a:pPr algn="just"/>
            <a:r>
              <a:rPr lang="en-GB" sz="1050" b="1" i="0" dirty="0">
                <a:effectLst/>
              </a:rPr>
              <a:t>Actionable Insights</a:t>
            </a:r>
          </a:p>
          <a:p>
            <a:pPr marL="228600" indent="-228600" algn="just">
              <a:buFont typeface="+mj-lt"/>
              <a:buAutoNum type="arabicPeriod"/>
            </a:pPr>
            <a:r>
              <a:rPr lang="en-GB" sz="1050" b="1" i="0" dirty="0">
                <a:solidFill>
                  <a:srgbClr val="020817"/>
                </a:solidFill>
                <a:effectLst/>
              </a:rPr>
              <a:t>Targeted Marketing</a:t>
            </a:r>
            <a:r>
              <a:rPr lang="en-GB" sz="1050" b="0" i="0" dirty="0">
                <a:solidFill>
                  <a:srgbClr val="020817"/>
                </a:solidFill>
                <a:effectLst/>
              </a:rPr>
              <a:t>: Focus marketing efforts on the most common job types (blue-collar, management, and technician) as they represent a significant portion of the client base.</a:t>
            </a:r>
          </a:p>
          <a:p>
            <a:pPr marL="228600" indent="-228600" algn="just">
              <a:buFont typeface="+mj-lt"/>
              <a:buAutoNum type="arabicPeriod"/>
            </a:pPr>
            <a:r>
              <a:rPr lang="en-GB" sz="1050" b="1" i="0" dirty="0">
                <a:solidFill>
                  <a:srgbClr val="020817"/>
                </a:solidFill>
                <a:effectLst/>
              </a:rPr>
              <a:t>Product Development</a:t>
            </a:r>
            <a:r>
              <a:rPr lang="en-GB" sz="1050" b="0" i="0" dirty="0">
                <a:solidFill>
                  <a:srgbClr val="020817"/>
                </a:solidFill>
                <a:effectLst/>
              </a:rPr>
              <a:t>: Develop financial products tailored to the needs of the dominant job types. For example, offer specialised loans or savings plans for blue-collar workers and management professionals.</a:t>
            </a:r>
          </a:p>
          <a:p>
            <a:pPr marL="228600" indent="-228600" algn="just">
              <a:buFont typeface="+mj-lt"/>
              <a:buAutoNum type="arabicPeriod"/>
            </a:pPr>
            <a:r>
              <a:rPr lang="en-GB" sz="1050" b="1" i="0" dirty="0">
                <a:solidFill>
                  <a:srgbClr val="020817"/>
                </a:solidFill>
                <a:effectLst/>
              </a:rPr>
              <a:t>Engagement Strategies</a:t>
            </a:r>
            <a:r>
              <a:rPr lang="en-GB" sz="1050" b="0" i="0" dirty="0">
                <a:solidFill>
                  <a:srgbClr val="020817"/>
                </a:solidFill>
                <a:effectLst/>
              </a:rPr>
              <a:t>: Create engagement strategies for less common job types to understand their needs better and potentially increase their numbers.</a:t>
            </a:r>
          </a:p>
          <a:p>
            <a:pPr marL="228600" indent="-228600" algn="just">
              <a:buFont typeface="+mj-lt"/>
              <a:buAutoNum type="arabicPeriod"/>
            </a:pPr>
            <a:r>
              <a:rPr lang="en-GB" sz="1050" b="1" i="0" dirty="0">
                <a:solidFill>
                  <a:srgbClr val="020817"/>
                </a:solidFill>
                <a:effectLst/>
              </a:rPr>
              <a:t>Data Quality Improvement</a:t>
            </a:r>
            <a:r>
              <a:rPr lang="en-GB" sz="1050" b="0" i="0" dirty="0">
                <a:solidFill>
                  <a:srgbClr val="020817"/>
                </a:solidFill>
                <a:effectLst/>
              </a:rPr>
              <a:t>: Investigate the unknown job types to improve data quality and ensure accurate segmentation.</a:t>
            </a:r>
          </a:p>
        </p:txBody>
      </p:sp>
      <p:sp>
        <p:nvSpPr>
          <p:cNvPr id="11" name="Rectangle 10">
            <a:extLst>
              <a:ext uri="{FF2B5EF4-FFF2-40B4-BE49-F238E27FC236}">
                <a16:creationId xmlns:a16="http://schemas.microsoft.com/office/drawing/2014/main" id="{5B5D3EF4-0120-4246-9434-DF7B13331D00}"/>
              </a:ext>
            </a:extLst>
          </p:cNvPr>
          <p:cNvSpPr/>
          <p:nvPr/>
        </p:nvSpPr>
        <p:spPr>
          <a:xfrm>
            <a:off x="9775824" y="6371350"/>
            <a:ext cx="1984136" cy="432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303673467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E4A4B1-D011-479D-881A-5B80C053A516}"/>
              </a:ext>
            </a:extLst>
          </p:cNvPr>
          <p:cNvSpPr>
            <a:spLocks noGrp="1"/>
          </p:cNvSpPr>
          <p:nvPr>
            <p:ph type="title"/>
          </p:nvPr>
        </p:nvSpPr>
        <p:spPr>
          <a:xfrm>
            <a:off x="432000" y="432000"/>
            <a:ext cx="3932037" cy="1054568"/>
          </a:xfrm>
        </p:spPr>
        <p:txBody>
          <a:bodyPr/>
          <a:lstStyle/>
          <a:p>
            <a:r>
              <a:rPr lang="en-IN" sz="3600" dirty="0"/>
              <a:t>Distribution of Clients by Marital Status</a:t>
            </a:r>
          </a:p>
        </p:txBody>
      </p:sp>
      <p:sp>
        <p:nvSpPr>
          <p:cNvPr id="4" name="Slide Number Placeholder 3">
            <a:extLst>
              <a:ext uri="{FF2B5EF4-FFF2-40B4-BE49-F238E27FC236}">
                <a16:creationId xmlns:a16="http://schemas.microsoft.com/office/drawing/2014/main" id="{93A5BDA4-FD99-431D-A673-3C45EA1281B2}"/>
              </a:ext>
            </a:extLst>
          </p:cNvPr>
          <p:cNvSpPr>
            <a:spLocks noGrp="1"/>
          </p:cNvSpPr>
          <p:nvPr>
            <p:ph type="sldNum" sz="quarter" idx="33"/>
          </p:nvPr>
        </p:nvSpPr>
        <p:spPr/>
        <p:txBody>
          <a:bodyPr/>
          <a:lstStyle/>
          <a:p>
            <a:fld id="{19B51A1E-902D-48AF-9020-955120F399B6}" type="slidenum">
              <a:rPr lang="en-US" noProof="0" smtClean="0"/>
              <a:pPr/>
              <a:t>12</a:t>
            </a:fld>
            <a:endParaRPr lang="en-US" noProof="0" dirty="0"/>
          </a:p>
        </p:txBody>
      </p:sp>
      <p:pic>
        <p:nvPicPr>
          <p:cNvPr id="8" name="Content Placeholder 7">
            <a:extLst>
              <a:ext uri="{FF2B5EF4-FFF2-40B4-BE49-F238E27FC236}">
                <a16:creationId xmlns:a16="http://schemas.microsoft.com/office/drawing/2014/main" id="{B363CEB7-1017-4646-BD6D-B74E76FAA0A5}"/>
              </a:ext>
            </a:extLst>
          </p:cNvPr>
          <p:cNvPicPr>
            <a:picLocks noGrp="1" noChangeAspect="1"/>
          </p:cNvPicPr>
          <p:nvPr>
            <p:ph idx="1"/>
          </p:nvPr>
        </p:nvPicPr>
        <p:blipFill rotWithShape="1">
          <a:blip r:embed="rId2"/>
          <a:srcRect l="12737" t="-9275" r="11977" b="-10887"/>
          <a:stretch/>
        </p:blipFill>
        <p:spPr>
          <a:xfrm>
            <a:off x="4735628" y="571099"/>
            <a:ext cx="7005011" cy="5364000"/>
          </a:xfrm>
          <a:noFill/>
          <a:ln>
            <a:solidFill>
              <a:schemeClr val="bg2">
                <a:lumMod val="75000"/>
              </a:schemeClr>
            </a:solidFill>
          </a:ln>
        </p:spPr>
      </p:pic>
      <p:sp>
        <p:nvSpPr>
          <p:cNvPr id="9" name="Rectangle 8">
            <a:extLst>
              <a:ext uri="{FF2B5EF4-FFF2-40B4-BE49-F238E27FC236}">
                <a16:creationId xmlns:a16="http://schemas.microsoft.com/office/drawing/2014/main" id="{F6F85A4D-8039-4A99-902E-9CAEBF6C7DEB}"/>
              </a:ext>
            </a:extLst>
          </p:cNvPr>
          <p:cNvSpPr/>
          <p:nvPr/>
        </p:nvSpPr>
        <p:spPr>
          <a:xfrm>
            <a:off x="432000" y="1568918"/>
            <a:ext cx="1955065" cy="12512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Rectangle 9">
            <a:extLst>
              <a:ext uri="{FF2B5EF4-FFF2-40B4-BE49-F238E27FC236}">
                <a16:creationId xmlns:a16="http://schemas.microsoft.com/office/drawing/2014/main" id="{DBA99882-9C1E-478F-B7A6-2B27602FAD67}"/>
              </a:ext>
            </a:extLst>
          </p:cNvPr>
          <p:cNvSpPr/>
          <p:nvPr/>
        </p:nvSpPr>
        <p:spPr>
          <a:xfrm>
            <a:off x="430398" y="1849922"/>
            <a:ext cx="2091421" cy="20505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Text Placeholder 5">
            <a:extLst>
              <a:ext uri="{FF2B5EF4-FFF2-40B4-BE49-F238E27FC236}">
                <a16:creationId xmlns:a16="http://schemas.microsoft.com/office/drawing/2014/main" id="{1D9506F6-762F-48C2-80E1-3D9BE378F3F5}"/>
              </a:ext>
            </a:extLst>
          </p:cNvPr>
          <p:cNvSpPr>
            <a:spLocks noGrp="1"/>
          </p:cNvSpPr>
          <p:nvPr>
            <p:ph type="body" sz="half" idx="2"/>
          </p:nvPr>
        </p:nvSpPr>
        <p:spPr>
          <a:xfrm>
            <a:off x="432000" y="1849922"/>
            <a:ext cx="3932237" cy="4019066"/>
          </a:xfrm>
        </p:spPr>
        <p:txBody>
          <a:bodyPr/>
          <a:lstStyle/>
          <a:p>
            <a:pPr algn="just"/>
            <a:r>
              <a:rPr lang="en-GB" sz="1500" b="1" dirty="0"/>
              <a:t>Analysis and Interpretation</a:t>
            </a:r>
          </a:p>
          <a:p>
            <a:pPr marL="342900" indent="-342900" algn="just">
              <a:buFont typeface="+mj-lt"/>
              <a:buAutoNum type="arabicPeriod"/>
            </a:pPr>
            <a:r>
              <a:rPr lang="en-GB" sz="1500" dirty="0"/>
              <a:t>Married clients form the majority at 60.2%</a:t>
            </a:r>
          </a:p>
          <a:p>
            <a:pPr marL="342900" indent="-342900" algn="just">
              <a:buFont typeface="+mj-lt"/>
              <a:buAutoNum type="arabicPeriod"/>
            </a:pPr>
            <a:r>
              <a:rPr lang="en-GB" sz="1500" dirty="0"/>
              <a:t>Single clients represent 28.29%</a:t>
            </a:r>
          </a:p>
          <a:p>
            <a:pPr marL="342900" indent="-342900" algn="just">
              <a:buFont typeface="+mj-lt"/>
              <a:buAutoNum type="arabicPeriod"/>
            </a:pPr>
            <a:r>
              <a:rPr lang="en-GB" sz="1500" dirty="0"/>
              <a:t>Divorced clients account for 11.52%</a:t>
            </a:r>
          </a:p>
          <a:p>
            <a:pPr marL="342900" indent="-342900" algn="just">
              <a:buFont typeface="+mj-lt"/>
              <a:buAutoNum type="arabicPeriod"/>
            </a:pPr>
            <a:r>
              <a:rPr lang="en-GB" sz="1500" dirty="0"/>
              <a:t>Actionable Insights:</a:t>
            </a:r>
          </a:p>
          <a:p>
            <a:pPr algn="just"/>
            <a:endParaRPr lang="en-GB" sz="1500" dirty="0"/>
          </a:p>
          <a:p>
            <a:pPr algn="just"/>
            <a:r>
              <a:rPr lang="en-GB" sz="1500" b="1" dirty="0"/>
              <a:t>Actionable Insights</a:t>
            </a:r>
          </a:p>
          <a:p>
            <a:pPr marL="342900" indent="-342900" algn="just">
              <a:buFont typeface="+mj-lt"/>
              <a:buAutoNum type="arabicPeriod"/>
            </a:pPr>
            <a:r>
              <a:rPr lang="en-GB" sz="1500" dirty="0"/>
              <a:t>Tailor financial products for married couples (e.g., joint accounts, family insurance)</a:t>
            </a:r>
          </a:p>
          <a:p>
            <a:pPr marL="342900" indent="-342900" algn="just">
              <a:buFont typeface="+mj-lt"/>
              <a:buAutoNum type="arabicPeriod"/>
            </a:pPr>
            <a:r>
              <a:rPr lang="en-GB" sz="1500" dirty="0"/>
              <a:t>Develop targeted marketing for each segment</a:t>
            </a:r>
          </a:p>
          <a:p>
            <a:pPr marL="342900" indent="-342900" algn="just">
              <a:buFont typeface="+mj-lt"/>
              <a:buAutoNum type="arabicPeriod"/>
            </a:pPr>
            <a:r>
              <a:rPr lang="en-GB" sz="1500" dirty="0"/>
              <a:t>Consider specialised services for divorced clients (e.g., financial planning post-divorce)</a:t>
            </a:r>
            <a:endParaRPr lang="en-IN" sz="1500" dirty="0"/>
          </a:p>
        </p:txBody>
      </p:sp>
      <p:sp>
        <p:nvSpPr>
          <p:cNvPr id="11" name="Rectangle 10">
            <a:extLst>
              <a:ext uri="{FF2B5EF4-FFF2-40B4-BE49-F238E27FC236}">
                <a16:creationId xmlns:a16="http://schemas.microsoft.com/office/drawing/2014/main" id="{5B5D3EF4-0120-4246-9434-DF7B13331D00}"/>
              </a:ext>
            </a:extLst>
          </p:cNvPr>
          <p:cNvSpPr/>
          <p:nvPr/>
        </p:nvSpPr>
        <p:spPr>
          <a:xfrm>
            <a:off x="9775824" y="6371350"/>
            <a:ext cx="1984136" cy="432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81806529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E4A4B1-D011-479D-881A-5B80C053A516}"/>
              </a:ext>
            </a:extLst>
          </p:cNvPr>
          <p:cNvSpPr>
            <a:spLocks noGrp="1"/>
          </p:cNvSpPr>
          <p:nvPr>
            <p:ph type="title"/>
          </p:nvPr>
        </p:nvSpPr>
        <p:spPr>
          <a:xfrm>
            <a:off x="432000" y="432000"/>
            <a:ext cx="3932037" cy="1054568"/>
          </a:xfrm>
        </p:spPr>
        <p:txBody>
          <a:bodyPr/>
          <a:lstStyle/>
          <a:p>
            <a:r>
              <a:rPr lang="en-IN" sz="3600" dirty="0"/>
              <a:t>Distribution of Clients by Education Level</a:t>
            </a:r>
          </a:p>
        </p:txBody>
      </p:sp>
      <p:sp>
        <p:nvSpPr>
          <p:cNvPr id="4" name="Slide Number Placeholder 3">
            <a:extLst>
              <a:ext uri="{FF2B5EF4-FFF2-40B4-BE49-F238E27FC236}">
                <a16:creationId xmlns:a16="http://schemas.microsoft.com/office/drawing/2014/main" id="{93A5BDA4-FD99-431D-A673-3C45EA1281B2}"/>
              </a:ext>
            </a:extLst>
          </p:cNvPr>
          <p:cNvSpPr>
            <a:spLocks noGrp="1"/>
          </p:cNvSpPr>
          <p:nvPr>
            <p:ph type="sldNum" sz="quarter" idx="33"/>
          </p:nvPr>
        </p:nvSpPr>
        <p:spPr/>
        <p:txBody>
          <a:bodyPr/>
          <a:lstStyle/>
          <a:p>
            <a:fld id="{19B51A1E-902D-48AF-9020-955120F399B6}" type="slidenum">
              <a:rPr lang="en-US" noProof="0" smtClean="0"/>
              <a:pPr/>
              <a:t>13</a:t>
            </a:fld>
            <a:endParaRPr lang="en-US" noProof="0" dirty="0"/>
          </a:p>
        </p:txBody>
      </p:sp>
      <p:pic>
        <p:nvPicPr>
          <p:cNvPr id="8" name="Content Placeholder 7">
            <a:extLst>
              <a:ext uri="{FF2B5EF4-FFF2-40B4-BE49-F238E27FC236}">
                <a16:creationId xmlns:a16="http://schemas.microsoft.com/office/drawing/2014/main" id="{B363CEB7-1017-4646-BD6D-B74E76FAA0A5}"/>
              </a:ext>
            </a:extLst>
          </p:cNvPr>
          <p:cNvPicPr>
            <a:picLocks noGrp="1" noChangeAspect="1"/>
          </p:cNvPicPr>
          <p:nvPr>
            <p:ph idx="1"/>
          </p:nvPr>
        </p:nvPicPr>
        <p:blipFill rotWithShape="1">
          <a:blip r:embed="rId2"/>
          <a:srcRect l="2673" t="278" r="2673" b="278"/>
          <a:stretch/>
        </p:blipFill>
        <p:spPr>
          <a:xfrm>
            <a:off x="4687503" y="606392"/>
            <a:ext cx="7288497" cy="5262595"/>
          </a:xfrm>
          <a:noFill/>
          <a:ln>
            <a:solidFill>
              <a:schemeClr val="bg2">
                <a:lumMod val="75000"/>
              </a:schemeClr>
            </a:solidFill>
          </a:ln>
        </p:spPr>
      </p:pic>
      <p:sp>
        <p:nvSpPr>
          <p:cNvPr id="9" name="Rectangle 8">
            <a:extLst>
              <a:ext uri="{FF2B5EF4-FFF2-40B4-BE49-F238E27FC236}">
                <a16:creationId xmlns:a16="http://schemas.microsoft.com/office/drawing/2014/main" id="{F6F85A4D-8039-4A99-902E-9CAEBF6C7DEB}"/>
              </a:ext>
            </a:extLst>
          </p:cNvPr>
          <p:cNvSpPr/>
          <p:nvPr/>
        </p:nvSpPr>
        <p:spPr>
          <a:xfrm>
            <a:off x="432000" y="1568918"/>
            <a:ext cx="1955065" cy="12512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Rectangle 9">
            <a:extLst>
              <a:ext uri="{FF2B5EF4-FFF2-40B4-BE49-F238E27FC236}">
                <a16:creationId xmlns:a16="http://schemas.microsoft.com/office/drawing/2014/main" id="{DBA99882-9C1E-478F-B7A6-2B27602FAD67}"/>
              </a:ext>
            </a:extLst>
          </p:cNvPr>
          <p:cNvSpPr/>
          <p:nvPr/>
        </p:nvSpPr>
        <p:spPr>
          <a:xfrm>
            <a:off x="430398" y="1849922"/>
            <a:ext cx="2091421" cy="20505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Text Placeholder 5">
            <a:extLst>
              <a:ext uri="{FF2B5EF4-FFF2-40B4-BE49-F238E27FC236}">
                <a16:creationId xmlns:a16="http://schemas.microsoft.com/office/drawing/2014/main" id="{1D9506F6-762F-48C2-80E1-3D9BE378F3F5}"/>
              </a:ext>
            </a:extLst>
          </p:cNvPr>
          <p:cNvSpPr>
            <a:spLocks noGrp="1"/>
          </p:cNvSpPr>
          <p:nvPr>
            <p:ph type="body" sz="half" idx="2"/>
          </p:nvPr>
        </p:nvSpPr>
        <p:spPr>
          <a:xfrm>
            <a:off x="432000" y="1849922"/>
            <a:ext cx="3932237" cy="4019066"/>
          </a:xfrm>
        </p:spPr>
        <p:txBody>
          <a:bodyPr/>
          <a:lstStyle/>
          <a:p>
            <a:pPr algn="just"/>
            <a:r>
              <a:rPr lang="en-GB" sz="1350" b="1" dirty="0"/>
              <a:t>Analysis and Interpretation</a:t>
            </a:r>
          </a:p>
          <a:p>
            <a:pPr marL="342900" indent="-342900" algn="just">
              <a:buFont typeface="+mj-lt"/>
              <a:buAutoNum type="arabicPeriod"/>
            </a:pPr>
            <a:r>
              <a:rPr lang="en-GB" sz="1350" dirty="0"/>
              <a:t>Secondary education is the most common level among clients, with 23,204 individuals.</a:t>
            </a:r>
          </a:p>
          <a:p>
            <a:pPr marL="342900" indent="-342900" algn="just">
              <a:buFont typeface="+mj-lt"/>
              <a:buAutoNum type="arabicPeriod"/>
            </a:pPr>
            <a:r>
              <a:rPr lang="en-GB" sz="1350" dirty="0"/>
              <a:t>Tertiary education follows with 13,301 clients.</a:t>
            </a:r>
          </a:p>
          <a:p>
            <a:pPr marL="342900" indent="-342900" algn="just">
              <a:buFont typeface="+mj-lt"/>
              <a:buAutoNum type="arabicPeriod"/>
            </a:pPr>
            <a:r>
              <a:rPr lang="en-GB" sz="1350" dirty="0"/>
              <a:t>Primary education accounts for 6,851 clients.</a:t>
            </a:r>
          </a:p>
          <a:p>
            <a:pPr marL="342900" indent="-342900" algn="just">
              <a:buFont typeface="+mj-lt"/>
              <a:buAutoNum type="arabicPeriod"/>
            </a:pPr>
            <a:r>
              <a:rPr lang="en-GB" sz="1350" dirty="0"/>
              <a:t>1,857 clients have an unknown education level.</a:t>
            </a:r>
          </a:p>
          <a:p>
            <a:pPr marL="342900" indent="-342900" algn="just">
              <a:buFont typeface="+mj-lt"/>
              <a:buAutoNum type="arabicPeriod"/>
            </a:pPr>
            <a:endParaRPr lang="en-GB" sz="1350" dirty="0"/>
          </a:p>
          <a:p>
            <a:pPr algn="just"/>
            <a:r>
              <a:rPr lang="en-GB" sz="1350" b="1" dirty="0"/>
              <a:t>Actionable Insights</a:t>
            </a:r>
          </a:p>
          <a:p>
            <a:pPr marL="342900" indent="-342900" algn="just">
              <a:buFont typeface="+mj-lt"/>
              <a:buAutoNum type="arabicPeriod"/>
            </a:pPr>
            <a:r>
              <a:rPr lang="en-GB" sz="1350" dirty="0"/>
              <a:t>Focus on financial products and services catering to secondary and tertiary education clients.</a:t>
            </a:r>
          </a:p>
          <a:p>
            <a:pPr marL="342900" indent="-342900" algn="just">
              <a:buFont typeface="+mj-lt"/>
              <a:buAutoNum type="arabicPeriod"/>
            </a:pPr>
            <a:r>
              <a:rPr lang="en-GB" sz="1350" dirty="0"/>
              <a:t>Develop educational programs or financial literacy workshops for clients with primary education.</a:t>
            </a:r>
          </a:p>
          <a:p>
            <a:pPr marL="342900" indent="-342900" algn="just">
              <a:buFont typeface="+mj-lt"/>
              <a:buAutoNum type="arabicPeriod"/>
            </a:pPr>
            <a:r>
              <a:rPr lang="en-GB" sz="1350" dirty="0"/>
              <a:t>Investigate the unknown category to better understand and address their needs.</a:t>
            </a:r>
            <a:endParaRPr lang="en-IN" sz="1350" dirty="0"/>
          </a:p>
        </p:txBody>
      </p:sp>
      <p:sp>
        <p:nvSpPr>
          <p:cNvPr id="11" name="Rectangle 10">
            <a:extLst>
              <a:ext uri="{FF2B5EF4-FFF2-40B4-BE49-F238E27FC236}">
                <a16:creationId xmlns:a16="http://schemas.microsoft.com/office/drawing/2014/main" id="{5B5D3EF4-0120-4246-9434-DF7B13331D00}"/>
              </a:ext>
            </a:extLst>
          </p:cNvPr>
          <p:cNvSpPr/>
          <p:nvPr/>
        </p:nvSpPr>
        <p:spPr>
          <a:xfrm>
            <a:off x="9775824" y="6371350"/>
            <a:ext cx="1984136" cy="432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217892730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E4A4B1-D011-479D-881A-5B80C053A516}"/>
              </a:ext>
            </a:extLst>
          </p:cNvPr>
          <p:cNvSpPr>
            <a:spLocks noGrp="1"/>
          </p:cNvSpPr>
          <p:nvPr>
            <p:ph type="title"/>
          </p:nvPr>
        </p:nvSpPr>
        <p:spPr>
          <a:xfrm>
            <a:off x="432000" y="432000"/>
            <a:ext cx="3932037" cy="1054568"/>
          </a:xfrm>
        </p:spPr>
        <p:txBody>
          <a:bodyPr/>
          <a:lstStyle/>
          <a:p>
            <a:r>
              <a:rPr lang="en-IN" sz="3600" dirty="0"/>
              <a:t>Clients with Credit in Default</a:t>
            </a:r>
          </a:p>
        </p:txBody>
      </p:sp>
      <p:sp>
        <p:nvSpPr>
          <p:cNvPr id="4" name="Slide Number Placeholder 3">
            <a:extLst>
              <a:ext uri="{FF2B5EF4-FFF2-40B4-BE49-F238E27FC236}">
                <a16:creationId xmlns:a16="http://schemas.microsoft.com/office/drawing/2014/main" id="{93A5BDA4-FD99-431D-A673-3C45EA1281B2}"/>
              </a:ext>
            </a:extLst>
          </p:cNvPr>
          <p:cNvSpPr>
            <a:spLocks noGrp="1"/>
          </p:cNvSpPr>
          <p:nvPr>
            <p:ph type="sldNum" sz="quarter" idx="33"/>
          </p:nvPr>
        </p:nvSpPr>
        <p:spPr/>
        <p:txBody>
          <a:bodyPr/>
          <a:lstStyle/>
          <a:p>
            <a:fld id="{19B51A1E-902D-48AF-9020-955120F399B6}" type="slidenum">
              <a:rPr lang="en-US" noProof="0" smtClean="0"/>
              <a:pPr/>
              <a:t>14</a:t>
            </a:fld>
            <a:endParaRPr lang="en-US" noProof="0" dirty="0"/>
          </a:p>
        </p:txBody>
      </p:sp>
      <p:pic>
        <p:nvPicPr>
          <p:cNvPr id="8" name="Content Placeholder 7">
            <a:extLst>
              <a:ext uri="{FF2B5EF4-FFF2-40B4-BE49-F238E27FC236}">
                <a16:creationId xmlns:a16="http://schemas.microsoft.com/office/drawing/2014/main" id="{B363CEB7-1017-4646-BD6D-B74E76FAA0A5}"/>
              </a:ext>
            </a:extLst>
          </p:cNvPr>
          <p:cNvPicPr>
            <a:picLocks noGrp="1" noChangeAspect="1"/>
          </p:cNvPicPr>
          <p:nvPr>
            <p:ph idx="1"/>
          </p:nvPr>
        </p:nvPicPr>
        <p:blipFill rotWithShape="1">
          <a:blip r:embed="rId2"/>
          <a:srcRect l="18553" r="17911"/>
          <a:stretch/>
        </p:blipFill>
        <p:spPr>
          <a:xfrm>
            <a:off x="4658626" y="571099"/>
            <a:ext cx="7082013" cy="5364000"/>
          </a:xfrm>
          <a:noFill/>
          <a:ln>
            <a:solidFill>
              <a:schemeClr val="bg2">
                <a:lumMod val="75000"/>
              </a:schemeClr>
            </a:solidFill>
          </a:ln>
        </p:spPr>
      </p:pic>
      <p:sp>
        <p:nvSpPr>
          <p:cNvPr id="9" name="Rectangle 8">
            <a:extLst>
              <a:ext uri="{FF2B5EF4-FFF2-40B4-BE49-F238E27FC236}">
                <a16:creationId xmlns:a16="http://schemas.microsoft.com/office/drawing/2014/main" id="{F6F85A4D-8039-4A99-902E-9CAEBF6C7DEB}"/>
              </a:ext>
            </a:extLst>
          </p:cNvPr>
          <p:cNvSpPr/>
          <p:nvPr/>
        </p:nvSpPr>
        <p:spPr>
          <a:xfrm>
            <a:off x="432000" y="1568918"/>
            <a:ext cx="1955065" cy="12512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Rectangle 9">
            <a:extLst>
              <a:ext uri="{FF2B5EF4-FFF2-40B4-BE49-F238E27FC236}">
                <a16:creationId xmlns:a16="http://schemas.microsoft.com/office/drawing/2014/main" id="{DBA99882-9C1E-478F-B7A6-2B27602FAD67}"/>
              </a:ext>
            </a:extLst>
          </p:cNvPr>
          <p:cNvSpPr/>
          <p:nvPr/>
        </p:nvSpPr>
        <p:spPr>
          <a:xfrm>
            <a:off x="430398" y="1849922"/>
            <a:ext cx="2091421" cy="20505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Text Placeholder 5">
            <a:extLst>
              <a:ext uri="{FF2B5EF4-FFF2-40B4-BE49-F238E27FC236}">
                <a16:creationId xmlns:a16="http://schemas.microsoft.com/office/drawing/2014/main" id="{1D9506F6-762F-48C2-80E1-3D9BE378F3F5}"/>
              </a:ext>
            </a:extLst>
          </p:cNvPr>
          <p:cNvSpPr>
            <a:spLocks noGrp="1"/>
          </p:cNvSpPr>
          <p:nvPr>
            <p:ph type="body" sz="half" idx="2"/>
          </p:nvPr>
        </p:nvSpPr>
        <p:spPr>
          <a:xfrm>
            <a:off x="432000" y="1849922"/>
            <a:ext cx="3932237" cy="4019066"/>
          </a:xfrm>
        </p:spPr>
        <p:txBody>
          <a:bodyPr/>
          <a:lstStyle/>
          <a:p>
            <a:pPr algn="just"/>
            <a:r>
              <a:rPr lang="en-GB" b="1" dirty="0"/>
              <a:t>Analysis and Interpretation</a:t>
            </a:r>
          </a:p>
          <a:p>
            <a:pPr marL="342900" indent="-342900" algn="just">
              <a:buFont typeface="+mj-lt"/>
              <a:buAutoNum type="arabicPeriod"/>
            </a:pPr>
            <a:r>
              <a:rPr lang="en-GB" dirty="0"/>
              <a:t>Most clients (98.2%) do not have credit in default.</a:t>
            </a:r>
          </a:p>
          <a:p>
            <a:pPr marL="342900" indent="-342900" algn="just">
              <a:buFont typeface="+mj-lt"/>
              <a:buAutoNum type="arabicPeriod"/>
            </a:pPr>
            <a:r>
              <a:rPr lang="en-GB" dirty="0"/>
              <a:t>A small proportion (1.8%) of clients have credit in default.</a:t>
            </a:r>
          </a:p>
          <a:p>
            <a:pPr algn="just"/>
            <a:r>
              <a:rPr lang="en-GB" b="1" dirty="0"/>
              <a:t>Actionable Insights</a:t>
            </a:r>
          </a:p>
          <a:p>
            <a:pPr marL="342900" indent="-342900" algn="just">
              <a:buFont typeface="+mj-lt"/>
              <a:buAutoNum type="arabicPeriod"/>
            </a:pPr>
            <a:r>
              <a:rPr lang="en-GB" dirty="0"/>
              <a:t>Focus on maintaining the low default rate by offering financial education and support.</a:t>
            </a:r>
          </a:p>
          <a:p>
            <a:pPr marL="342900" indent="-342900" algn="just">
              <a:buFont typeface="+mj-lt"/>
              <a:buAutoNum type="arabicPeriod"/>
            </a:pPr>
            <a:r>
              <a:rPr lang="en-GB" dirty="0"/>
              <a:t>Develop targeted interventions to help the small group of clients with credit in default manage their finances better.</a:t>
            </a:r>
            <a:endParaRPr lang="en-IN" dirty="0"/>
          </a:p>
        </p:txBody>
      </p:sp>
      <p:sp>
        <p:nvSpPr>
          <p:cNvPr id="11" name="Rectangle 10">
            <a:extLst>
              <a:ext uri="{FF2B5EF4-FFF2-40B4-BE49-F238E27FC236}">
                <a16:creationId xmlns:a16="http://schemas.microsoft.com/office/drawing/2014/main" id="{5B5D3EF4-0120-4246-9434-DF7B13331D00}"/>
              </a:ext>
            </a:extLst>
          </p:cNvPr>
          <p:cNvSpPr/>
          <p:nvPr/>
        </p:nvSpPr>
        <p:spPr>
          <a:xfrm>
            <a:off x="9775824" y="6371350"/>
            <a:ext cx="1984136" cy="432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171842863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E4A4B1-D011-479D-881A-5B80C053A516}"/>
              </a:ext>
            </a:extLst>
          </p:cNvPr>
          <p:cNvSpPr>
            <a:spLocks noGrp="1"/>
          </p:cNvSpPr>
          <p:nvPr>
            <p:ph type="title"/>
          </p:nvPr>
        </p:nvSpPr>
        <p:spPr>
          <a:xfrm>
            <a:off x="432000" y="432000"/>
            <a:ext cx="3932037" cy="1054568"/>
          </a:xfrm>
        </p:spPr>
        <p:txBody>
          <a:bodyPr/>
          <a:lstStyle/>
          <a:p>
            <a:r>
              <a:rPr lang="en-IN" sz="3600" dirty="0"/>
              <a:t>Average Annual Balance </a:t>
            </a:r>
          </a:p>
        </p:txBody>
      </p:sp>
      <p:sp>
        <p:nvSpPr>
          <p:cNvPr id="4" name="Slide Number Placeholder 3">
            <a:extLst>
              <a:ext uri="{FF2B5EF4-FFF2-40B4-BE49-F238E27FC236}">
                <a16:creationId xmlns:a16="http://schemas.microsoft.com/office/drawing/2014/main" id="{93A5BDA4-FD99-431D-A673-3C45EA1281B2}"/>
              </a:ext>
            </a:extLst>
          </p:cNvPr>
          <p:cNvSpPr>
            <a:spLocks noGrp="1"/>
          </p:cNvSpPr>
          <p:nvPr>
            <p:ph type="sldNum" sz="quarter" idx="33"/>
          </p:nvPr>
        </p:nvSpPr>
        <p:spPr/>
        <p:txBody>
          <a:bodyPr/>
          <a:lstStyle/>
          <a:p>
            <a:fld id="{19B51A1E-902D-48AF-9020-955120F399B6}" type="slidenum">
              <a:rPr lang="en-US" noProof="0" smtClean="0"/>
              <a:pPr/>
              <a:t>15</a:t>
            </a:fld>
            <a:endParaRPr lang="en-US" noProof="0" dirty="0"/>
          </a:p>
        </p:txBody>
      </p:sp>
      <p:pic>
        <p:nvPicPr>
          <p:cNvPr id="8" name="Content Placeholder 7">
            <a:extLst>
              <a:ext uri="{FF2B5EF4-FFF2-40B4-BE49-F238E27FC236}">
                <a16:creationId xmlns:a16="http://schemas.microsoft.com/office/drawing/2014/main" id="{B363CEB7-1017-4646-BD6D-B74E76FAA0A5}"/>
              </a:ext>
            </a:extLst>
          </p:cNvPr>
          <p:cNvPicPr>
            <a:picLocks noGrp="1" noChangeAspect="1"/>
          </p:cNvPicPr>
          <p:nvPr>
            <p:ph idx="1"/>
          </p:nvPr>
        </p:nvPicPr>
        <p:blipFill rotWithShape="1">
          <a:blip r:embed="rId2"/>
          <a:srcRect l="3828" t="-556" r="4730" b="-815"/>
          <a:stretch/>
        </p:blipFill>
        <p:spPr>
          <a:xfrm>
            <a:off x="5062888" y="557128"/>
            <a:ext cx="6894114" cy="5328000"/>
          </a:xfrm>
          <a:noFill/>
          <a:ln>
            <a:solidFill>
              <a:schemeClr val="bg2">
                <a:lumMod val="75000"/>
              </a:schemeClr>
            </a:solidFill>
          </a:ln>
        </p:spPr>
      </p:pic>
      <p:sp>
        <p:nvSpPr>
          <p:cNvPr id="9" name="Rectangle 8">
            <a:extLst>
              <a:ext uri="{FF2B5EF4-FFF2-40B4-BE49-F238E27FC236}">
                <a16:creationId xmlns:a16="http://schemas.microsoft.com/office/drawing/2014/main" id="{F6F85A4D-8039-4A99-902E-9CAEBF6C7DEB}"/>
              </a:ext>
            </a:extLst>
          </p:cNvPr>
          <p:cNvSpPr/>
          <p:nvPr/>
        </p:nvSpPr>
        <p:spPr>
          <a:xfrm>
            <a:off x="432000" y="1568918"/>
            <a:ext cx="1955065" cy="12512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Rectangle 9">
            <a:extLst>
              <a:ext uri="{FF2B5EF4-FFF2-40B4-BE49-F238E27FC236}">
                <a16:creationId xmlns:a16="http://schemas.microsoft.com/office/drawing/2014/main" id="{DBA99882-9C1E-478F-B7A6-2B27602FAD67}"/>
              </a:ext>
            </a:extLst>
          </p:cNvPr>
          <p:cNvSpPr/>
          <p:nvPr/>
        </p:nvSpPr>
        <p:spPr>
          <a:xfrm>
            <a:off x="430398" y="1849922"/>
            <a:ext cx="2091421" cy="20505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Text Placeholder 5">
            <a:extLst>
              <a:ext uri="{FF2B5EF4-FFF2-40B4-BE49-F238E27FC236}">
                <a16:creationId xmlns:a16="http://schemas.microsoft.com/office/drawing/2014/main" id="{1D9506F6-762F-48C2-80E1-3D9BE378F3F5}"/>
              </a:ext>
            </a:extLst>
          </p:cNvPr>
          <p:cNvSpPr>
            <a:spLocks noGrp="1"/>
          </p:cNvSpPr>
          <p:nvPr>
            <p:ph type="body" sz="half" idx="2"/>
          </p:nvPr>
        </p:nvSpPr>
        <p:spPr>
          <a:xfrm>
            <a:off x="432000" y="1849922"/>
            <a:ext cx="4313255" cy="4019066"/>
          </a:xfrm>
        </p:spPr>
        <p:txBody>
          <a:bodyPr/>
          <a:lstStyle/>
          <a:p>
            <a:pPr algn="just"/>
            <a:r>
              <a:rPr lang="en-GB" sz="1150" b="1" dirty="0"/>
              <a:t>Analysis and Interpretation</a:t>
            </a:r>
          </a:p>
          <a:p>
            <a:pPr marL="342900" indent="-342900" algn="just">
              <a:buFont typeface="+mj-lt"/>
              <a:buAutoNum type="arabicPeriod"/>
            </a:pPr>
            <a:r>
              <a:rPr lang="en-GB" sz="1150" dirty="0"/>
              <a:t>The average yearly balance among clients is approximately 1,362 Euros.</a:t>
            </a:r>
          </a:p>
          <a:p>
            <a:pPr marL="342900" indent="-342900" algn="just">
              <a:buFont typeface="+mj-lt"/>
              <a:buAutoNum type="arabicPeriod"/>
            </a:pPr>
            <a:r>
              <a:rPr lang="en-GB" sz="1150" dirty="0"/>
              <a:t>The distribution is highly skewed, with a standard deviation of 3,045 Euros.</a:t>
            </a:r>
          </a:p>
          <a:p>
            <a:pPr marL="342900" indent="-342900" algn="just">
              <a:buFont typeface="+mj-lt"/>
              <a:buAutoNum type="arabicPeriod"/>
            </a:pPr>
            <a:r>
              <a:rPr lang="en-GB" sz="1150" dirty="0"/>
              <a:t>The minimum balance is -8,019 Euros, indicating some clients have negative balances.</a:t>
            </a:r>
          </a:p>
          <a:p>
            <a:pPr marL="342900" indent="-342900" algn="just">
              <a:buFont typeface="+mj-lt"/>
              <a:buAutoNum type="arabicPeriod"/>
            </a:pPr>
            <a:r>
              <a:rPr lang="en-GB" sz="1150" dirty="0"/>
              <a:t>The maximum balance is 102,127 Euros, showing a wide range of balances.</a:t>
            </a:r>
          </a:p>
          <a:p>
            <a:pPr marL="342900" indent="-342900" algn="just">
              <a:buFont typeface="+mj-lt"/>
              <a:buAutoNum type="arabicPeriod"/>
            </a:pPr>
            <a:r>
              <a:rPr lang="en-GB" sz="1150" dirty="0"/>
              <a:t>The median balance is 448.5 Euros, with the 25th percentile at 72 Euros and the 75th percentile at 1,428 Euros.</a:t>
            </a:r>
          </a:p>
          <a:p>
            <a:pPr algn="just"/>
            <a:r>
              <a:rPr lang="en-GB" sz="1150" b="1" dirty="0"/>
              <a:t>Actionable Insights</a:t>
            </a:r>
            <a:endParaRPr lang="en-GB" sz="1150" dirty="0"/>
          </a:p>
          <a:p>
            <a:pPr marL="342900" indent="-342900" algn="just">
              <a:buFont typeface="+mj-lt"/>
              <a:buAutoNum type="arabicPeriod"/>
            </a:pPr>
            <a:r>
              <a:rPr lang="en-GB" sz="1150" dirty="0"/>
              <a:t>Focus on clients with negative or low balances to provide financial advice and support.</a:t>
            </a:r>
          </a:p>
          <a:p>
            <a:pPr marL="342900" indent="-342900" algn="just">
              <a:buFont typeface="+mj-lt"/>
              <a:buAutoNum type="arabicPeriod"/>
            </a:pPr>
            <a:r>
              <a:rPr lang="en-GB" sz="1150" dirty="0"/>
              <a:t>Develop targeted savings programs for clients with higher balances to encourage investment and growth.</a:t>
            </a:r>
          </a:p>
          <a:p>
            <a:pPr marL="342900" indent="-342900" algn="just">
              <a:buFont typeface="+mj-lt"/>
              <a:buAutoNum type="arabicPeriod"/>
            </a:pPr>
            <a:r>
              <a:rPr lang="en-GB" sz="1150" dirty="0"/>
              <a:t>Investigate the reasons behind the high standard deviation and address any underlying issues.</a:t>
            </a:r>
            <a:endParaRPr lang="en-IN" sz="1150" dirty="0"/>
          </a:p>
        </p:txBody>
      </p:sp>
      <p:sp>
        <p:nvSpPr>
          <p:cNvPr id="11" name="Rectangle 10">
            <a:extLst>
              <a:ext uri="{FF2B5EF4-FFF2-40B4-BE49-F238E27FC236}">
                <a16:creationId xmlns:a16="http://schemas.microsoft.com/office/drawing/2014/main" id="{5B5D3EF4-0120-4246-9434-DF7B13331D00}"/>
              </a:ext>
            </a:extLst>
          </p:cNvPr>
          <p:cNvSpPr/>
          <p:nvPr/>
        </p:nvSpPr>
        <p:spPr>
          <a:xfrm>
            <a:off x="9775824" y="6371350"/>
            <a:ext cx="1984136" cy="432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43974545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E4A4B1-D011-479D-881A-5B80C053A516}"/>
              </a:ext>
            </a:extLst>
          </p:cNvPr>
          <p:cNvSpPr>
            <a:spLocks noGrp="1"/>
          </p:cNvSpPr>
          <p:nvPr>
            <p:ph type="title"/>
          </p:nvPr>
        </p:nvSpPr>
        <p:spPr>
          <a:xfrm>
            <a:off x="432000" y="432000"/>
            <a:ext cx="3932037" cy="1054568"/>
          </a:xfrm>
        </p:spPr>
        <p:txBody>
          <a:bodyPr/>
          <a:lstStyle/>
          <a:p>
            <a:r>
              <a:rPr lang="en-IN" sz="3600" dirty="0"/>
              <a:t>Clients with Housing Loans</a:t>
            </a:r>
          </a:p>
        </p:txBody>
      </p:sp>
      <p:sp>
        <p:nvSpPr>
          <p:cNvPr id="4" name="Slide Number Placeholder 3">
            <a:extLst>
              <a:ext uri="{FF2B5EF4-FFF2-40B4-BE49-F238E27FC236}">
                <a16:creationId xmlns:a16="http://schemas.microsoft.com/office/drawing/2014/main" id="{93A5BDA4-FD99-431D-A673-3C45EA1281B2}"/>
              </a:ext>
            </a:extLst>
          </p:cNvPr>
          <p:cNvSpPr>
            <a:spLocks noGrp="1"/>
          </p:cNvSpPr>
          <p:nvPr>
            <p:ph type="sldNum" sz="quarter" idx="33"/>
          </p:nvPr>
        </p:nvSpPr>
        <p:spPr/>
        <p:txBody>
          <a:bodyPr/>
          <a:lstStyle/>
          <a:p>
            <a:fld id="{19B51A1E-902D-48AF-9020-955120F399B6}" type="slidenum">
              <a:rPr lang="en-US" noProof="0" smtClean="0"/>
              <a:pPr/>
              <a:t>16</a:t>
            </a:fld>
            <a:endParaRPr lang="en-US" noProof="0" dirty="0"/>
          </a:p>
        </p:txBody>
      </p:sp>
      <p:pic>
        <p:nvPicPr>
          <p:cNvPr id="8" name="Content Placeholder 7">
            <a:extLst>
              <a:ext uri="{FF2B5EF4-FFF2-40B4-BE49-F238E27FC236}">
                <a16:creationId xmlns:a16="http://schemas.microsoft.com/office/drawing/2014/main" id="{B363CEB7-1017-4646-BD6D-B74E76FAA0A5}"/>
              </a:ext>
            </a:extLst>
          </p:cNvPr>
          <p:cNvPicPr>
            <a:picLocks noGrp="1" noChangeAspect="1"/>
          </p:cNvPicPr>
          <p:nvPr>
            <p:ph idx="1"/>
          </p:nvPr>
        </p:nvPicPr>
        <p:blipFill>
          <a:blip r:embed="rId2"/>
          <a:srcRect l="18232" r="18232"/>
          <a:stretch/>
        </p:blipFill>
        <p:spPr>
          <a:xfrm>
            <a:off x="4841506" y="571099"/>
            <a:ext cx="6899133" cy="5364000"/>
          </a:xfrm>
          <a:noFill/>
          <a:ln>
            <a:solidFill>
              <a:schemeClr val="bg2">
                <a:lumMod val="75000"/>
              </a:schemeClr>
            </a:solidFill>
          </a:ln>
        </p:spPr>
      </p:pic>
      <p:sp>
        <p:nvSpPr>
          <p:cNvPr id="9" name="Rectangle 8">
            <a:extLst>
              <a:ext uri="{FF2B5EF4-FFF2-40B4-BE49-F238E27FC236}">
                <a16:creationId xmlns:a16="http://schemas.microsoft.com/office/drawing/2014/main" id="{F6F85A4D-8039-4A99-902E-9CAEBF6C7DEB}"/>
              </a:ext>
            </a:extLst>
          </p:cNvPr>
          <p:cNvSpPr/>
          <p:nvPr/>
        </p:nvSpPr>
        <p:spPr>
          <a:xfrm>
            <a:off x="432000" y="1568918"/>
            <a:ext cx="1955065" cy="12512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Rectangle 9">
            <a:extLst>
              <a:ext uri="{FF2B5EF4-FFF2-40B4-BE49-F238E27FC236}">
                <a16:creationId xmlns:a16="http://schemas.microsoft.com/office/drawing/2014/main" id="{DBA99882-9C1E-478F-B7A6-2B27602FAD67}"/>
              </a:ext>
            </a:extLst>
          </p:cNvPr>
          <p:cNvSpPr/>
          <p:nvPr/>
        </p:nvSpPr>
        <p:spPr>
          <a:xfrm>
            <a:off x="430398" y="1849922"/>
            <a:ext cx="2091421" cy="20505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Text Placeholder 5">
            <a:extLst>
              <a:ext uri="{FF2B5EF4-FFF2-40B4-BE49-F238E27FC236}">
                <a16:creationId xmlns:a16="http://schemas.microsoft.com/office/drawing/2014/main" id="{1D9506F6-762F-48C2-80E1-3D9BE378F3F5}"/>
              </a:ext>
            </a:extLst>
          </p:cNvPr>
          <p:cNvSpPr>
            <a:spLocks noGrp="1"/>
          </p:cNvSpPr>
          <p:nvPr>
            <p:ph type="body" sz="half" idx="2"/>
          </p:nvPr>
        </p:nvSpPr>
        <p:spPr>
          <a:xfrm>
            <a:off x="432000" y="1849922"/>
            <a:ext cx="3932237" cy="4019066"/>
          </a:xfrm>
        </p:spPr>
        <p:txBody>
          <a:bodyPr/>
          <a:lstStyle/>
          <a:p>
            <a:pPr algn="just"/>
            <a:r>
              <a:rPr lang="en-GB" b="1" i="0" dirty="0">
                <a:solidFill>
                  <a:srgbClr val="020817"/>
                </a:solidFill>
                <a:effectLst/>
              </a:rPr>
              <a:t>Analysis</a:t>
            </a:r>
          </a:p>
          <a:p>
            <a:pPr marL="342900" indent="-342900" algn="just">
              <a:buFont typeface="+mj-lt"/>
              <a:buAutoNum type="arabicPeriod"/>
            </a:pPr>
            <a:r>
              <a:rPr lang="en-GB" b="0" i="0" dirty="0">
                <a:solidFill>
                  <a:srgbClr val="020817"/>
                </a:solidFill>
                <a:effectLst/>
              </a:rPr>
              <a:t>55.6% of clients have housing loans</a:t>
            </a:r>
          </a:p>
          <a:p>
            <a:pPr marL="342900" indent="-342900" algn="just">
              <a:buFont typeface="+mj-lt"/>
              <a:buAutoNum type="arabicPeriod"/>
            </a:pPr>
            <a:r>
              <a:rPr lang="en-GB" b="0" i="0" dirty="0">
                <a:solidFill>
                  <a:srgbClr val="020817"/>
                </a:solidFill>
                <a:effectLst/>
              </a:rPr>
              <a:t>44.4% of clients do not have housing loans</a:t>
            </a:r>
          </a:p>
          <a:p>
            <a:pPr algn="just"/>
            <a:r>
              <a:rPr lang="en-GB" b="1" i="0" dirty="0">
                <a:solidFill>
                  <a:srgbClr val="020817"/>
                </a:solidFill>
                <a:effectLst/>
              </a:rPr>
              <a:t>Actionable insights</a:t>
            </a:r>
          </a:p>
          <a:p>
            <a:pPr marL="342900" indent="-342900" algn="just">
              <a:buFont typeface="+mj-lt"/>
              <a:buAutoNum type="arabicPeriod"/>
            </a:pPr>
            <a:r>
              <a:rPr lang="en-GB" b="0" i="0" dirty="0">
                <a:solidFill>
                  <a:srgbClr val="020817"/>
                </a:solidFill>
                <a:effectLst/>
              </a:rPr>
              <a:t>Develop targeted products for clients without housing loans</a:t>
            </a:r>
          </a:p>
          <a:p>
            <a:pPr marL="342900" indent="-342900" algn="just">
              <a:buFont typeface="+mj-lt"/>
              <a:buAutoNum type="arabicPeriod"/>
            </a:pPr>
            <a:r>
              <a:rPr lang="en-GB" b="0" i="0" dirty="0">
                <a:solidFill>
                  <a:srgbClr val="020817"/>
                </a:solidFill>
                <a:effectLst/>
              </a:rPr>
              <a:t>Assess risks and opportunities in the housing loan portfolio</a:t>
            </a:r>
          </a:p>
          <a:p>
            <a:pPr algn="just"/>
            <a:endParaRPr lang="en-IN" dirty="0"/>
          </a:p>
        </p:txBody>
      </p:sp>
      <p:sp>
        <p:nvSpPr>
          <p:cNvPr id="11" name="Rectangle 10">
            <a:extLst>
              <a:ext uri="{FF2B5EF4-FFF2-40B4-BE49-F238E27FC236}">
                <a16:creationId xmlns:a16="http://schemas.microsoft.com/office/drawing/2014/main" id="{5B5D3EF4-0120-4246-9434-DF7B13331D00}"/>
              </a:ext>
            </a:extLst>
          </p:cNvPr>
          <p:cNvSpPr/>
          <p:nvPr/>
        </p:nvSpPr>
        <p:spPr>
          <a:xfrm>
            <a:off x="9775824" y="6371350"/>
            <a:ext cx="1984136" cy="432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255676795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E4A4B1-D011-479D-881A-5B80C053A516}"/>
              </a:ext>
            </a:extLst>
          </p:cNvPr>
          <p:cNvSpPr>
            <a:spLocks noGrp="1"/>
          </p:cNvSpPr>
          <p:nvPr>
            <p:ph type="title"/>
          </p:nvPr>
        </p:nvSpPr>
        <p:spPr>
          <a:xfrm>
            <a:off x="432000" y="432000"/>
            <a:ext cx="3932037" cy="1054568"/>
          </a:xfrm>
        </p:spPr>
        <p:txBody>
          <a:bodyPr/>
          <a:lstStyle/>
          <a:p>
            <a:r>
              <a:rPr lang="en-IN" sz="3600" dirty="0"/>
              <a:t>Clients with Personal Loans</a:t>
            </a:r>
          </a:p>
        </p:txBody>
      </p:sp>
      <p:sp>
        <p:nvSpPr>
          <p:cNvPr id="4" name="Slide Number Placeholder 3">
            <a:extLst>
              <a:ext uri="{FF2B5EF4-FFF2-40B4-BE49-F238E27FC236}">
                <a16:creationId xmlns:a16="http://schemas.microsoft.com/office/drawing/2014/main" id="{93A5BDA4-FD99-431D-A673-3C45EA1281B2}"/>
              </a:ext>
            </a:extLst>
          </p:cNvPr>
          <p:cNvSpPr>
            <a:spLocks noGrp="1"/>
          </p:cNvSpPr>
          <p:nvPr>
            <p:ph type="sldNum" sz="quarter" idx="33"/>
          </p:nvPr>
        </p:nvSpPr>
        <p:spPr/>
        <p:txBody>
          <a:bodyPr/>
          <a:lstStyle/>
          <a:p>
            <a:fld id="{19B51A1E-902D-48AF-9020-955120F399B6}" type="slidenum">
              <a:rPr lang="en-US" noProof="0" smtClean="0"/>
              <a:pPr/>
              <a:t>17</a:t>
            </a:fld>
            <a:endParaRPr lang="en-US" noProof="0" dirty="0"/>
          </a:p>
        </p:txBody>
      </p:sp>
      <p:pic>
        <p:nvPicPr>
          <p:cNvPr id="8" name="Content Placeholder 7">
            <a:extLst>
              <a:ext uri="{FF2B5EF4-FFF2-40B4-BE49-F238E27FC236}">
                <a16:creationId xmlns:a16="http://schemas.microsoft.com/office/drawing/2014/main" id="{B363CEB7-1017-4646-BD6D-B74E76FAA0A5}"/>
              </a:ext>
            </a:extLst>
          </p:cNvPr>
          <p:cNvPicPr>
            <a:picLocks noGrp="1" noChangeAspect="1"/>
          </p:cNvPicPr>
          <p:nvPr>
            <p:ph idx="1"/>
          </p:nvPr>
        </p:nvPicPr>
        <p:blipFill>
          <a:blip r:embed="rId2"/>
          <a:srcRect l="18232" r="18232"/>
          <a:stretch/>
        </p:blipFill>
        <p:spPr>
          <a:xfrm>
            <a:off x="4612640" y="571099"/>
            <a:ext cx="7128000" cy="5364000"/>
          </a:xfrm>
          <a:noFill/>
          <a:ln>
            <a:solidFill>
              <a:schemeClr val="bg2">
                <a:lumMod val="75000"/>
              </a:schemeClr>
            </a:solidFill>
          </a:ln>
        </p:spPr>
      </p:pic>
      <p:sp>
        <p:nvSpPr>
          <p:cNvPr id="9" name="Rectangle 8">
            <a:extLst>
              <a:ext uri="{FF2B5EF4-FFF2-40B4-BE49-F238E27FC236}">
                <a16:creationId xmlns:a16="http://schemas.microsoft.com/office/drawing/2014/main" id="{F6F85A4D-8039-4A99-902E-9CAEBF6C7DEB}"/>
              </a:ext>
            </a:extLst>
          </p:cNvPr>
          <p:cNvSpPr/>
          <p:nvPr/>
        </p:nvSpPr>
        <p:spPr>
          <a:xfrm>
            <a:off x="432000" y="1568918"/>
            <a:ext cx="1955065" cy="12512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Rectangle 9">
            <a:extLst>
              <a:ext uri="{FF2B5EF4-FFF2-40B4-BE49-F238E27FC236}">
                <a16:creationId xmlns:a16="http://schemas.microsoft.com/office/drawing/2014/main" id="{DBA99882-9C1E-478F-B7A6-2B27602FAD67}"/>
              </a:ext>
            </a:extLst>
          </p:cNvPr>
          <p:cNvSpPr/>
          <p:nvPr/>
        </p:nvSpPr>
        <p:spPr>
          <a:xfrm>
            <a:off x="430398" y="1849922"/>
            <a:ext cx="2091421" cy="20505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Text Placeholder 5">
            <a:extLst>
              <a:ext uri="{FF2B5EF4-FFF2-40B4-BE49-F238E27FC236}">
                <a16:creationId xmlns:a16="http://schemas.microsoft.com/office/drawing/2014/main" id="{1D9506F6-762F-48C2-80E1-3D9BE378F3F5}"/>
              </a:ext>
            </a:extLst>
          </p:cNvPr>
          <p:cNvSpPr>
            <a:spLocks noGrp="1"/>
          </p:cNvSpPr>
          <p:nvPr>
            <p:ph type="body" sz="half" idx="2"/>
          </p:nvPr>
        </p:nvSpPr>
        <p:spPr>
          <a:xfrm>
            <a:off x="432000" y="1849922"/>
            <a:ext cx="3932237" cy="4019066"/>
          </a:xfrm>
        </p:spPr>
        <p:txBody>
          <a:bodyPr/>
          <a:lstStyle/>
          <a:p>
            <a:pPr algn="just"/>
            <a:r>
              <a:rPr lang="en-GB" b="1" i="0" dirty="0">
                <a:solidFill>
                  <a:srgbClr val="020817"/>
                </a:solidFill>
                <a:effectLst/>
              </a:rPr>
              <a:t>Analysis</a:t>
            </a:r>
          </a:p>
          <a:p>
            <a:pPr marL="342900" indent="-342900" algn="just">
              <a:buFont typeface="+mj-lt"/>
              <a:buAutoNum type="arabicPeriod"/>
            </a:pPr>
            <a:r>
              <a:rPr lang="en-GB" b="0" i="0" dirty="0">
                <a:solidFill>
                  <a:srgbClr val="020817"/>
                </a:solidFill>
                <a:effectLst/>
              </a:rPr>
              <a:t>84% of clients do not have personal loans.</a:t>
            </a:r>
          </a:p>
          <a:p>
            <a:pPr marL="342900" indent="-342900" algn="just">
              <a:buFont typeface="+mj-lt"/>
              <a:buAutoNum type="arabicPeriod"/>
            </a:pPr>
            <a:r>
              <a:rPr lang="en-GB" b="0" i="0" dirty="0">
                <a:solidFill>
                  <a:srgbClr val="020817"/>
                </a:solidFill>
                <a:effectLst/>
              </a:rPr>
              <a:t>16% of clients have personal loans.</a:t>
            </a:r>
          </a:p>
          <a:p>
            <a:pPr algn="just"/>
            <a:r>
              <a:rPr lang="en-GB" b="1" i="0" dirty="0">
                <a:solidFill>
                  <a:srgbClr val="020817"/>
                </a:solidFill>
                <a:effectLst/>
              </a:rPr>
              <a:t>Actionable insights</a:t>
            </a:r>
          </a:p>
          <a:p>
            <a:pPr marL="342900" indent="-342900" algn="just">
              <a:buFont typeface="+mj-lt"/>
              <a:buAutoNum type="arabicPeriod"/>
            </a:pPr>
            <a:r>
              <a:rPr lang="en-GB" b="0" i="0" dirty="0">
                <a:solidFill>
                  <a:srgbClr val="020817"/>
                </a:solidFill>
                <a:effectLst/>
              </a:rPr>
              <a:t>Develop targeted marketing strategies for clients without personal loans to offer them suitable loan products.</a:t>
            </a:r>
          </a:p>
          <a:p>
            <a:pPr marL="342900" indent="-342900" algn="just">
              <a:buFont typeface="+mj-lt"/>
              <a:buAutoNum type="arabicPeriod"/>
            </a:pPr>
            <a:r>
              <a:rPr lang="en-GB" b="0" i="0" dirty="0">
                <a:solidFill>
                  <a:srgbClr val="020817"/>
                </a:solidFill>
                <a:effectLst/>
              </a:rPr>
              <a:t>Assess clients’ risk profiles with personal loans and provide financial advice to manage their loans effectively.</a:t>
            </a:r>
          </a:p>
          <a:p>
            <a:pPr algn="just"/>
            <a:endParaRPr lang="en-IN" dirty="0"/>
          </a:p>
        </p:txBody>
      </p:sp>
      <p:sp>
        <p:nvSpPr>
          <p:cNvPr id="11" name="Rectangle 10">
            <a:extLst>
              <a:ext uri="{FF2B5EF4-FFF2-40B4-BE49-F238E27FC236}">
                <a16:creationId xmlns:a16="http://schemas.microsoft.com/office/drawing/2014/main" id="{5B5D3EF4-0120-4246-9434-DF7B13331D00}"/>
              </a:ext>
            </a:extLst>
          </p:cNvPr>
          <p:cNvSpPr/>
          <p:nvPr/>
        </p:nvSpPr>
        <p:spPr>
          <a:xfrm>
            <a:off x="9775824" y="6371350"/>
            <a:ext cx="1984136" cy="432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316273026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E4A4B1-D011-479D-881A-5B80C053A516}"/>
              </a:ext>
            </a:extLst>
          </p:cNvPr>
          <p:cNvSpPr>
            <a:spLocks noGrp="1"/>
          </p:cNvSpPr>
          <p:nvPr>
            <p:ph type="title"/>
          </p:nvPr>
        </p:nvSpPr>
        <p:spPr>
          <a:xfrm>
            <a:off x="432000" y="432000"/>
            <a:ext cx="3932037" cy="1054568"/>
          </a:xfrm>
        </p:spPr>
        <p:txBody>
          <a:bodyPr/>
          <a:lstStyle/>
          <a:p>
            <a:r>
              <a:rPr lang="en-IN" sz="3600" dirty="0"/>
              <a:t>Communication Channels Used</a:t>
            </a:r>
          </a:p>
        </p:txBody>
      </p:sp>
      <p:sp>
        <p:nvSpPr>
          <p:cNvPr id="4" name="Slide Number Placeholder 3">
            <a:extLst>
              <a:ext uri="{FF2B5EF4-FFF2-40B4-BE49-F238E27FC236}">
                <a16:creationId xmlns:a16="http://schemas.microsoft.com/office/drawing/2014/main" id="{93A5BDA4-FD99-431D-A673-3C45EA1281B2}"/>
              </a:ext>
            </a:extLst>
          </p:cNvPr>
          <p:cNvSpPr>
            <a:spLocks noGrp="1"/>
          </p:cNvSpPr>
          <p:nvPr>
            <p:ph type="sldNum" sz="quarter" idx="33"/>
          </p:nvPr>
        </p:nvSpPr>
        <p:spPr/>
        <p:txBody>
          <a:bodyPr/>
          <a:lstStyle/>
          <a:p>
            <a:fld id="{19B51A1E-902D-48AF-9020-955120F399B6}" type="slidenum">
              <a:rPr lang="en-US" noProof="0" smtClean="0"/>
              <a:pPr/>
              <a:t>18</a:t>
            </a:fld>
            <a:endParaRPr lang="en-US" noProof="0" dirty="0"/>
          </a:p>
        </p:txBody>
      </p:sp>
      <p:pic>
        <p:nvPicPr>
          <p:cNvPr id="8" name="Content Placeholder 7">
            <a:extLst>
              <a:ext uri="{FF2B5EF4-FFF2-40B4-BE49-F238E27FC236}">
                <a16:creationId xmlns:a16="http://schemas.microsoft.com/office/drawing/2014/main" id="{B363CEB7-1017-4646-BD6D-B74E76FAA0A5}"/>
              </a:ext>
            </a:extLst>
          </p:cNvPr>
          <p:cNvPicPr>
            <a:picLocks noGrp="1" noChangeAspect="1"/>
          </p:cNvPicPr>
          <p:nvPr>
            <p:ph idx="1"/>
          </p:nvPr>
        </p:nvPicPr>
        <p:blipFill rotWithShape="1">
          <a:blip r:embed="rId2"/>
          <a:srcRect l="1768" r="2698"/>
          <a:stretch/>
        </p:blipFill>
        <p:spPr>
          <a:xfrm>
            <a:off x="4668253" y="606392"/>
            <a:ext cx="7307747" cy="5262595"/>
          </a:xfrm>
          <a:noFill/>
          <a:ln>
            <a:solidFill>
              <a:schemeClr val="bg2">
                <a:lumMod val="75000"/>
              </a:schemeClr>
            </a:solidFill>
          </a:ln>
        </p:spPr>
      </p:pic>
      <p:sp>
        <p:nvSpPr>
          <p:cNvPr id="9" name="Rectangle 8">
            <a:extLst>
              <a:ext uri="{FF2B5EF4-FFF2-40B4-BE49-F238E27FC236}">
                <a16:creationId xmlns:a16="http://schemas.microsoft.com/office/drawing/2014/main" id="{F6F85A4D-8039-4A99-902E-9CAEBF6C7DEB}"/>
              </a:ext>
            </a:extLst>
          </p:cNvPr>
          <p:cNvSpPr/>
          <p:nvPr/>
        </p:nvSpPr>
        <p:spPr>
          <a:xfrm>
            <a:off x="432000" y="1568918"/>
            <a:ext cx="1955065" cy="12512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Rectangle 9">
            <a:extLst>
              <a:ext uri="{FF2B5EF4-FFF2-40B4-BE49-F238E27FC236}">
                <a16:creationId xmlns:a16="http://schemas.microsoft.com/office/drawing/2014/main" id="{DBA99882-9C1E-478F-B7A6-2B27602FAD67}"/>
              </a:ext>
            </a:extLst>
          </p:cNvPr>
          <p:cNvSpPr/>
          <p:nvPr/>
        </p:nvSpPr>
        <p:spPr>
          <a:xfrm>
            <a:off x="430398" y="1849922"/>
            <a:ext cx="2091421" cy="20505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Text Placeholder 5">
            <a:extLst>
              <a:ext uri="{FF2B5EF4-FFF2-40B4-BE49-F238E27FC236}">
                <a16:creationId xmlns:a16="http://schemas.microsoft.com/office/drawing/2014/main" id="{1D9506F6-762F-48C2-80E1-3D9BE378F3F5}"/>
              </a:ext>
            </a:extLst>
          </p:cNvPr>
          <p:cNvSpPr>
            <a:spLocks noGrp="1"/>
          </p:cNvSpPr>
          <p:nvPr>
            <p:ph type="body" sz="half" idx="2"/>
          </p:nvPr>
        </p:nvSpPr>
        <p:spPr>
          <a:xfrm>
            <a:off x="432000" y="1849922"/>
            <a:ext cx="3932237" cy="4019066"/>
          </a:xfrm>
        </p:spPr>
        <p:txBody>
          <a:bodyPr/>
          <a:lstStyle/>
          <a:p>
            <a:pPr algn="just"/>
            <a:r>
              <a:rPr lang="en-GB" sz="1400" b="1" i="0" dirty="0">
                <a:solidFill>
                  <a:srgbClr val="020817"/>
                </a:solidFill>
                <a:effectLst/>
              </a:rPr>
              <a:t>Analysis</a:t>
            </a:r>
          </a:p>
          <a:p>
            <a:pPr marL="342900" indent="-342900" algn="just">
              <a:buFont typeface="+mj-lt"/>
              <a:buAutoNum type="arabicPeriod"/>
            </a:pPr>
            <a:r>
              <a:rPr lang="en-GB" sz="1400" b="0" i="0" dirty="0">
                <a:solidFill>
                  <a:srgbClr val="020817"/>
                </a:solidFill>
                <a:effectLst/>
              </a:rPr>
              <a:t>The majority of clients (64.8%) are contacted via cellular.</a:t>
            </a:r>
          </a:p>
          <a:p>
            <a:pPr marL="342900" indent="-342900" algn="just">
              <a:buFont typeface="+mj-lt"/>
              <a:buAutoNum type="arabicPeriod"/>
            </a:pPr>
            <a:r>
              <a:rPr lang="en-GB" sz="1400" b="0" i="0" dirty="0">
                <a:solidFill>
                  <a:srgbClr val="020817"/>
                </a:solidFill>
                <a:effectLst/>
              </a:rPr>
              <a:t>28.8% of clients have an unknown contact type.</a:t>
            </a:r>
          </a:p>
          <a:p>
            <a:pPr marL="342900" indent="-342900" algn="just">
              <a:buFont typeface="+mj-lt"/>
              <a:buAutoNum type="arabicPeriod"/>
            </a:pPr>
            <a:r>
              <a:rPr lang="en-GB" sz="1400" b="0" i="0" dirty="0">
                <a:solidFill>
                  <a:srgbClr val="020817"/>
                </a:solidFill>
                <a:effectLst/>
              </a:rPr>
              <a:t>Only 6.4% of clients are contacted via telephone.</a:t>
            </a:r>
          </a:p>
          <a:p>
            <a:pPr algn="just"/>
            <a:r>
              <a:rPr lang="en-GB" sz="1400" b="1" i="0" dirty="0">
                <a:solidFill>
                  <a:srgbClr val="020817"/>
                </a:solidFill>
                <a:effectLst/>
              </a:rPr>
              <a:t>Actionable insights</a:t>
            </a:r>
          </a:p>
          <a:p>
            <a:pPr marL="342900" indent="-342900" algn="just">
              <a:buFont typeface="+mj-lt"/>
              <a:buAutoNum type="arabicPeriod"/>
            </a:pPr>
            <a:r>
              <a:rPr lang="en-GB" sz="1400" b="0" i="0" dirty="0">
                <a:solidFill>
                  <a:srgbClr val="020817"/>
                </a:solidFill>
                <a:effectLst/>
              </a:rPr>
              <a:t>Focus on improving the quality and reach of cellular communication, as it is the most used method.</a:t>
            </a:r>
          </a:p>
          <a:p>
            <a:pPr marL="342900" indent="-342900" algn="just">
              <a:buFont typeface="+mj-lt"/>
              <a:buAutoNum type="arabicPeriod"/>
            </a:pPr>
            <a:r>
              <a:rPr lang="en-GB" sz="1400" b="0" i="0" dirty="0">
                <a:solidFill>
                  <a:srgbClr val="020817"/>
                </a:solidFill>
                <a:effectLst/>
              </a:rPr>
              <a:t>Investigate the reasons behind the many unknown contact types and update client contact information.</a:t>
            </a:r>
          </a:p>
          <a:p>
            <a:pPr marL="342900" indent="-342900" algn="just">
              <a:buFont typeface="+mj-lt"/>
              <a:buAutoNum type="arabicPeriod"/>
            </a:pPr>
            <a:r>
              <a:rPr lang="en-GB" sz="1400" b="0" i="0" dirty="0">
                <a:solidFill>
                  <a:srgbClr val="020817"/>
                </a:solidFill>
                <a:effectLst/>
              </a:rPr>
              <a:t>Consider strategies to increase the effectiveness of telephone communication for the small percentage of clients who prefer it.</a:t>
            </a:r>
          </a:p>
          <a:p>
            <a:pPr algn="just"/>
            <a:endParaRPr lang="en-IN" sz="1400" dirty="0"/>
          </a:p>
        </p:txBody>
      </p:sp>
      <p:sp>
        <p:nvSpPr>
          <p:cNvPr id="11" name="Rectangle 10">
            <a:extLst>
              <a:ext uri="{FF2B5EF4-FFF2-40B4-BE49-F238E27FC236}">
                <a16:creationId xmlns:a16="http://schemas.microsoft.com/office/drawing/2014/main" id="{5B5D3EF4-0120-4246-9434-DF7B13331D00}"/>
              </a:ext>
            </a:extLst>
          </p:cNvPr>
          <p:cNvSpPr/>
          <p:nvPr/>
        </p:nvSpPr>
        <p:spPr>
          <a:xfrm>
            <a:off x="9775824" y="6371350"/>
            <a:ext cx="1984136" cy="432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358819004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E4A4B1-D011-479D-881A-5B80C053A516}"/>
              </a:ext>
            </a:extLst>
          </p:cNvPr>
          <p:cNvSpPr>
            <a:spLocks noGrp="1"/>
          </p:cNvSpPr>
          <p:nvPr>
            <p:ph type="title"/>
          </p:nvPr>
        </p:nvSpPr>
        <p:spPr>
          <a:xfrm>
            <a:off x="432000" y="432000"/>
            <a:ext cx="3932037" cy="1054568"/>
          </a:xfrm>
        </p:spPr>
        <p:txBody>
          <a:bodyPr/>
          <a:lstStyle/>
          <a:p>
            <a:r>
              <a:rPr lang="en-IN" sz="3600" dirty="0"/>
              <a:t>Distribution of Last Contact Day</a:t>
            </a:r>
          </a:p>
        </p:txBody>
      </p:sp>
      <p:sp>
        <p:nvSpPr>
          <p:cNvPr id="4" name="Slide Number Placeholder 3">
            <a:extLst>
              <a:ext uri="{FF2B5EF4-FFF2-40B4-BE49-F238E27FC236}">
                <a16:creationId xmlns:a16="http://schemas.microsoft.com/office/drawing/2014/main" id="{93A5BDA4-FD99-431D-A673-3C45EA1281B2}"/>
              </a:ext>
            </a:extLst>
          </p:cNvPr>
          <p:cNvSpPr>
            <a:spLocks noGrp="1"/>
          </p:cNvSpPr>
          <p:nvPr>
            <p:ph type="sldNum" sz="quarter" idx="33"/>
          </p:nvPr>
        </p:nvSpPr>
        <p:spPr/>
        <p:txBody>
          <a:bodyPr/>
          <a:lstStyle/>
          <a:p>
            <a:fld id="{19B51A1E-902D-48AF-9020-955120F399B6}" type="slidenum">
              <a:rPr lang="en-US" noProof="0" smtClean="0"/>
              <a:pPr/>
              <a:t>19</a:t>
            </a:fld>
            <a:endParaRPr lang="en-US" noProof="0" dirty="0"/>
          </a:p>
        </p:txBody>
      </p:sp>
      <p:pic>
        <p:nvPicPr>
          <p:cNvPr id="8" name="Content Placeholder 7">
            <a:extLst>
              <a:ext uri="{FF2B5EF4-FFF2-40B4-BE49-F238E27FC236}">
                <a16:creationId xmlns:a16="http://schemas.microsoft.com/office/drawing/2014/main" id="{B363CEB7-1017-4646-BD6D-B74E76FAA0A5}"/>
              </a:ext>
            </a:extLst>
          </p:cNvPr>
          <p:cNvPicPr>
            <a:picLocks noGrp="1" noChangeAspect="1"/>
          </p:cNvPicPr>
          <p:nvPr>
            <p:ph idx="1"/>
          </p:nvPr>
        </p:nvPicPr>
        <p:blipFill rotWithShape="1">
          <a:blip r:embed="rId2"/>
          <a:srcRect l="3212" r="4126"/>
          <a:stretch/>
        </p:blipFill>
        <p:spPr>
          <a:xfrm>
            <a:off x="6095999" y="557128"/>
            <a:ext cx="5858577" cy="5314282"/>
          </a:xfrm>
          <a:noFill/>
          <a:ln>
            <a:solidFill>
              <a:schemeClr val="bg2">
                <a:lumMod val="75000"/>
              </a:schemeClr>
            </a:solidFill>
          </a:ln>
        </p:spPr>
      </p:pic>
      <p:sp>
        <p:nvSpPr>
          <p:cNvPr id="9" name="Rectangle 8">
            <a:extLst>
              <a:ext uri="{FF2B5EF4-FFF2-40B4-BE49-F238E27FC236}">
                <a16:creationId xmlns:a16="http://schemas.microsoft.com/office/drawing/2014/main" id="{F6F85A4D-8039-4A99-902E-9CAEBF6C7DEB}"/>
              </a:ext>
            </a:extLst>
          </p:cNvPr>
          <p:cNvSpPr/>
          <p:nvPr/>
        </p:nvSpPr>
        <p:spPr>
          <a:xfrm>
            <a:off x="432000" y="1568918"/>
            <a:ext cx="1955065" cy="12512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Rectangle 9">
            <a:extLst>
              <a:ext uri="{FF2B5EF4-FFF2-40B4-BE49-F238E27FC236}">
                <a16:creationId xmlns:a16="http://schemas.microsoft.com/office/drawing/2014/main" id="{DBA99882-9C1E-478F-B7A6-2B27602FAD67}"/>
              </a:ext>
            </a:extLst>
          </p:cNvPr>
          <p:cNvSpPr/>
          <p:nvPr/>
        </p:nvSpPr>
        <p:spPr>
          <a:xfrm>
            <a:off x="430398" y="1849922"/>
            <a:ext cx="2091421" cy="20505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Text Placeholder 5">
            <a:extLst>
              <a:ext uri="{FF2B5EF4-FFF2-40B4-BE49-F238E27FC236}">
                <a16:creationId xmlns:a16="http://schemas.microsoft.com/office/drawing/2014/main" id="{1D9506F6-762F-48C2-80E1-3D9BE378F3F5}"/>
              </a:ext>
            </a:extLst>
          </p:cNvPr>
          <p:cNvSpPr>
            <a:spLocks noGrp="1"/>
          </p:cNvSpPr>
          <p:nvPr>
            <p:ph type="body" sz="half" idx="2"/>
          </p:nvPr>
        </p:nvSpPr>
        <p:spPr>
          <a:xfrm>
            <a:off x="431999" y="1849922"/>
            <a:ext cx="5410536" cy="4019066"/>
          </a:xfrm>
        </p:spPr>
        <p:txBody>
          <a:bodyPr/>
          <a:lstStyle/>
          <a:p>
            <a:pPr algn="just">
              <a:lnSpc>
                <a:spcPct val="60000"/>
              </a:lnSpc>
            </a:pPr>
            <a:r>
              <a:rPr lang="en-GB" sz="1050" b="1" i="0" dirty="0">
                <a:solidFill>
                  <a:srgbClr val="020817"/>
                </a:solidFill>
                <a:effectLst/>
              </a:rPr>
              <a:t>Analysis</a:t>
            </a:r>
          </a:p>
          <a:p>
            <a:pPr marL="342900" indent="-342900" algn="just">
              <a:lnSpc>
                <a:spcPct val="60000"/>
              </a:lnSpc>
              <a:buFont typeface="+mj-lt"/>
              <a:buAutoNum type="arabicPeriod"/>
            </a:pPr>
            <a:r>
              <a:rPr lang="en-GB" sz="1050" b="0" i="0" dirty="0">
                <a:solidFill>
                  <a:srgbClr val="020817"/>
                </a:solidFill>
                <a:effectLst/>
              </a:rPr>
              <a:t>The distribution of last contact days is relatively even across the month, with some notable patterns.</a:t>
            </a:r>
          </a:p>
          <a:p>
            <a:pPr marL="342900" indent="-342900" algn="just">
              <a:lnSpc>
                <a:spcPct val="60000"/>
              </a:lnSpc>
              <a:buFont typeface="+mj-lt"/>
              <a:buAutoNum type="arabicPeriod"/>
            </a:pPr>
            <a:r>
              <a:rPr lang="en-GB" sz="1050" b="0" i="0" dirty="0">
                <a:solidFill>
                  <a:srgbClr val="020817"/>
                </a:solidFill>
                <a:effectLst/>
              </a:rPr>
              <a:t>There's a peak in contacts around the middle of the month (days 14-16).</a:t>
            </a:r>
          </a:p>
          <a:p>
            <a:pPr marL="342900" indent="-342900" algn="just">
              <a:lnSpc>
                <a:spcPct val="60000"/>
              </a:lnSpc>
              <a:buFont typeface="+mj-lt"/>
              <a:buAutoNum type="arabicPeriod"/>
            </a:pPr>
            <a:r>
              <a:rPr lang="en-GB" sz="1050" b="0" i="0" dirty="0">
                <a:solidFill>
                  <a:srgbClr val="020817"/>
                </a:solidFill>
                <a:effectLst/>
              </a:rPr>
              <a:t>The frequency of contacts decreases towards the end of the month (after day 25).</a:t>
            </a:r>
          </a:p>
          <a:p>
            <a:pPr marL="342900" indent="-342900" algn="just">
              <a:lnSpc>
                <a:spcPct val="60000"/>
              </a:lnSpc>
              <a:buFont typeface="+mj-lt"/>
              <a:buAutoNum type="arabicPeriod"/>
            </a:pPr>
            <a:r>
              <a:rPr lang="en-GB" sz="1050" b="0" i="0" dirty="0">
                <a:solidFill>
                  <a:srgbClr val="020817"/>
                </a:solidFill>
                <a:effectLst/>
              </a:rPr>
              <a:t>The mean last contact day is approximately the 16th of the month.</a:t>
            </a:r>
          </a:p>
          <a:p>
            <a:pPr marL="342900" indent="-342900" algn="just">
              <a:lnSpc>
                <a:spcPct val="60000"/>
              </a:lnSpc>
              <a:buFont typeface="+mj-lt"/>
              <a:buAutoNum type="arabicPeriod"/>
            </a:pPr>
            <a:r>
              <a:rPr lang="en-GB" sz="1050" b="0" i="0" dirty="0">
                <a:solidFill>
                  <a:srgbClr val="020817"/>
                </a:solidFill>
                <a:effectLst/>
              </a:rPr>
              <a:t>The median (50th percentile) is also the 16th day, indicating a symmetrical distribution.</a:t>
            </a:r>
          </a:p>
          <a:p>
            <a:pPr marL="342900" indent="-342900" algn="just">
              <a:lnSpc>
                <a:spcPct val="60000"/>
              </a:lnSpc>
              <a:buFont typeface="+mj-lt"/>
              <a:buAutoNum type="arabicPeriod"/>
            </a:pPr>
            <a:r>
              <a:rPr lang="en-GB" sz="1050" b="0" i="0" dirty="0">
                <a:solidFill>
                  <a:srgbClr val="020817"/>
                </a:solidFill>
                <a:effectLst/>
              </a:rPr>
              <a:t>There are fewer contacts on the month’s first and last few days.</a:t>
            </a:r>
          </a:p>
          <a:p>
            <a:pPr algn="just"/>
            <a:r>
              <a:rPr lang="en-GB" sz="1050" b="1" i="0" dirty="0">
                <a:solidFill>
                  <a:srgbClr val="020817"/>
                </a:solidFill>
                <a:effectLst/>
              </a:rPr>
              <a:t>Actionable insights</a:t>
            </a:r>
          </a:p>
          <a:p>
            <a:pPr marL="228600" indent="-228600" algn="just">
              <a:buFont typeface="+mj-lt"/>
              <a:buAutoNum type="arabicPeriod"/>
            </a:pPr>
            <a:r>
              <a:rPr lang="en-GB" sz="1050" b="1" i="0" dirty="0">
                <a:solidFill>
                  <a:srgbClr val="020817"/>
                </a:solidFill>
                <a:effectLst/>
              </a:rPr>
              <a:t>Optimize contact strategies: </a:t>
            </a:r>
            <a:r>
              <a:rPr lang="en-GB" sz="1050" b="0" i="0" dirty="0">
                <a:solidFill>
                  <a:srgbClr val="020817"/>
                </a:solidFill>
                <a:effectLst/>
              </a:rPr>
              <a:t>Focus more resources on the middle of the month when contact frequency is highest. Investigate why there are fewer contacts at the beginning and end of the month. This could be due to operational reasons or customer preferences.</a:t>
            </a:r>
          </a:p>
          <a:p>
            <a:pPr marL="228600" indent="-228600" algn="just">
              <a:buFont typeface="+mj-lt"/>
              <a:buAutoNum type="arabicPeriod"/>
            </a:pPr>
            <a:r>
              <a:rPr lang="en-GB" sz="1050" b="1" i="0" dirty="0">
                <a:solidFill>
                  <a:srgbClr val="020817"/>
                </a:solidFill>
                <a:effectLst/>
              </a:rPr>
              <a:t>Workload distribution:</a:t>
            </a:r>
            <a:r>
              <a:rPr lang="en-GB" sz="1050" b="0" i="0" dirty="0">
                <a:solidFill>
                  <a:srgbClr val="020817"/>
                </a:solidFill>
                <a:effectLst/>
              </a:rPr>
              <a:t> Consider redistributing the workload more evenly throughout the month to avoid potential bottlenecks mid-month.</a:t>
            </a:r>
          </a:p>
          <a:p>
            <a:pPr marL="228600" indent="-228600" algn="just">
              <a:buFont typeface="+mj-lt"/>
              <a:buAutoNum type="arabicPeriod"/>
            </a:pPr>
            <a:r>
              <a:rPr lang="en-GB" sz="1050" b="1" i="0" dirty="0">
                <a:solidFill>
                  <a:srgbClr val="020817"/>
                </a:solidFill>
                <a:effectLst/>
              </a:rPr>
              <a:t>Customer preferences:</a:t>
            </a:r>
            <a:r>
              <a:rPr lang="en-GB" sz="1050" b="0" i="0" dirty="0">
                <a:solidFill>
                  <a:srgbClr val="020817"/>
                </a:solidFill>
                <a:effectLst/>
              </a:rPr>
              <a:t> Analyse if the mid-month peak in contacts correlates with better response rates or conversion rates. If so, prioritise this period for important campaigns.</a:t>
            </a:r>
          </a:p>
          <a:p>
            <a:pPr marL="228600" indent="-228600" algn="just">
              <a:buFont typeface="+mj-lt"/>
              <a:buAutoNum type="arabicPeriod"/>
            </a:pPr>
            <a:r>
              <a:rPr lang="en-GB" sz="1050" b="1" i="0" dirty="0">
                <a:solidFill>
                  <a:srgbClr val="020817"/>
                </a:solidFill>
                <a:effectLst/>
              </a:rPr>
              <a:t>Resource allocation:</a:t>
            </a:r>
            <a:r>
              <a:rPr lang="en-GB" sz="1050" b="0" i="0" dirty="0">
                <a:solidFill>
                  <a:srgbClr val="020817"/>
                </a:solidFill>
                <a:effectLst/>
              </a:rPr>
              <a:t> Adjust staffing levels to match the contact pattern, ensuring adequate coverage during peak times.</a:t>
            </a:r>
          </a:p>
          <a:p>
            <a:pPr marL="228600" indent="-228600" algn="just">
              <a:buFont typeface="+mj-lt"/>
              <a:buAutoNum type="arabicPeriod"/>
            </a:pPr>
            <a:r>
              <a:rPr lang="en-GB" sz="1050" b="1" i="0" dirty="0">
                <a:solidFill>
                  <a:srgbClr val="020817"/>
                </a:solidFill>
                <a:effectLst/>
              </a:rPr>
              <a:t>Campaign timing:</a:t>
            </a:r>
            <a:r>
              <a:rPr lang="en-GB" sz="1050" b="0" i="0" dirty="0">
                <a:solidFill>
                  <a:srgbClr val="020817"/>
                </a:solidFill>
                <a:effectLst/>
              </a:rPr>
              <a:t> Plan marketing campaigns and product launches to align with the periods of higher contact frequency, potentially increasing their effectiveness.</a:t>
            </a:r>
          </a:p>
          <a:p>
            <a:pPr algn="just"/>
            <a:endParaRPr lang="en-IN" sz="1050" dirty="0"/>
          </a:p>
        </p:txBody>
      </p:sp>
      <p:sp>
        <p:nvSpPr>
          <p:cNvPr id="11" name="Rectangle 10">
            <a:extLst>
              <a:ext uri="{FF2B5EF4-FFF2-40B4-BE49-F238E27FC236}">
                <a16:creationId xmlns:a16="http://schemas.microsoft.com/office/drawing/2014/main" id="{5B5D3EF4-0120-4246-9434-DF7B13331D00}"/>
              </a:ext>
            </a:extLst>
          </p:cNvPr>
          <p:cNvSpPr/>
          <p:nvPr/>
        </p:nvSpPr>
        <p:spPr>
          <a:xfrm>
            <a:off x="9775824" y="6371350"/>
            <a:ext cx="1984136" cy="432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139749745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E4A4B1-D011-479D-881A-5B80C053A516}"/>
              </a:ext>
            </a:extLst>
          </p:cNvPr>
          <p:cNvSpPr>
            <a:spLocks noGrp="1"/>
          </p:cNvSpPr>
          <p:nvPr>
            <p:ph type="title"/>
          </p:nvPr>
        </p:nvSpPr>
        <p:spPr>
          <a:xfrm>
            <a:off x="432000" y="432000"/>
            <a:ext cx="3932037" cy="1054568"/>
          </a:xfrm>
        </p:spPr>
        <p:txBody>
          <a:bodyPr/>
          <a:lstStyle/>
          <a:p>
            <a:r>
              <a:rPr lang="en-IN" sz="3600" dirty="0"/>
              <a:t>Distribution of Last Contact Month</a:t>
            </a:r>
          </a:p>
        </p:txBody>
      </p:sp>
      <p:sp>
        <p:nvSpPr>
          <p:cNvPr id="4" name="Slide Number Placeholder 3">
            <a:extLst>
              <a:ext uri="{FF2B5EF4-FFF2-40B4-BE49-F238E27FC236}">
                <a16:creationId xmlns:a16="http://schemas.microsoft.com/office/drawing/2014/main" id="{93A5BDA4-FD99-431D-A673-3C45EA1281B2}"/>
              </a:ext>
            </a:extLst>
          </p:cNvPr>
          <p:cNvSpPr>
            <a:spLocks noGrp="1"/>
          </p:cNvSpPr>
          <p:nvPr>
            <p:ph type="sldNum" sz="quarter" idx="33"/>
          </p:nvPr>
        </p:nvSpPr>
        <p:spPr/>
        <p:txBody>
          <a:bodyPr/>
          <a:lstStyle/>
          <a:p>
            <a:fld id="{19B51A1E-902D-48AF-9020-955120F399B6}" type="slidenum">
              <a:rPr lang="en-US" noProof="0" smtClean="0"/>
              <a:pPr/>
              <a:t>20</a:t>
            </a:fld>
            <a:endParaRPr lang="en-US" noProof="0" dirty="0"/>
          </a:p>
        </p:txBody>
      </p:sp>
      <p:pic>
        <p:nvPicPr>
          <p:cNvPr id="8" name="Content Placeholder 7">
            <a:extLst>
              <a:ext uri="{FF2B5EF4-FFF2-40B4-BE49-F238E27FC236}">
                <a16:creationId xmlns:a16="http://schemas.microsoft.com/office/drawing/2014/main" id="{B363CEB7-1017-4646-BD6D-B74E76FAA0A5}"/>
              </a:ext>
            </a:extLst>
          </p:cNvPr>
          <p:cNvPicPr>
            <a:picLocks noGrp="1" noChangeAspect="1"/>
          </p:cNvPicPr>
          <p:nvPr>
            <p:ph idx="1"/>
          </p:nvPr>
        </p:nvPicPr>
        <p:blipFill rotWithShape="1">
          <a:blip r:embed="rId2"/>
          <a:srcRect l="4406" t="-685" r="6168" b="-685"/>
          <a:stretch/>
        </p:blipFill>
        <p:spPr>
          <a:xfrm>
            <a:off x="6410425" y="557128"/>
            <a:ext cx="5546576" cy="5328000"/>
          </a:xfrm>
          <a:noFill/>
          <a:ln>
            <a:solidFill>
              <a:schemeClr val="bg2">
                <a:lumMod val="75000"/>
              </a:schemeClr>
            </a:solidFill>
          </a:ln>
        </p:spPr>
      </p:pic>
      <p:sp>
        <p:nvSpPr>
          <p:cNvPr id="9" name="Rectangle 8">
            <a:extLst>
              <a:ext uri="{FF2B5EF4-FFF2-40B4-BE49-F238E27FC236}">
                <a16:creationId xmlns:a16="http://schemas.microsoft.com/office/drawing/2014/main" id="{F6F85A4D-8039-4A99-902E-9CAEBF6C7DEB}"/>
              </a:ext>
            </a:extLst>
          </p:cNvPr>
          <p:cNvSpPr/>
          <p:nvPr/>
        </p:nvSpPr>
        <p:spPr>
          <a:xfrm>
            <a:off x="432000" y="1568918"/>
            <a:ext cx="1955065" cy="12512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Rectangle 9">
            <a:extLst>
              <a:ext uri="{FF2B5EF4-FFF2-40B4-BE49-F238E27FC236}">
                <a16:creationId xmlns:a16="http://schemas.microsoft.com/office/drawing/2014/main" id="{DBA99882-9C1E-478F-B7A6-2B27602FAD67}"/>
              </a:ext>
            </a:extLst>
          </p:cNvPr>
          <p:cNvSpPr/>
          <p:nvPr/>
        </p:nvSpPr>
        <p:spPr>
          <a:xfrm>
            <a:off x="430398" y="1849922"/>
            <a:ext cx="2091421" cy="20505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Text Placeholder 5">
            <a:extLst>
              <a:ext uri="{FF2B5EF4-FFF2-40B4-BE49-F238E27FC236}">
                <a16:creationId xmlns:a16="http://schemas.microsoft.com/office/drawing/2014/main" id="{1D9506F6-762F-48C2-80E1-3D9BE378F3F5}"/>
              </a:ext>
            </a:extLst>
          </p:cNvPr>
          <p:cNvSpPr>
            <a:spLocks noGrp="1"/>
          </p:cNvSpPr>
          <p:nvPr>
            <p:ph type="body" sz="half" idx="2"/>
          </p:nvPr>
        </p:nvSpPr>
        <p:spPr>
          <a:xfrm>
            <a:off x="431999" y="1849922"/>
            <a:ext cx="5747419" cy="4019066"/>
          </a:xfrm>
        </p:spPr>
        <p:txBody>
          <a:bodyPr/>
          <a:lstStyle/>
          <a:p>
            <a:pPr algn="just">
              <a:lnSpc>
                <a:spcPct val="50000"/>
              </a:lnSpc>
            </a:pPr>
            <a:r>
              <a:rPr lang="en-GB" sz="1000" b="1" i="0" dirty="0">
                <a:solidFill>
                  <a:srgbClr val="020817"/>
                </a:solidFill>
                <a:effectLst/>
              </a:rPr>
              <a:t>Analysis</a:t>
            </a:r>
          </a:p>
          <a:p>
            <a:pPr marL="342900" indent="-342900" algn="just">
              <a:lnSpc>
                <a:spcPct val="50000"/>
              </a:lnSpc>
              <a:buFont typeface="+mj-lt"/>
              <a:buAutoNum type="arabicPeriod"/>
            </a:pPr>
            <a:r>
              <a:rPr lang="en-GB" sz="1000" b="0" i="0" dirty="0">
                <a:solidFill>
                  <a:srgbClr val="020817"/>
                </a:solidFill>
                <a:effectLst/>
              </a:rPr>
              <a:t>The highest number of client contacts occurred in May (13,766 clients).</a:t>
            </a:r>
          </a:p>
          <a:p>
            <a:pPr marL="342900" indent="-342900" algn="just">
              <a:lnSpc>
                <a:spcPct val="50000"/>
              </a:lnSpc>
              <a:buFont typeface="+mj-lt"/>
              <a:buAutoNum type="arabicPeriod"/>
            </a:pPr>
            <a:r>
              <a:rPr lang="en-GB" sz="1000" b="0" i="0" dirty="0">
                <a:solidFill>
                  <a:srgbClr val="020817"/>
                </a:solidFill>
                <a:effectLst/>
              </a:rPr>
              <a:t>July and August also saw high contact numbers, with 6,895 and 6,247 clients, respectively.</a:t>
            </a:r>
          </a:p>
          <a:p>
            <a:pPr marL="342900" indent="-342900" algn="just">
              <a:lnSpc>
                <a:spcPct val="50000"/>
              </a:lnSpc>
              <a:buFont typeface="+mj-lt"/>
              <a:buAutoNum type="arabicPeriod"/>
            </a:pPr>
            <a:r>
              <a:rPr lang="en-GB" sz="1000" b="0" i="0" dirty="0">
                <a:solidFill>
                  <a:srgbClr val="020817"/>
                </a:solidFill>
                <a:effectLst/>
              </a:rPr>
              <a:t>The lowest number of contacts occurred in December (214 clients).</a:t>
            </a:r>
          </a:p>
          <a:p>
            <a:pPr marL="342900" indent="-342900" algn="just">
              <a:lnSpc>
                <a:spcPct val="50000"/>
              </a:lnSpc>
              <a:buFont typeface="+mj-lt"/>
              <a:buAutoNum type="arabicPeriod"/>
            </a:pPr>
            <a:r>
              <a:rPr lang="en-GB" sz="1000" b="0" i="0" dirty="0">
                <a:solidFill>
                  <a:srgbClr val="020817"/>
                </a:solidFill>
                <a:effectLst/>
              </a:rPr>
              <a:t>A noticeable contact drop during winter (December, January, February).</a:t>
            </a:r>
          </a:p>
          <a:p>
            <a:pPr algn="just">
              <a:lnSpc>
                <a:spcPct val="70000"/>
              </a:lnSpc>
            </a:pPr>
            <a:r>
              <a:rPr lang="en-GB" sz="1000" b="1" i="0" dirty="0">
                <a:solidFill>
                  <a:srgbClr val="020817"/>
                </a:solidFill>
                <a:effectLst/>
              </a:rPr>
              <a:t>Actionable insights</a:t>
            </a:r>
          </a:p>
          <a:p>
            <a:pPr algn="just">
              <a:lnSpc>
                <a:spcPct val="70000"/>
              </a:lnSpc>
              <a:buFont typeface="+mj-lt"/>
              <a:buAutoNum type="arabicPeriod"/>
            </a:pPr>
            <a:r>
              <a:rPr lang="en-GB" sz="1000" b="1" i="0" dirty="0">
                <a:solidFill>
                  <a:srgbClr val="020817"/>
                </a:solidFill>
                <a:effectLst/>
              </a:rPr>
              <a:t>Campaign Planning:</a:t>
            </a:r>
            <a:endParaRPr lang="en-GB" sz="1000" b="0" i="0" dirty="0">
              <a:solidFill>
                <a:srgbClr val="020817"/>
              </a:solidFill>
              <a:effectLst/>
            </a:endParaRPr>
          </a:p>
          <a:p>
            <a:pPr marL="742950" lvl="1" indent="-285750" algn="just">
              <a:lnSpc>
                <a:spcPct val="70000"/>
              </a:lnSpc>
              <a:buFont typeface="Arial" panose="020B0604020202020204" pitchFamily="34" charset="0"/>
              <a:buChar char="•"/>
            </a:pPr>
            <a:r>
              <a:rPr lang="en-GB" sz="1000" b="0" i="0" dirty="0">
                <a:solidFill>
                  <a:srgbClr val="020817"/>
                </a:solidFill>
                <a:effectLst/>
              </a:rPr>
              <a:t>Focus marketing and outreach campaigns in May, July, and August when client contact rates are highest.</a:t>
            </a:r>
          </a:p>
          <a:p>
            <a:pPr marL="742950" lvl="1" indent="-285750" algn="just">
              <a:lnSpc>
                <a:spcPct val="70000"/>
              </a:lnSpc>
              <a:buFont typeface="Arial" panose="020B0604020202020204" pitchFamily="34" charset="0"/>
              <a:buChar char="•"/>
            </a:pPr>
            <a:r>
              <a:rPr lang="en-GB" sz="1000" b="0" i="0" dirty="0">
                <a:solidFill>
                  <a:srgbClr val="020817"/>
                </a:solidFill>
                <a:effectLst/>
              </a:rPr>
              <a:t>Investigate the reasons behind the high contact rates in these months to replicate successful strategies.</a:t>
            </a:r>
          </a:p>
          <a:p>
            <a:pPr algn="just">
              <a:lnSpc>
                <a:spcPct val="70000"/>
              </a:lnSpc>
              <a:buFont typeface="+mj-lt"/>
              <a:buAutoNum type="arabicPeriod"/>
            </a:pPr>
            <a:r>
              <a:rPr lang="en-GB" sz="1000" b="1" i="0" dirty="0">
                <a:solidFill>
                  <a:srgbClr val="020817"/>
                </a:solidFill>
                <a:effectLst/>
              </a:rPr>
              <a:t>Resource Allocation:</a:t>
            </a:r>
            <a:endParaRPr lang="en-GB" sz="1000" b="0" i="0" dirty="0">
              <a:solidFill>
                <a:srgbClr val="020817"/>
              </a:solidFill>
              <a:effectLst/>
            </a:endParaRPr>
          </a:p>
          <a:p>
            <a:pPr marL="742950" lvl="1" indent="-285750" algn="just">
              <a:lnSpc>
                <a:spcPct val="70000"/>
              </a:lnSpc>
              <a:buFont typeface="Arial" panose="020B0604020202020204" pitchFamily="34" charset="0"/>
              <a:buChar char="•"/>
            </a:pPr>
            <a:r>
              <a:rPr lang="en-GB" sz="1000" b="0" i="0" dirty="0">
                <a:solidFill>
                  <a:srgbClr val="020817"/>
                </a:solidFill>
                <a:effectLst/>
              </a:rPr>
              <a:t>Allocate more resources (e.g., staff, budget) during peak contact months to handle the increased volume efficiently.</a:t>
            </a:r>
          </a:p>
          <a:p>
            <a:pPr marL="742950" lvl="1" indent="-285750" algn="just">
              <a:lnSpc>
                <a:spcPct val="70000"/>
              </a:lnSpc>
              <a:buFont typeface="Arial" panose="020B0604020202020204" pitchFamily="34" charset="0"/>
              <a:buChar char="•"/>
            </a:pPr>
            <a:r>
              <a:rPr lang="en-GB" sz="1000" b="0" i="0" dirty="0">
                <a:solidFill>
                  <a:srgbClr val="020817"/>
                </a:solidFill>
                <a:effectLst/>
              </a:rPr>
              <a:t>Consider reducing resources during low-contact months (e.g., December) or using this time for training and planning.</a:t>
            </a:r>
          </a:p>
          <a:p>
            <a:pPr algn="just">
              <a:lnSpc>
                <a:spcPct val="70000"/>
              </a:lnSpc>
              <a:buFont typeface="+mj-lt"/>
              <a:buAutoNum type="arabicPeriod"/>
            </a:pPr>
            <a:r>
              <a:rPr lang="en-GB" sz="1000" b="1" i="0" dirty="0">
                <a:solidFill>
                  <a:srgbClr val="020817"/>
                </a:solidFill>
                <a:effectLst/>
              </a:rPr>
              <a:t>Seasonal Trends:</a:t>
            </a:r>
            <a:endParaRPr lang="en-GB" sz="1000" b="0" i="0" dirty="0">
              <a:solidFill>
                <a:srgbClr val="020817"/>
              </a:solidFill>
              <a:effectLst/>
            </a:endParaRPr>
          </a:p>
          <a:p>
            <a:pPr marL="742950" lvl="1" indent="-285750" algn="just">
              <a:lnSpc>
                <a:spcPct val="70000"/>
              </a:lnSpc>
              <a:buFont typeface="Arial" panose="020B0604020202020204" pitchFamily="34" charset="0"/>
              <a:buChar char="•"/>
            </a:pPr>
            <a:r>
              <a:rPr lang="en-GB" sz="1000" b="0" i="0" dirty="0">
                <a:solidFill>
                  <a:srgbClr val="020817"/>
                </a:solidFill>
                <a:effectLst/>
              </a:rPr>
              <a:t>Analyse the impact of seasonal trends on client behaviour and contact rates.</a:t>
            </a:r>
          </a:p>
          <a:p>
            <a:pPr marL="742950" lvl="1" indent="-285750" algn="just">
              <a:lnSpc>
                <a:spcPct val="70000"/>
              </a:lnSpc>
              <a:buFont typeface="Arial" panose="020B0604020202020204" pitchFamily="34" charset="0"/>
              <a:buChar char="•"/>
            </a:pPr>
            <a:r>
              <a:rPr lang="en-GB" sz="1000" b="0" i="0" dirty="0">
                <a:solidFill>
                  <a:srgbClr val="020817"/>
                </a:solidFill>
                <a:effectLst/>
              </a:rPr>
              <a:t>Develop strategies to boost engagement during low-contact months, such as special promotions or targeted communications.</a:t>
            </a:r>
          </a:p>
          <a:p>
            <a:pPr algn="just">
              <a:lnSpc>
                <a:spcPct val="70000"/>
              </a:lnSpc>
              <a:buFont typeface="+mj-lt"/>
              <a:buAutoNum type="arabicPeriod"/>
            </a:pPr>
            <a:r>
              <a:rPr lang="en-GB" sz="1000" b="1" i="0" dirty="0">
                <a:solidFill>
                  <a:srgbClr val="020817"/>
                </a:solidFill>
                <a:effectLst/>
              </a:rPr>
              <a:t>Client Preferences:</a:t>
            </a:r>
            <a:endParaRPr lang="en-GB" sz="1000" b="0" i="0" dirty="0">
              <a:solidFill>
                <a:srgbClr val="020817"/>
              </a:solidFill>
              <a:effectLst/>
            </a:endParaRPr>
          </a:p>
          <a:p>
            <a:pPr marL="742950" lvl="1" indent="-285750" algn="just">
              <a:lnSpc>
                <a:spcPct val="70000"/>
              </a:lnSpc>
              <a:buFont typeface="Arial" panose="020B0604020202020204" pitchFamily="34" charset="0"/>
              <a:buChar char="•"/>
            </a:pPr>
            <a:r>
              <a:rPr lang="en-GB" sz="1000" b="0" i="0" dirty="0">
                <a:solidFill>
                  <a:srgbClr val="020817"/>
                </a:solidFill>
                <a:effectLst/>
              </a:rPr>
              <a:t>Understand client preferences and behaviours during different months to tailor communication strategies accordingly.</a:t>
            </a:r>
          </a:p>
          <a:p>
            <a:pPr marL="742950" lvl="1" indent="-285750" algn="just">
              <a:lnSpc>
                <a:spcPct val="70000"/>
              </a:lnSpc>
              <a:buFont typeface="Arial" panose="020B0604020202020204" pitchFamily="34" charset="0"/>
              <a:buChar char="•"/>
            </a:pPr>
            <a:r>
              <a:rPr lang="en-GB" sz="1000" b="0" i="0" dirty="0">
                <a:solidFill>
                  <a:srgbClr val="020817"/>
                </a:solidFill>
                <a:effectLst/>
              </a:rPr>
              <a:t>Use data-driven insights to optimise the timing of product launches and promotional offers.</a:t>
            </a:r>
          </a:p>
          <a:p>
            <a:pPr algn="just">
              <a:lnSpc>
                <a:spcPct val="70000"/>
              </a:lnSpc>
            </a:pPr>
            <a:endParaRPr lang="en-IN" sz="1000" dirty="0"/>
          </a:p>
        </p:txBody>
      </p:sp>
      <p:sp>
        <p:nvSpPr>
          <p:cNvPr id="11" name="Rectangle 10">
            <a:extLst>
              <a:ext uri="{FF2B5EF4-FFF2-40B4-BE49-F238E27FC236}">
                <a16:creationId xmlns:a16="http://schemas.microsoft.com/office/drawing/2014/main" id="{5B5D3EF4-0120-4246-9434-DF7B13331D00}"/>
              </a:ext>
            </a:extLst>
          </p:cNvPr>
          <p:cNvSpPr/>
          <p:nvPr/>
        </p:nvSpPr>
        <p:spPr>
          <a:xfrm>
            <a:off x="9775824" y="6371350"/>
            <a:ext cx="1984136" cy="432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24967087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E4A4B1-D011-479D-881A-5B80C053A516}"/>
              </a:ext>
            </a:extLst>
          </p:cNvPr>
          <p:cNvSpPr>
            <a:spLocks noGrp="1"/>
          </p:cNvSpPr>
          <p:nvPr>
            <p:ph type="title"/>
          </p:nvPr>
        </p:nvSpPr>
        <p:spPr>
          <a:xfrm>
            <a:off x="432000" y="432000"/>
            <a:ext cx="3932037" cy="1054568"/>
          </a:xfrm>
        </p:spPr>
        <p:txBody>
          <a:bodyPr/>
          <a:lstStyle/>
          <a:p>
            <a:r>
              <a:rPr lang="en-IN" sz="3600" dirty="0"/>
              <a:t>Duration of the Last Contact</a:t>
            </a:r>
          </a:p>
        </p:txBody>
      </p:sp>
      <p:sp>
        <p:nvSpPr>
          <p:cNvPr id="4" name="Slide Number Placeholder 3">
            <a:extLst>
              <a:ext uri="{FF2B5EF4-FFF2-40B4-BE49-F238E27FC236}">
                <a16:creationId xmlns:a16="http://schemas.microsoft.com/office/drawing/2014/main" id="{93A5BDA4-FD99-431D-A673-3C45EA1281B2}"/>
              </a:ext>
            </a:extLst>
          </p:cNvPr>
          <p:cNvSpPr>
            <a:spLocks noGrp="1"/>
          </p:cNvSpPr>
          <p:nvPr>
            <p:ph type="sldNum" sz="quarter" idx="33"/>
          </p:nvPr>
        </p:nvSpPr>
        <p:spPr/>
        <p:txBody>
          <a:bodyPr/>
          <a:lstStyle/>
          <a:p>
            <a:fld id="{19B51A1E-902D-48AF-9020-955120F399B6}" type="slidenum">
              <a:rPr lang="en-US" noProof="0" smtClean="0"/>
              <a:pPr/>
              <a:t>21</a:t>
            </a:fld>
            <a:endParaRPr lang="en-US" noProof="0" dirty="0"/>
          </a:p>
        </p:txBody>
      </p:sp>
      <p:pic>
        <p:nvPicPr>
          <p:cNvPr id="8" name="Content Placeholder 7">
            <a:extLst>
              <a:ext uri="{FF2B5EF4-FFF2-40B4-BE49-F238E27FC236}">
                <a16:creationId xmlns:a16="http://schemas.microsoft.com/office/drawing/2014/main" id="{B363CEB7-1017-4646-BD6D-B74E76FAA0A5}"/>
              </a:ext>
            </a:extLst>
          </p:cNvPr>
          <p:cNvPicPr>
            <a:picLocks noGrp="1" noChangeAspect="1"/>
          </p:cNvPicPr>
          <p:nvPr>
            <p:ph idx="1"/>
          </p:nvPr>
        </p:nvPicPr>
        <p:blipFill rotWithShape="1">
          <a:blip r:embed="rId2"/>
          <a:srcRect l="3555" r="6222"/>
          <a:stretch/>
        </p:blipFill>
        <p:spPr>
          <a:xfrm>
            <a:off x="4649002" y="557128"/>
            <a:ext cx="7308000" cy="5328000"/>
          </a:xfrm>
          <a:noFill/>
          <a:ln>
            <a:solidFill>
              <a:schemeClr val="bg2">
                <a:lumMod val="75000"/>
              </a:schemeClr>
            </a:solidFill>
          </a:ln>
        </p:spPr>
      </p:pic>
      <p:sp>
        <p:nvSpPr>
          <p:cNvPr id="9" name="Rectangle 8">
            <a:extLst>
              <a:ext uri="{FF2B5EF4-FFF2-40B4-BE49-F238E27FC236}">
                <a16:creationId xmlns:a16="http://schemas.microsoft.com/office/drawing/2014/main" id="{F6F85A4D-8039-4A99-902E-9CAEBF6C7DEB}"/>
              </a:ext>
            </a:extLst>
          </p:cNvPr>
          <p:cNvSpPr/>
          <p:nvPr/>
        </p:nvSpPr>
        <p:spPr>
          <a:xfrm>
            <a:off x="432000" y="1568918"/>
            <a:ext cx="1955065" cy="12512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Rectangle 9">
            <a:extLst>
              <a:ext uri="{FF2B5EF4-FFF2-40B4-BE49-F238E27FC236}">
                <a16:creationId xmlns:a16="http://schemas.microsoft.com/office/drawing/2014/main" id="{DBA99882-9C1E-478F-B7A6-2B27602FAD67}"/>
              </a:ext>
            </a:extLst>
          </p:cNvPr>
          <p:cNvSpPr/>
          <p:nvPr/>
        </p:nvSpPr>
        <p:spPr>
          <a:xfrm>
            <a:off x="430398" y="1849922"/>
            <a:ext cx="2091421" cy="20505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Text Placeholder 5">
            <a:extLst>
              <a:ext uri="{FF2B5EF4-FFF2-40B4-BE49-F238E27FC236}">
                <a16:creationId xmlns:a16="http://schemas.microsoft.com/office/drawing/2014/main" id="{1D9506F6-762F-48C2-80E1-3D9BE378F3F5}"/>
              </a:ext>
            </a:extLst>
          </p:cNvPr>
          <p:cNvSpPr>
            <a:spLocks noGrp="1"/>
          </p:cNvSpPr>
          <p:nvPr>
            <p:ph type="body" sz="half" idx="2"/>
          </p:nvPr>
        </p:nvSpPr>
        <p:spPr>
          <a:xfrm>
            <a:off x="432000" y="1849922"/>
            <a:ext cx="3932237" cy="4019066"/>
          </a:xfrm>
        </p:spPr>
        <p:txBody>
          <a:bodyPr/>
          <a:lstStyle/>
          <a:p>
            <a:pPr algn="just"/>
            <a:r>
              <a:rPr lang="en-GB" sz="1500" b="1" i="0" dirty="0">
                <a:solidFill>
                  <a:srgbClr val="020817"/>
                </a:solidFill>
                <a:effectLst/>
              </a:rPr>
              <a:t>Analysis and Interpretation</a:t>
            </a:r>
          </a:p>
          <a:p>
            <a:pPr marL="342900" indent="-342900" algn="just">
              <a:buFont typeface="+mj-lt"/>
              <a:buAutoNum type="arabicPeriod"/>
            </a:pPr>
            <a:r>
              <a:rPr lang="en-GB" sz="1500" b="0" i="0" dirty="0">
                <a:solidFill>
                  <a:srgbClr val="020817"/>
                </a:solidFill>
                <a:effectLst/>
              </a:rPr>
              <a:t>The distribution is right-skewed, with most contacts lasting less than 500 seconds.</a:t>
            </a:r>
          </a:p>
          <a:p>
            <a:pPr marL="342900" indent="-342900" algn="just">
              <a:buFont typeface="+mj-lt"/>
              <a:buAutoNum type="arabicPeriod"/>
            </a:pPr>
            <a:r>
              <a:rPr lang="en-GB" sz="1500" dirty="0">
                <a:solidFill>
                  <a:srgbClr val="020817"/>
                </a:solidFill>
              </a:rPr>
              <a:t>A </a:t>
            </a:r>
            <a:r>
              <a:rPr lang="en-GB" sz="1500" b="0" i="0" dirty="0">
                <a:solidFill>
                  <a:srgbClr val="020817"/>
                </a:solidFill>
                <a:effectLst/>
              </a:rPr>
              <a:t>peak of around 200-300 seconds suggests many calls are relatively short.</a:t>
            </a:r>
          </a:p>
          <a:p>
            <a:pPr marL="342900" indent="-342900" algn="just">
              <a:buFont typeface="+mj-lt"/>
              <a:buAutoNum type="arabicPeriod"/>
            </a:pPr>
            <a:r>
              <a:rPr lang="en-GB" sz="1500" b="0" i="0" dirty="0">
                <a:solidFill>
                  <a:srgbClr val="020817"/>
                </a:solidFill>
                <a:effectLst/>
              </a:rPr>
              <a:t>A long tail extends to the right, indicating some calls last much longer, potentially up to 3000 seconds or more.</a:t>
            </a:r>
          </a:p>
          <a:p>
            <a:pPr algn="just"/>
            <a:r>
              <a:rPr lang="en-GB" sz="1500" b="1" i="0" dirty="0">
                <a:solidFill>
                  <a:srgbClr val="020817"/>
                </a:solidFill>
                <a:effectLst/>
              </a:rPr>
              <a:t>Actionable Insights</a:t>
            </a:r>
          </a:p>
          <a:p>
            <a:pPr marL="342900" indent="-342900" algn="just">
              <a:buFont typeface="+mj-lt"/>
              <a:buAutoNum type="arabicPeriod"/>
            </a:pPr>
            <a:r>
              <a:rPr lang="en-GB" sz="1500" b="0" i="0" dirty="0">
                <a:solidFill>
                  <a:srgbClr val="020817"/>
                </a:solidFill>
                <a:effectLst/>
              </a:rPr>
              <a:t>Focus on optimising short calls (200-300 seconds) as they're most common.</a:t>
            </a:r>
          </a:p>
          <a:p>
            <a:pPr marL="342900" indent="-342900" algn="just">
              <a:buFont typeface="+mj-lt"/>
              <a:buAutoNum type="arabicPeriod"/>
            </a:pPr>
            <a:r>
              <a:rPr lang="en-GB" sz="1500" b="0" i="0" dirty="0">
                <a:solidFill>
                  <a:srgbClr val="020817"/>
                </a:solidFill>
                <a:effectLst/>
              </a:rPr>
              <a:t>Investigate factors contributing to extremely long calls to improve efficiency.</a:t>
            </a:r>
          </a:p>
          <a:p>
            <a:pPr marL="342900" indent="-342900" algn="just">
              <a:buFont typeface="+mj-lt"/>
              <a:buAutoNum type="arabicPeriod"/>
            </a:pPr>
            <a:r>
              <a:rPr lang="en-GB" sz="1500" b="0" i="0" dirty="0">
                <a:solidFill>
                  <a:srgbClr val="020817"/>
                </a:solidFill>
                <a:effectLst/>
              </a:rPr>
              <a:t>Consider segmenting customers based on call duration for targeted strategies.</a:t>
            </a:r>
          </a:p>
          <a:p>
            <a:pPr algn="just"/>
            <a:endParaRPr lang="en-IN" sz="1500" dirty="0"/>
          </a:p>
        </p:txBody>
      </p:sp>
      <p:sp>
        <p:nvSpPr>
          <p:cNvPr id="11" name="Rectangle 10">
            <a:extLst>
              <a:ext uri="{FF2B5EF4-FFF2-40B4-BE49-F238E27FC236}">
                <a16:creationId xmlns:a16="http://schemas.microsoft.com/office/drawing/2014/main" id="{5B5D3EF4-0120-4246-9434-DF7B13331D00}"/>
              </a:ext>
            </a:extLst>
          </p:cNvPr>
          <p:cNvSpPr/>
          <p:nvPr/>
        </p:nvSpPr>
        <p:spPr>
          <a:xfrm>
            <a:off x="9775824" y="6371350"/>
            <a:ext cx="1984136" cy="432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168830314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E4A4B1-D011-479D-881A-5B80C053A516}"/>
              </a:ext>
            </a:extLst>
          </p:cNvPr>
          <p:cNvSpPr>
            <a:spLocks noGrp="1"/>
          </p:cNvSpPr>
          <p:nvPr>
            <p:ph type="title"/>
          </p:nvPr>
        </p:nvSpPr>
        <p:spPr>
          <a:xfrm>
            <a:off x="432000" y="432000"/>
            <a:ext cx="3932037" cy="1054568"/>
          </a:xfrm>
        </p:spPr>
        <p:txBody>
          <a:bodyPr/>
          <a:lstStyle/>
          <a:p>
            <a:r>
              <a:rPr lang="en-IN" sz="3600" dirty="0"/>
              <a:t>Number of Contacts During the Campaign</a:t>
            </a:r>
          </a:p>
        </p:txBody>
      </p:sp>
      <p:sp>
        <p:nvSpPr>
          <p:cNvPr id="4" name="Slide Number Placeholder 3">
            <a:extLst>
              <a:ext uri="{FF2B5EF4-FFF2-40B4-BE49-F238E27FC236}">
                <a16:creationId xmlns:a16="http://schemas.microsoft.com/office/drawing/2014/main" id="{93A5BDA4-FD99-431D-A673-3C45EA1281B2}"/>
              </a:ext>
            </a:extLst>
          </p:cNvPr>
          <p:cNvSpPr>
            <a:spLocks noGrp="1"/>
          </p:cNvSpPr>
          <p:nvPr>
            <p:ph type="sldNum" sz="quarter" idx="33"/>
          </p:nvPr>
        </p:nvSpPr>
        <p:spPr/>
        <p:txBody>
          <a:bodyPr/>
          <a:lstStyle/>
          <a:p>
            <a:fld id="{19B51A1E-902D-48AF-9020-955120F399B6}" type="slidenum">
              <a:rPr lang="en-US" noProof="0" smtClean="0"/>
              <a:pPr/>
              <a:t>22</a:t>
            </a:fld>
            <a:endParaRPr lang="en-US" noProof="0" dirty="0"/>
          </a:p>
        </p:txBody>
      </p:sp>
      <p:pic>
        <p:nvPicPr>
          <p:cNvPr id="8" name="Content Placeholder 7">
            <a:extLst>
              <a:ext uri="{FF2B5EF4-FFF2-40B4-BE49-F238E27FC236}">
                <a16:creationId xmlns:a16="http://schemas.microsoft.com/office/drawing/2014/main" id="{B363CEB7-1017-4646-BD6D-B74E76FAA0A5}"/>
              </a:ext>
            </a:extLst>
          </p:cNvPr>
          <p:cNvPicPr>
            <a:picLocks noGrp="1" noChangeAspect="1"/>
          </p:cNvPicPr>
          <p:nvPr>
            <p:ph idx="1"/>
          </p:nvPr>
        </p:nvPicPr>
        <p:blipFill rotWithShape="1">
          <a:blip r:embed="rId2"/>
          <a:srcRect l="2903" r="6473"/>
          <a:stretch/>
        </p:blipFill>
        <p:spPr>
          <a:xfrm>
            <a:off x="6593305" y="557128"/>
            <a:ext cx="5363696" cy="5328000"/>
          </a:xfrm>
          <a:noFill/>
          <a:ln>
            <a:solidFill>
              <a:schemeClr val="bg2">
                <a:lumMod val="75000"/>
              </a:schemeClr>
            </a:solidFill>
          </a:ln>
        </p:spPr>
      </p:pic>
      <p:sp>
        <p:nvSpPr>
          <p:cNvPr id="9" name="Rectangle 8">
            <a:extLst>
              <a:ext uri="{FF2B5EF4-FFF2-40B4-BE49-F238E27FC236}">
                <a16:creationId xmlns:a16="http://schemas.microsoft.com/office/drawing/2014/main" id="{F6F85A4D-8039-4A99-902E-9CAEBF6C7DEB}"/>
              </a:ext>
            </a:extLst>
          </p:cNvPr>
          <p:cNvSpPr/>
          <p:nvPr/>
        </p:nvSpPr>
        <p:spPr>
          <a:xfrm>
            <a:off x="432000" y="1568918"/>
            <a:ext cx="1955065" cy="12512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Rectangle 9">
            <a:extLst>
              <a:ext uri="{FF2B5EF4-FFF2-40B4-BE49-F238E27FC236}">
                <a16:creationId xmlns:a16="http://schemas.microsoft.com/office/drawing/2014/main" id="{DBA99882-9C1E-478F-B7A6-2B27602FAD67}"/>
              </a:ext>
            </a:extLst>
          </p:cNvPr>
          <p:cNvSpPr/>
          <p:nvPr/>
        </p:nvSpPr>
        <p:spPr>
          <a:xfrm>
            <a:off x="430398" y="1849922"/>
            <a:ext cx="2091421" cy="20505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Text Placeholder 5">
            <a:extLst>
              <a:ext uri="{FF2B5EF4-FFF2-40B4-BE49-F238E27FC236}">
                <a16:creationId xmlns:a16="http://schemas.microsoft.com/office/drawing/2014/main" id="{1D9506F6-762F-48C2-80E1-3D9BE378F3F5}"/>
              </a:ext>
            </a:extLst>
          </p:cNvPr>
          <p:cNvSpPr>
            <a:spLocks noGrp="1"/>
          </p:cNvSpPr>
          <p:nvPr>
            <p:ph type="body" sz="half" idx="2"/>
          </p:nvPr>
        </p:nvSpPr>
        <p:spPr>
          <a:xfrm>
            <a:off x="432000" y="1849922"/>
            <a:ext cx="5766669" cy="4019066"/>
          </a:xfrm>
        </p:spPr>
        <p:txBody>
          <a:bodyPr/>
          <a:lstStyle/>
          <a:p>
            <a:pPr algn="just"/>
            <a:r>
              <a:rPr lang="en-GB" sz="1050" b="1" i="0" dirty="0">
                <a:effectLst/>
              </a:rPr>
              <a:t>Analysis and Interpretation</a:t>
            </a:r>
          </a:p>
          <a:p>
            <a:pPr marL="228600" indent="-228600" algn="just">
              <a:buFont typeface="+mj-lt"/>
              <a:buAutoNum type="arabicPeriod"/>
            </a:pPr>
            <a:r>
              <a:rPr lang="en-GB" sz="1050" b="1" i="0" dirty="0">
                <a:solidFill>
                  <a:srgbClr val="020817"/>
                </a:solidFill>
                <a:effectLst/>
              </a:rPr>
              <a:t>Distribution Shape</a:t>
            </a:r>
            <a:r>
              <a:rPr lang="en-GB" sz="1050" b="0" i="0" dirty="0">
                <a:solidFill>
                  <a:srgbClr val="020817"/>
                </a:solidFill>
                <a:effectLst/>
              </a:rPr>
              <a:t>: The histogram indicates that most clients were contacted only a few times during the campaign, with a peak of around 1 to 3 contacts. The right-skewed distribution suggests that while most clients received fewer contacts, a small number received more.</a:t>
            </a:r>
          </a:p>
          <a:p>
            <a:pPr marL="228600" indent="-228600" algn="just">
              <a:buFont typeface="+mj-lt"/>
              <a:buAutoNum type="arabicPeriod"/>
            </a:pPr>
            <a:r>
              <a:rPr lang="en-GB" sz="1050" b="1" i="0" dirty="0">
                <a:solidFill>
                  <a:srgbClr val="020817"/>
                </a:solidFill>
                <a:effectLst/>
              </a:rPr>
              <a:t>Summary Statistics</a:t>
            </a:r>
            <a:r>
              <a:rPr lang="en-GB" sz="1050" b="0" i="0" dirty="0">
                <a:solidFill>
                  <a:srgbClr val="020817"/>
                </a:solidFill>
                <a:effectLst/>
              </a:rPr>
              <a:t>:</a:t>
            </a:r>
          </a:p>
          <a:p>
            <a:pPr marL="742950" lvl="1" indent="-285750" algn="just">
              <a:buFont typeface="Arial" panose="020B0604020202020204" pitchFamily="34" charset="0"/>
              <a:buChar char="•"/>
            </a:pPr>
            <a:r>
              <a:rPr lang="en-GB" sz="1050" b="1" i="0" dirty="0">
                <a:solidFill>
                  <a:srgbClr val="020817"/>
                </a:solidFill>
                <a:effectLst/>
              </a:rPr>
              <a:t>Mean</a:t>
            </a:r>
            <a:r>
              <a:rPr lang="en-GB" sz="1050" b="0" i="0" dirty="0">
                <a:solidFill>
                  <a:srgbClr val="020817"/>
                </a:solidFill>
                <a:effectLst/>
              </a:rPr>
              <a:t>: The average number of contacts is approximately 2.76, indicating that clients were contacted just under three times on average.</a:t>
            </a:r>
          </a:p>
          <a:p>
            <a:pPr marL="742950" lvl="1" indent="-285750" algn="just">
              <a:buFont typeface="Arial" panose="020B0604020202020204" pitchFamily="34" charset="0"/>
              <a:buChar char="•"/>
            </a:pPr>
            <a:r>
              <a:rPr lang="en-GB" sz="1050" b="1" i="0" dirty="0">
                <a:solidFill>
                  <a:srgbClr val="020817"/>
                </a:solidFill>
                <a:effectLst/>
              </a:rPr>
              <a:t>Median</a:t>
            </a:r>
            <a:r>
              <a:rPr lang="en-GB" sz="1050" b="0" i="0" dirty="0">
                <a:solidFill>
                  <a:srgbClr val="020817"/>
                </a:solidFill>
                <a:effectLst/>
              </a:rPr>
              <a:t>: The median is 2, which aligns with the histogram's peak, confirming that most clients received two or fewer contacts.</a:t>
            </a:r>
          </a:p>
          <a:p>
            <a:pPr marL="742950" lvl="1" indent="-285750" algn="just">
              <a:buFont typeface="Arial" panose="020B0604020202020204" pitchFamily="34" charset="0"/>
              <a:buChar char="•"/>
            </a:pPr>
            <a:r>
              <a:rPr lang="en-GB" sz="1050" b="1" i="0" dirty="0">
                <a:solidFill>
                  <a:srgbClr val="020817"/>
                </a:solidFill>
                <a:effectLst/>
              </a:rPr>
              <a:t>Interquartile Range</a:t>
            </a:r>
            <a:r>
              <a:rPr lang="en-GB" sz="1050" b="0" i="0" dirty="0">
                <a:solidFill>
                  <a:srgbClr val="020817"/>
                </a:solidFill>
                <a:effectLst/>
              </a:rPr>
              <a:t>: The 75th percentile is 3, meaning 75% of clients were contacted thrice or less.</a:t>
            </a:r>
          </a:p>
          <a:p>
            <a:pPr algn="just"/>
            <a:r>
              <a:rPr lang="en-GB" sz="1050" b="1" i="0" dirty="0">
                <a:effectLst/>
              </a:rPr>
              <a:t>Actionable Insights</a:t>
            </a:r>
          </a:p>
          <a:p>
            <a:pPr marL="228600" indent="-228600" algn="just">
              <a:buFont typeface="+mj-lt"/>
              <a:buAutoNum type="arabicPeriod"/>
            </a:pPr>
            <a:r>
              <a:rPr lang="en-GB" sz="1050" b="1" i="0" dirty="0">
                <a:solidFill>
                  <a:srgbClr val="020817"/>
                </a:solidFill>
                <a:effectLst/>
              </a:rPr>
              <a:t>Targeting Strategy</a:t>
            </a:r>
            <a:r>
              <a:rPr lang="en-GB" sz="1050" b="0" i="0" dirty="0">
                <a:solidFill>
                  <a:srgbClr val="020817"/>
                </a:solidFill>
                <a:effectLst/>
              </a:rPr>
              <a:t>: Since most clients are contacted only a few times, consider optimising the communication strategy for those who receive more contacts. Analyse whether these additional contacts led to successful conversions or resulted in client fatigue.</a:t>
            </a:r>
          </a:p>
          <a:p>
            <a:pPr marL="228600" indent="-228600" algn="just">
              <a:buFont typeface="+mj-lt"/>
              <a:buAutoNum type="arabicPeriod"/>
            </a:pPr>
            <a:r>
              <a:rPr lang="en-GB" sz="1050" b="1" i="0" dirty="0">
                <a:solidFill>
                  <a:srgbClr val="020817"/>
                </a:solidFill>
                <a:effectLst/>
              </a:rPr>
              <a:t>Resource Allocation</a:t>
            </a:r>
            <a:r>
              <a:rPr lang="en-GB" sz="1050" b="0" i="0" dirty="0">
                <a:solidFill>
                  <a:srgbClr val="020817"/>
                </a:solidFill>
                <a:effectLst/>
              </a:rPr>
              <a:t>: Given the right-skewed distribution, resources could be better allocated to clients who have shown interest but have not been contacted multiple times. This could help in improving engagement without overwhelming clients.</a:t>
            </a:r>
          </a:p>
          <a:p>
            <a:pPr marL="228600" indent="-228600" algn="just">
              <a:buFont typeface="+mj-lt"/>
              <a:buAutoNum type="arabicPeriod"/>
            </a:pPr>
            <a:r>
              <a:rPr lang="en-GB" sz="1050" b="1" i="0" dirty="0">
                <a:solidFill>
                  <a:srgbClr val="020817"/>
                </a:solidFill>
                <a:effectLst/>
              </a:rPr>
              <a:t>Follow-Up Campaigns</a:t>
            </a:r>
            <a:r>
              <a:rPr lang="en-GB" sz="1050" b="0" i="0" dirty="0">
                <a:solidFill>
                  <a:srgbClr val="020817"/>
                </a:solidFill>
                <a:effectLst/>
              </a:rPr>
              <a:t>: For clients who received more contacts, evaluate the effectiveness of those interactions. If they did not convert, adjusting the approach or frequency of contact in future campaigns may be beneficial.</a:t>
            </a:r>
          </a:p>
          <a:p>
            <a:pPr algn="just"/>
            <a:endParaRPr lang="en-IN" sz="1050" dirty="0"/>
          </a:p>
        </p:txBody>
      </p:sp>
      <p:sp>
        <p:nvSpPr>
          <p:cNvPr id="11" name="Rectangle 10">
            <a:extLst>
              <a:ext uri="{FF2B5EF4-FFF2-40B4-BE49-F238E27FC236}">
                <a16:creationId xmlns:a16="http://schemas.microsoft.com/office/drawing/2014/main" id="{5B5D3EF4-0120-4246-9434-DF7B13331D00}"/>
              </a:ext>
            </a:extLst>
          </p:cNvPr>
          <p:cNvSpPr/>
          <p:nvPr/>
        </p:nvSpPr>
        <p:spPr>
          <a:xfrm>
            <a:off x="9775824" y="6371350"/>
            <a:ext cx="1984136" cy="432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387313510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E4A4B1-D011-479D-881A-5B80C053A516}"/>
              </a:ext>
            </a:extLst>
          </p:cNvPr>
          <p:cNvSpPr>
            <a:spLocks noGrp="1"/>
          </p:cNvSpPr>
          <p:nvPr>
            <p:ph type="title"/>
          </p:nvPr>
        </p:nvSpPr>
        <p:spPr>
          <a:xfrm>
            <a:off x="432000" y="432000"/>
            <a:ext cx="3932037" cy="1054568"/>
          </a:xfrm>
        </p:spPr>
        <p:txBody>
          <a:bodyPr/>
          <a:lstStyle/>
          <a:p>
            <a:r>
              <a:rPr lang="en-IN" sz="3600" dirty="0"/>
              <a:t>Number of Days Since Last Contact</a:t>
            </a:r>
          </a:p>
        </p:txBody>
      </p:sp>
      <p:sp>
        <p:nvSpPr>
          <p:cNvPr id="4" name="Slide Number Placeholder 3">
            <a:extLst>
              <a:ext uri="{FF2B5EF4-FFF2-40B4-BE49-F238E27FC236}">
                <a16:creationId xmlns:a16="http://schemas.microsoft.com/office/drawing/2014/main" id="{93A5BDA4-FD99-431D-A673-3C45EA1281B2}"/>
              </a:ext>
            </a:extLst>
          </p:cNvPr>
          <p:cNvSpPr>
            <a:spLocks noGrp="1"/>
          </p:cNvSpPr>
          <p:nvPr>
            <p:ph type="sldNum" sz="quarter" idx="33"/>
          </p:nvPr>
        </p:nvSpPr>
        <p:spPr/>
        <p:txBody>
          <a:bodyPr/>
          <a:lstStyle/>
          <a:p>
            <a:fld id="{19B51A1E-902D-48AF-9020-955120F399B6}" type="slidenum">
              <a:rPr lang="en-US" noProof="0" smtClean="0"/>
              <a:pPr/>
              <a:t>23</a:t>
            </a:fld>
            <a:endParaRPr lang="en-US" noProof="0" dirty="0"/>
          </a:p>
        </p:txBody>
      </p:sp>
      <p:pic>
        <p:nvPicPr>
          <p:cNvPr id="8" name="Content Placeholder 7">
            <a:extLst>
              <a:ext uri="{FF2B5EF4-FFF2-40B4-BE49-F238E27FC236}">
                <a16:creationId xmlns:a16="http://schemas.microsoft.com/office/drawing/2014/main" id="{B363CEB7-1017-4646-BD6D-B74E76FAA0A5}"/>
              </a:ext>
            </a:extLst>
          </p:cNvPr>
          <p:cNvPicPr>
            <a:picLocks noGrp="1" noChangeAspect="1"/>
          </p:cNvPicPr>
          <p:nvPr>
            <p:ph idx="1"/>
          </p:nvPr>
        </p:nvPicPr>
        <p:blipFill rotWithShape="1">
          <a:blip r:embed="rId2"/>
          <a:srcRect l="2691" r="6278"/>
          <a:stretch/>
        </p:blipFill>
        <p:spPr>
          <a:xfrm>
            <a:off x="5496025" y="557128"/>
            <a:ext cx="6460976" cy="5328000"/>
          </a:xfrm>
          <a:noFill/>
          <a:ln>
            <a:solidFill>
              <a:schemeClr val="bg2">
                <a:lumMod val="75000"/>
              </a:schemeClr>
            </a:solidFill>
          </a:ln>
        </p:spPr>
      </p:pic>
      <p:sp>
        <p:nvSpPr>
          <p:cNvPr id="9" name="Rectangle 8">
            <a:extLst>
              <a:ext uri="{FF2B5EF4-FFF2-40B4-BE49-F238E27FC236}">
                <a16:creationId xmlns:a16="http://schemas.microsoft.com/office/drawing/2014/main" id="{F6F85A4D-8039-4A99-902E-9CAEBF6C7DEB}"/>
              </a:ext>
            </a:extLst>
          </p:cNvPr>
          <p:cNvSpPr/>
          <p:nvPr/>
        </p:nvSpPr>
        <p:spPr>
          <a:xfrm>
            <a:off x="432000" y="1568918"/>
            <a:ext cx="1955065" cy="12512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Rectangle 9">
            <a:extLst>
              <a:ext uri="{FF2B5EF4-FFF2-40B4-BE49-F238E27FC236}">
                <a16:creationId xmlns:a16="http://schemas.microsoft.com/office/drawing/2014/main" id="{DBA99882-9C1E-478F-B7A6-2B27602FAD67}"/>
              </a:ext>
            </a:extLst>
          </p:cNvPr>
          <p:cNvSpPr/>
          <p:nvPr/>
        </p:nvSpPr>
        <p:spPr>
          <a:xfrm>
            <a:off x="430398" y="1849922"/>
            <a:ext cx="2091421" cy="20505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Text Placeholder 5">
            <a:extLst>
              <a:ext uri="{FF2B5EF4-FFF2-40B4-BE49-F238E27FC236}">
                <a16:creationId xmlns:a16="http://schemas.microsoft.com/office/drawing/2014/main" id="{1D9506F6-762F-48C2-80E1-3D9BE378F3F5}"/>
              </a:ext>
            </a:extLst>
          </p:cNvPr>
          <p:cNvSpPr>
            <a:spLocks noGrp="1"/>
          </p:cNvSpPr>
          <p:nvPr>
            <p:ph type="body" sz="half" idx="2"/>
          </p:nvPr>
        </p:nvSpPr>
        <p:spPr>
          <a:xfrm>
            <a:off x="432000" y="1849922"/>
            <a:ext cx="4765642" cy="4019066"/>
          </a:xfrm>
        </p:spPr>
        <p:txBody>
          <a:bodyPr/>
          <a:lstStyle/>
          <a:p>
            <a:pPr algn="just"/>
            <a:r>
              <a:rPr lang="en-GB" sz="1100" b="1" i="0" dirty="0">
                <a:effectLst/>
              </a:rPr>
              <a:t>Analysis and Interpretation</a:t>
            </a:r>
          </a:p>
          <a:p>
            <a:pPr marL="342900" indent="-342900" algn="just">
              <a:buFont typeface="+mj-lt"/>
              <a:buAutoNum type="arabicPeriod"/>
            </a:pPr>
            <a:r>
              <a:rPr lang="en-GB" sz="1100" b="1" i="0" dirty="0">
                <a:solidFill>
                  <a:srgbClr val="020817"/>
                </a:solidFill>
                <a:effectLst/>
              </a:rPr>
              <a:t>Distribution Shape</a:t>
            </a:r>
            <a:r>
              <a:rPr lang="en-GB" sz="1100" b="0" i="0" dirty="0">
                <a:solidFill>
                  <a:srgbClr val="020817"/>
                </a:solidFill>
                <a:effectLst/>
              </a:rPr>
              <a:t>: The histogram indicates that many clients have a value of -1, typically representing clients who were never contacted. This creates a peak at -1, while the rest of the distribution shows a long tail extending to higher values, indicating that some clients were contacted many days ago.</a:t>
            </a:r>
          </a:p>
          <a:p>
            <a:pPr marL="342900" indent="-342900" algn="just">
              <a:buFont typeface="+mj-lt"/>
              <a:buAutoNum type="arabicPeriod"/>
            </a:pPr>
            <a:r>
              <a:rPr lang="en-GB" sz="1100" b="1" i="0" dirty="0">
                <a:solidFill>
                  <a:srgbClr val="020817"/>
                </a:solidFill>
                <a:effectLst/>
              </a:rPr>
              <a:t>Summary Statistics</a:t>
            </a:r>
            <a:r>
              <a:rPr lang="en-GB" sz="1100" b="0" i="0" dirty="0">
                <a:solidFill>
                  <a:srgbClr val="020817"/>
                </a:solidFill>
                <a:effectLst/>
              </a:rPr>
              <a:t>:</a:t>
            </a:r>
          </a:p>
          <a:p>
            <a:pPr marL="742950" lvl="1" indent="-285750" algn="just">
              <a:buFont typeface="Arial" panose="020B0604020202020204" pitchFamily="34" charset="0"/>
              <a:buChar char="•"/>
            </a:pPr>
            <a:r>
              <a:rPr lang="en-GB" sz="1100" b="1" i="0" dirty="0">
                <a:solidFill>
                  <a:srgbClr val="020817"/>
                </a:solidFill>
                <a:effectLst/>
              </a:rPr>
              <a:t>Mean</a:t>
            </a:r>
            <a:r>
              <a:rPr lang="en-GB" sz="1100" dirty="0">
                <a:solidFill>
                  <a:srgbClr val="020817"/>
                </a:solidFill>
              </a:rPr>
              <a:t>:</a:t>
            </a:r>
            <a:r>
              <a:rPr lang="en-GB" sz="1100" b="0" i="0" dirty="0">
                <a:solidFill>
                  <a:srgbClr val="020817"/>
                </a:solidFill>
                <a:effectLst/>
              </a:rPr>
              <a:t> The average number of days since the last contact is approximately 40.2 days, skewed by -1 values.</a:t>
            </a:r>
          </a:p>
          <a:p>
            <a:pPr marL="742950" lvl="1" indent="-285750" algn="just">
              <a:buFont typeface="Arial" panose="020B0604020202020204" pitchFamily="34" charset="0"/>
              <a:buChar char="•"/>
            </a:pPr>
            <a:r>
              <a:rPr lang="en-GB" sz="1100" b="1" i="0" dirty="0">
                <a:solidFill>
                  <a:srgbClr val="020817"/>
                </a:solidFill>
                <a:effectLst/>
              </a:rPr>
              <a:t>Median</a:t>
            </a:r>
            <a:r>
              <a:rPr lang="en-GB" sz="1100" b="0" i="0" dirty="0">
                <a:solidFill>
                  <a:srgbClr val="020817"/>
                </a:solidFill>
                <a:effectLst/>
              </a:rPr>
              <a:t>: The median is -1, suggesting that most clients have not been contacted recently.</a:t>
            </a:r>
          </a:p>
          <a:p>
            <a:pPr marL="742950" lvl="1" indent="-285750" algn="just">
              <a:buFont typeface="Arial" panose="020B0604020202020204" pitchFamily="34" charset="0"/>
              <a:buChar char="•"/>
            </a:pPr>
            <a:r>
              <a:rPr lang="en-GB" sz="1100" b="1" i="0" dirty="0">
                <a:solidFill>
                  <a:srgbClr val="020817"/>
                </a:solidFill>
                <a:effectLst/>
              </a:rPr>
              <a:t>Maximum</a:t>
            </a:r>
            <a:r>
              <a:rPr lang="en-GB" sz="1100" b="0" i="0" dirty="0">
                <a:solidFill>
                  <a:srgbClr val="020817"/>
                </a:solidFill>
                <a:effectLst/>
              </a:rPr>
              <a:t>: The maximum value is 871 days, which indicates that some clients have not been contacted for a very long time.</a:t>
            </a:r>
          </a:p>
          <a:p>
            <a:pPr algn="just"/>
            <a:r>
              <a:rPr lang="en-GB" sz="1100" b="1" i="0" dirty="0">
                <a:effectLst/>
              </a:rPr>
              <a:t>Actionable Insights</a:t>
            </a:r>
          </a:p>
          <a:p>
            <a:pPr marL="342900" indent="-342900" algn="just">
              <a:buFont typeface="+mj-lt"/>
              <a:buAutoNum type="arabicPeriod"/>
            </a:pPr>
            <a:r>
              <a:rPr lang="en-GB" sz="1100" b="1" i="0" dirty="0">
                <a:solidFill>
                  <a:srgbClr val="020817"/>
                </a:solidFill>
                <a:effectLst/>
              </a:rPr>
              <a:t>Client Engagement Strategy</a:t>
            </a:r>
            <a:r>
              <a:rPr lang="en-GB" sz="1100" b="0" i="0" dirty="0">
                <a:solidFill>
                  <a:srgbClr val="020817"/>
                </a:solidFill>
                <a:effectLst/>
              </a:rPr>
              <a:t>: The high number of clients with a value of -1 suggests that a significant portion of the client base has not recently engaged. Developing a re-engagement strategy for these clients to understand their current needs and interests may be beneficial.</a:t>
            </a:r>
          </a:p>
          <a:p>
            <a:pPr marL="342900" indent="-342900" algn="just">
              <a:buFont typeface="+mj-lt"/>
              <a:buAutoNum type="arabicPeriod"/>
            </a:pPr>
            <a:r>
              <a:rPr lang="en-GB" sz="1100" b="1" i="0" dirty="0">
                <a:solidFill>
                  <a:srgbClr val="020817"/>
                </a:solidFill>
                <a:effectLst/>
              </a:rPr>
              <a:t>Targeted Campaigns</a:t>
            </a:r>
            <a:r>
              <a:rPr lang="en-GB" sz="1100" b="0" i="0" dirty="0">
                <a:solidFill>
                  <a:srgbClr val="020817"/>
                </a:solidFill>
                <a:effectLst/>
              </a:rPr>
              <a:t>: For clients who have not been contacted for a long time (e.g., those with high '</a:t>
            </a:r>
            <a:r>
              <a:rPr lang="en-GB" sz="1100" b="0" i="0" dirty="0" err="1">
                <a:solidFill>
                  <a:srgbClr val="020817"/>
                </a:solidFill>
                <a:effectLst/>
              </a:rPr>
              <a:t>pdays</a:t>
            </a:r>
            <a:r>
              <a:rPr lang="en-GB" sz="1100" b="0" i="0" dirty="0">
                <a:solidFill>
                  <a:srgbClr val="020817"/>
                </a:solidFill>
                <a:effectLst/>
              </a:rPr>
              <a:t>' values), consider targeted campaigns to re-establish communication. This could involve personalised outreach or special offers to encourage re-engagement.</a:t>
            </a:r>
          </a:p>
          <a:p>
            <a:pPr algn="just"/>
            <a:endParaRPr lang="en-IN" sz="1100" dirty="0"/>
          </a:p>
        </p:txBody>
      </p:sp>
      <p:sp>
        <p:nvSpPr>
          <p:cNvPr id="11" name="Rectangle 10">
            <a:extLst>
              <a:ext uri="{FF2B5EF4-FFF2-40B4-BE49-F238E27FC236}">
                <a16:creationId xmlns:a16="http://schemas.microsoft.com/office/drawing/2014/main" id="{5B5D3EF4-0120-4246-9434-DF7B13331D00}"/>
              </a:ext>
            </a:extLst>
          </p:cNvPr>
          <p:cNvSpPr/>
          <p:nvPr/>
        </p:nvSpPr>
        <p:spPr>
          <a:xfrm>
            <a:off x="9775824" y="6371350"/>
            <a:ext cx="1984136" cy="432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17936355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E4A4B1-D011-479D-881A-5B80C053A516}"/>
              </a:ext>
            </a:extLst>
          </p:cNvPr>
          <p:cNvSpPr>
            <a:spLocks noGrp="1"/>
          </p:cNvSpPr>
          <p:nvPr>
            <p:ph type="title"/>
          </p:nvPr>
        </p:nvSpPr>
        <p:spPr>
          <a:xfrm>
            <a:off x="432000" y="432000"/>
            <a:ext cx="3932037" cy="1054568"/>
          </a:xfrm>
        </p:spPr>
        <p:txBody>
          <a:bodyPr/>
          <a:lstStyle/>
          <a:p>
            <a:r>
              <a:rPr lang="en-IN" sz="3600" dirty="0"/>
              <a:t>Number of Contacts Before the Campaign</a:t>
            </a:r>
          </a:p>
        </p:txBody>
      </p:sp>
      <p:sp>
        <p:nvSpPr>
          <p:cNvPr id="4" name="Slide Number Placeholder 3">
            <a:extLst>
              <a:ext uri="{FF2B5EF4-FFF2-40B4-BE49-F238E27FC236}">
                <a16:creationId xmlns:a16="http://schemas.microsoft.com/office/drawing/2014/main" id="{93A5BDA4-FD99-431D-A673-3C45EA1281B2}"/>
              </a:ext>
            </a:extLst>
          </p:cNvPr>
          <p:cNvSpPr>
            <a:spLocks noGrp="1"/>
          </p:cNvSpPr>
          <p:nvPr>
            <p:ph type="sldNum" sz="quarter" idx="33"/>
          </p:nvPr>
        </p:nvSpPr>
        <p:spPr/>
        <p:txBody>
          <a:bodyPr/>
          <a:lstStyle/>
          <a:p>
            <a:fld id="{19B51A1E-902D-48AF-9020-955120F399B6}" type="slidenum">
              <a:rPr lang="en-US" noProof="0" smtClean="0"/>
              <a:pPr/>
              <a:t>24</a:t>
            </a:fld>
            <a:endParaRPr lang="en-US" noProof="0" dirty="0"/>
          </a:p>
        </p:txBody>
      </p:sp>
      <p:pic>
        <p:nvPicPr>
          <p:cNvPr id="8" name="Content Placeholder 7">
            <a:extLst>
              <a:ext uri="{FF2B5EF4-FFF2-40B4-BE49-F238E27FC236}">
                <a16:creationId xmlns:a16="http://schemas.microsoft.com/office/drawing/2014/main" id="{B363CEB7-1017-4646-BD6D-B74E76FAA0A5}"/>
              </a:ext>
            </a:extLst>
          </p:cNvPr>
          <p:cNvPicPr>
            <a:picLocks noGrp="1" noChangeAspect="1"/>
          </p:cNvPicPr>
          <p:nvPr>
            <p:ph idx="1"/>
          </p:nvPr>
        </p:nvPicPr>
        <p:blipFill rotWithShape="1">
          <a:blip r:embed="rId2"/>
          <a:srcRect l="2478" r="6081"/>
          <a:stretch/>
        </p:blipFill>
        <p:spPr>
          <a:xfrm>
            <a:off x="4649002" y="557128"/>
            <a:ext cx="7308000" cy="5328000"/>
          </a:xfrm>
          <a:noFill/>
          <a:ln>
            <a:solidFill>
              <a:schemeClr val="bg2">
                <a:lumMod val="75000"/>
              </a:schemeClr>
            </a:solidFill>
          </a:ln>
        </p:spPr>
      </p:pic>
      <p:sp>
        <p:nvSpPr>
          <p:cNvPr id="9" name="Rectangle 8">
            <a:extLst>
              <a:ext uri="{FF2B5EF4-FFF2-40B4-BE49-F238E27FC236}">
                <a16:creationId xmlns:a16="http://schemas.microsoft.com/office/drawing/2014/main" id="{F6F85A4D-8039-4A99-902E-9CAEBF6C7DEB}"/>
              </a:ext>
            </a:extLst>
          </p:cNvPr>
          <p:cNvSpPr/>
          <p:nvPr/>
        </p:nvSpPr>
        <p:spPr>
          <a:xfrm>
            <a:off x="432000" y="1568918"/>
            <a:ext cx="1955065" cy="12512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Rectangle 9">
            <a:extLst>
              <a:ext uri="{FF2B5EF4-FFF2-40B4-BE49-F238E27FC236}">
                <a16:creationId xmlns:a16="http://schemas.microsoft.com/office/drawing/2014/main" id="{DBA99882-9C1E-478F-B7A6-2B27602FAD67}"/>
              </a:ext>
            </a:extLst>
          </p:cNvPr>
          <p:cNvSpPr/>
          <p:nvPr/>
        </p:nvSpPr>
        <p:spPr>
          <a:xfrm>
            <a:off x="430398" y="1849922"/>
            <a:ext cx="2091421" cy="20505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Text Placeholder 5">
            <a:extLst>
              <a:ext uri="{FF2B5EF4-FFF2-40B4-BE49-F238E27FC236}">
                <a16:creationId xmlns:a16="http://schemas.microsoft.com/office/drawing/2014/main" id="{1D9506F6-762F-48C2-80E1-3D9BE378F3F5}"/>
              </a:ext>
            </a:extLst>
          </p:cNvPr>
          <p:cNvSpPr>
            <a:spLocks noGrp="1"/>
          </p:cNvSpPr>
          <p:nvPr>
            <p:ph type="body" sz="half" idx="2"/>
          </p:nvPr>
        </p:nvSpPr>
        <p:spPr>
          <a:xfrm>
            <a:off x="432000" y="1849922"/>
            <a:ext cx="3932237" cy="4019066"/>
          </a:xfrm>
        </p:spPr>
        <p:txBody>
          <a:bodyPr/>
          <a:lstStyle/>
          <a:p>
            <a:pPr algn="just"/>
            <a:r>
              <a:rPr lang="en-GB" sz="1300" b="1" i="0" dirty="0">
                <a:solidFill>
                  <a:srgbClr val="020817"/>
                </a:solidFill>
                <a:effectLst/>
              </a:rPr>
              <a:t>Analysis</a:t>
            </a:r>
          </a:p>
          <a:p>
            <a:pPr marL="342900" indent="-342900" algn="just">
              <a:buFont typeface="+mj-lt"/>
              <a:buAutoNum type="arabicPeriod"/>
            </a:pPr>
            <a:r>
              <a:rPr lang="en-GB" sz="1300" b="0" i="0" dirty="0">
                <a:solidFill>
                  <a:srgbClr val="020817"/>
                </a:solidFill>
                <a:effectLst/>
              </a:rPr>
              <a:t>Most clients have not been contacted before (0 previous contacts).</a:t>
            </a:r>
          </a:p>
          <a:p>
            <a:pPr marL="342900" indent="-342900" algn="just">
              <a:buFont typeface="+mj-lt"/>
              <a:buAutoNum type="arabicPeriod"/>
            </a:pPr>
            <a:r>
              <a:rPr lang="en-GB" sz="1300" b="0" i="0" dirty="0">
                <a:solidFill>
                  <a:srgbClr val="020817"/>
                </a:solidFill>
                <a:effectLst/>
              </a:rPr>
              <a:t>The distribution has a long tail, with some clients being contacted many times.</a:t>
            </a:r>
          </a:p>
          <a:p>
            <a:pPr marL="342900" indent="-342900" algn="just">
              <a:buFont typeface="+mj-lt"/>
              <a:buAutoNum type="arabicPeriod"/>
            </a:pPr>
            <a:r>
              <a:rPr lang="en-GB" sz="1300" b="0" i="0" dirty="0">
                <a:solidFill>
                  <a:srgbClr val="020817"/>
                </a:solidFill>
                <a:effectLst/>
              </a:rPr>
              <a:t>The mean is about 0.58 contacts, but the median is 0, indicating a right-skewed distribution.</a:t>
            </a:r>
          </a:p>
          <a:p>
            <a:pPr marL="342900" indent="-342900" algn="just">
              <a:buFont typeface="+mj-lt"/>
              <a:buAutoNum type="arabicPeriod"/>
            </a:pPr>
            <a:r>
              <a:rPr lang="en-GB" sz="1300" b="0" i="0" dirty="0">
                <a:solidFill>
                  <a:srgbClr val="020817"/>
                </a:solidFill>
                <a:effectLst/>
              </a:rPr>
              <a:t>The maximum number of previous contacts is 275, which is quite high.</a:t>
            </a:r>
          </a:p>
          <a:p>
            <a:pPr algn="just"/>
            <a:r>
              <a:rPr lang="en-GB" sz="1300" b="1" i="0" dirty="0">
                <a:solidFill>
                  <a:srgbClr val="020817"/>
                </a:solidFill>
                <a:effectLst/>
              </a:rPr>
              <a:t>Actionable Insights</a:t>
            </a:r>
          </a:p>
          <a:p>
            <a:pPr marL="342900" indent="-342900" algn="just">
              <a:buFont typeface="+mj-lt"/>
              <a:buAutoNum type="arabicPeriod"/>
            </a:pPr>
            <a:r>
              <a:rPr lang="en-GB" sz="1300" b="0" i="0" dirty="0">
                <a:solidFill>
                  <a:srgbClr val="020817"/>
                </a:solidFill>
                <a:effectLst/>
              </a:rPr>
              <a:t>Focus on re-engaging clients with 0 previous contacts.</a:t>
            </a:r>
          </a:p>
          <a:p>
            <a:pPr marL="342900" indent="-342900" algn="just">
              <a:buFont typeface="+mj-lt"/>
              <a:buAutoNum type="arabicPeriod"/>
            </a:pPr>
            <a:r>
              <a:rPr lang="en-GB" sz="1300" b="0" i="0" dirty="0">
                <a:solidFill>
                  <a:srgbClr val="020817"/>
                </a:solidFill>
                <a:effectLst/>
              </a:rPr>
              <a:t>Investigate why some clients have been contacted so many times.</a:t>
            </a:r>
          </a:p>
          <a:p>
            <a:pPr marL="342900" indent="-342900" algn="just">
              <a:buFont typeface="+mj-lt"/>
              <a:buAutoNum type="arabicPeriod"/>
            </a:pPr>
            <a:r>
              <a:rPr lang="en-GB" sz="1300" b="0" i="0" dirty="0">
                <a:solidFill>
                  <a:srgbClr val="020817"/>
                </a:solidFill>
                <a:effectLst/>
              </a:rPr>
              <a:t>Consider segmenting clients based on previous contact frequency for targeted marketing.</a:t>
            </a:r>
          </a:p>
          <a:p>
            <a:pPr algn="just"/>
            <a:endParaRPr lang="en-IN" sz="1300" dirty="0"/>
          </a:p>
        </p:txBody>
      </p:sp>
      <p:sp>
        <p:nvSpPr>
          <p:cNvPr id="11" name="Rectangle 10">
            <a:extLst>
              <a:ext uri="{FF2B5EF4-FFF2-40B4-BE49-F238E27FC236}">
                <a16:creationId xmlns:a16="http://schemas.microsoft.com/office/drawing/2014/main" id="{5B5D3EF4-0120-4246-9434-DF7B13331D00}"/>
              </a:ext>
            </a:extLst>
          </p:cNvPr>
          <p:cNvSpPr/>
          <p:nvPr/>
        </p:nvSpPr>
        <p:spPr>
          <a:xfrm>
            <a:off x="9775824" y="6371350"/>
            <a:ext cx="1984136" cy="432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51916679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E4A4B1-D011-479D-881A-5B80C053A516}"/>
              </a:ext>
            </a:extLst>
          </p:cNvPr>
          <p:cNvSpPr>
            <a:spLocks noGrp="1"/>
          </p:cNvSpPr>
          <p:nvPr>
            <p:ph type="title"/>
          </p:nvPr>
        </p:nvSpPr>
        <p:spPr>
          <a:xfrm>
            <a:off x="432000" y="432000"/>
            <a:ext cx="3932037" cy="1054568"/>
          </a:xfrm>
        </p:spPr>
        <p:txBody>
          <a:bodyPr/>
          <a:lstStyle/>
          <a:p>
            <a:r>
              <a:rPr lang="en-IN" sz="3600" dirty="0"/>
              <a:t>Outcomes of the Previous Campaign</a:t>
            </a:r>
          </a:p>
        </p:txBody>
      </p:sp>
      <p:sp>
        <p:nvSpPr>
          <p:cNvPr id="4" name="Slide Number Placeholder 3">
            <a:extLst>
              <a:ext uri="{FF2B5EF4-FFF2-40B4-BE49-F238E27FC236}">
                <a16:creationId xmlns:a16="http://schemas.microsoft.com/office/drawing/2014/main" id="{93A5BDA4-FD99-431D-A673-3C45EA1281B2}"/>
              </a:ext>
            </a:extLst>
          </p:cNvPr>
          <p:cNvSpPr>
            <a:spLocks noGrp="1"/>
          </p:cNvSpPr>
          <p:nvPr>
            <p:ph type="sldNum" sz="quarter" idx="33"/>
          </p:nvPr>
        </p:nvSpPr>
        <p:spPr/>
        <p:txBody>
          <a:bodyPr/>
          <a:lstStyle/>
          <a:p>
            <a:fld id="{19B51A1E-902D-48AF-9020-955120F399B6}" type="slidenum">
              <a:rPr lang="en-US" noProof="0" smtClean="0"/>
              <a:pPr/>
              <a:t>25</a:t>
            </a:fld>
            <a:endParaRPr lang="en-US" noProof="0" dirty="0"/>
          </a:p>
        </p:txBody>
      </p:sp>
      <p:pic>
        <p:nvPicPr>
          <p:cNvPr id="8" name="Content Placeholder 7">
            <a:extLst>
              <a:ext uri="{FF2B5EF4-FFF2-40B4-BE49-F238E27FC236}">
                <a16:creationId xmlns:a16="http://schemas.microsoft.com/office/drawing/2014/main" id="{B363CEB7-1017-4646-BD6D-B74E76FAA0A5}"/>
              </a:ext>
            </a:extLst>
          </p:cNvPr>
          <p:cNvPicPr>
            <a:picLocks noGrp="1" noChangeAspect="1"/>
          </p:cNvPicPr>
          <p:nvPr>
            <p:ph idx="1"/>
          </p:nvPr>
        </p:nvPicPr>
        <p:blipFill rotWithShape="1">
          <a:blip r:embed="rId2"/>
          <a:srcRect l="3877" r="5639"/>
          <a:stretch/>
        </p:blipFill>
        <p:spPr>
          <a:xfrm>
            <a:off x="5274644" y="606392"/>
            <a:ext cx="6701356" cy="5262595"/>
          </a:xfrm>
          <a:noFill/>
          <a:ln>
            <a:solidFill>
              <a:schemeClr val="bg2">
                <a:lumMod val="75000"/>
              </a:schemeClr>
            </a:solidFill>
          </a:ln>
        </p:spPr>
      </p:pic>
      <p:sp>
        <p:nvSpPr>
          <p:cNvPr id="9" name="Rectangle 8">
            <a:extLst>
              <a:ext uri="{FF2B5EF4-FFF2-40B4-BE49-F238E27FC236}">
                <a16:creationId xmlns:a16="http://schemas.microsoft.com/office/drawing/2014/main" id="{F6F85A4D-8039-4A99-902E-9CAEBF6C7DEB}"/>
              </a:ext>
            </a:extLst>
          </p:cNvPr>
          <p:cNvSpPr/>
          <p:nvPr/>
        </p:nvSpPr>
        <p:spPr>
          <a:xfrm>
            <a:off x="432000" y="1568918"/>
            <a:ext cx="1955065" cy="12512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Rectangle 9">
            <a:extLst>
              <a:ext uri="{FF2B5EF4-FFF2-40B4-BE49-F238E27FC236}">
                <a16:creationId xmlns:a16="http://schemas.microsoft.com/office/drawing/2014/main" id="{DBA99882-9C1E-478F-B7A6-2B27602FAD67}"/>
              </a:ext>
            </a:extLst>
          </p:cNvPr>
          <p:cNvSpPr/>
          <p:nvPr/>
        </p:nvSpPr>
        <p:spPr>
          <a:xfrm>
            <a:off x="430398" y="1849922"/>
            <a:ext cx="2091421" cy="20505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Text Placeholder 5">
            <a:extLst>
              <a:ext uri="{FF2B5EF4-FFF2-40B4-BE49-F238E27FC236}">
                <a16:creationId xmlns:a16="http://schemas.microsoft.com/office/drawing/2014/main" id="{1D9506F6-762F-48C2-80E1-3D9BE378F3F5}"/>
              </a:ext>
            </a:extLst>
          </p:cNvPr>
          <p:cNvSpPr>
            <a:spLocks noGrp="1"/>
          </p:cNvSpPr>
          <p:nvPr>
            <p:ph type="body" sz="half" idx="2"/>
          </p:nvPr>
        </p:nvSpPr>
        <p:spPr>
          <a:xfrm>
            <a:off x="432000" y="1849922"/>
            <a:ext cx="4486509" cy="4019066"/>
          </a:xfrm>
        </p:spPr>
        <p:txBody>
          <a:bodyPr/>
          <a:lstStyle/>
          <a:p>
            <a:pPr algn="just"/>
            <a:r>
              <a:rPr lang="en-GB" sz="1200" b="1" i="0" dirty="0">
                <a:effectLst/>
              </a:rPr>
              <a:t>Analysis and Interpretation</a:t>
            </a:r>
          </a:p>
          <a:p>
            <a:pPr marL="342900" indent="-342900" algn="just">
              <a:buFont typeface="+mj-lt"/>
              <a:buAutoNum type="arabicPeriod"/>
            </a:pPr>
            <a:r>
              <a:rPr lang="en-GB" sz="1200" b="0" i="0" dirty="0">
                <a:solidFill>
                  <a:srgbClr val="020817"/>
                </a:solidFill>
                <a:effectLst/>
              </a:rPr>
              <a:t>The chart indicates the distribution of outcomes from previous marketing campaigns.</a:t>
            </a:r>
          </a:p>
          <a:p>
            <a:pPr marL="342900" indent="-342900" algn="just">
              <a:buFont typeface="+mj-lt"/>
              <a:buAutoNum type="arabicPeriod"/>
            </a:pPr>
            <a:r>
              <a:rPr lang="en-GB" sz="1200" b="0" i="0" dirty="0">
                <a:solidFill>
                  <a:srgbClr val="020817"/>
                </a:solidFill>
                <a:effectLst/>
              </a:rPr>
              <a:t>The categories typically include "success," "failure," and "other," with varying numbers of clients in each category.</a:t>
            </a:r>
          </a:p>
          <a:p>
            <a:pPr marL="342900" indent="-342900" algn="just">
              <a:buFont typeface="+mj-lt"/>
              <a:buAutoNum type="arabicPeriod"/>
            </a:pPr>
            <a:r>
              <a:rPr lang="en-GB" sz="1200" b="0" i="0" dirty="0">
                <a:solidFill>
                  <a:srgbClr val="020817"/>
                </a:solidFill>
                <a:effectLst/>
              </a:rPr>
              <a:t>Many clients have outcomes categorised as "failure," suggesting that previous campaigns may not have been effective for a large portion of the client base.</a:t>
            </a:r>
          </a:p>
          <a:p>
            <a:pPr algn="just"/>
            <a:r>
              <a:rPr lang="en-GB" sz="1200" b="1" i="0" dirty="0">
                <a:effectLst/>
              </a:rPr>
              <a:t>Actionable Insights</a:t>
            </a:r>
          </a:p>
          <a:p>
            <a:pPr marL="342900" indent="-342900" algn="just">
              <a:buFont typeface="+mj-lt"/>
              <a:buAutoNum type="arabicPeriod"/>
            </a:pPr>
            <a:r>
              <a:rPr lang="en-GB" sz="1200" b="1" i="0" dirty="0">
                <a:solidFill>
                  <a:srgbClr val="020817"/>
                </a:solidFill>
                <a:effectLst/>
              </a:rPr>
              <a:t>Focus on Successful Strategies</a:t>
            </a:r>
            <a:r>
              <a:rPr lang="en-GB" sz="1200" b="0" i="0" dirty="0">
                <a:solidFill>
                  <a:srgbClr val="020817"/>
                </a:solidFill>
                <a:effectLst/>
              </a:rPr>
              <a:t>: Analyse the characteristics of clients who had successful outcomes to replicate those strategies in future campaigns.</a:t>
            </a:r>
          </a:p>
          <a:p>
            <a:pPr marL="342900" indent="-342900" algn="just">
              <a:buFont typeface="+mj-lt"/>
              <a:buAutoNum type="arabicPeriod"/>
            </a:pPr>
            <a:r>
              <a:rPr lang="en-GB" sz="1200" b="1" i="0" dirty="0">
                <a:solidFill>
                  <a:srgbClr val="020817"/>
                </a:solidFill>
                <a:effectLst/>
              </a:rPr>
              <a:t>Reassess Campaign Approaches</a:t>
            </a:r>
            <a:r>
              <a:rPr lang="en-GB" sz="1200" b="0" i="0" dirty="0">
                <a:solidFill>
                  <a:srgbClr val="020817"/>
                </a:solidFill>
                <a:effectLst/>
              </a:rPr>
              <a:t>: Given the high number of failures, it may be beneficial to reassess the marketing strategies used in previous campaigns and identify areas for improvement.</a:t>
            </a:r>
          </a:p>
          <a:p>
            <a:pPr marL="342900" indent="-342900" algn="just">
              <a:buFont typeface="+mj-lt"/>
              <a:buAutoNum type="arabicPeriod"/>
            </a:pPr>
            <a:r>
              <a:rPr lang="en-GB" sz="1200" b="1" i="0" dirty="0">
                <a:solidFill>
                  <a:srgbClr val="020817"/>
                </a:solidFill>
                <a:effectLst/>
              </a:rPr>
              <a:t>Targeted Follow-ups</a:t>
            </a:r>
            <a:r>
              <a:rPr lang="en-GB" sz="1200" b="0" i="0" dirty="0">
                <a:solidFill>
                  <a:srgbClr val="020817"/>
                </a:solidFill>
                <a:effectLst/>
              </a:rPr>
              <a:t>: For clients with previous failures, consider personalised follow-up strategies to understand their needs better and improve engagement.</a:t>
            </a:r>
          </a:p>
          <a:p>
            <a:pPr algn="just"/>
            <a:endParaRPr lang="en-IN" sz="1200" dirty="0"/>
          </a:p>
        </p:txBody>
      </p:sp>
      <p:sp>
        <p:nvSpPr>
          <p:cNvPr id="11" name="Rectangle 10">
            <a:extLst>
              <a:ext uri="{FF2B5EF4-FFF2-40B4-BE49-F238E27FC236}">
                <a16:creationId xmlns:a16="http://schemas.microsoft.com/office/drawing/2014/main" id="{5B5D3EF4-0120-4246-9434-DF7B13331D00}"/>
              </a:ext>
            </a:extLst>
          </p:cNvPr>
          <p:cNvSpPr/>
          <p:nvPr/>
        </p:nvSpPr>
        <p:spPr>
          <a:xfrm>
            <a:off x="9775824" y="6371350"/>
            <a:ext cx="1984136" cy="432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307687397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E4A4B1-D011-479D-881A-5B80C053A516}"/>
              </a:ext>
            </a:extLst>
          </p:cNvPr>
          <p:cNvSpPr>
            <a:spLocks noGrp="1"/>
          </p:cNvSpPr>
          <p:nvPr>
            <p:ph type="title"/>
          </p:nvPr>
        </p:nvSpPr>
        <p:spPr>
          <a:xfrm>
            <a:off x="432000" y="432000"/>
            <a:ext cx="3932037" cy="1054568"/>
          </a:xfrm>
        </p:spPr>
        <p:txBody>
          <a:bodyPr/>
          <a:lstStyle/>
          <a:p>
            <a:r>
              <a:rPr lang="en-IN" sz="3600" dirty="0"/>
              <a:t>Clients Subscribed to Term Deposit</a:t>
            </a:r>
          </a:p>
        </p:txBody>
      </p:sp>
      <p:sp>
        <p:nvSpPr>
          <p:cNvPr id="4" name="Slide Number Placeholder 3">
            <a:extLst>
              <a:ext uri="{FF2B5EF4-FFF2-40B4-BE49-F238E27FC236}">
                <a16:creationId xmlns:a16="http://schemas.microsoft.com/office/drawing/2014/main" id="{93A5BDA4-FD99-431D-A673-3C45EA1281B2}"/>
              </a:ext>
            </a:extLst>
          </p:cNvPr>
          <p:cNvSpPr>
            <a:spLocks noGrp="1"/>
          </p:cNvSpPr>
          <p:nvPr>
            <p:ph type="sldNum" sz="quarter" idx="33"/>
          </p:nvPr>
        </p:nvSpPr>
        <p:spPr/>
        <p:txBody>
          <a:bodyPr/>
          <a:lstStyle/>
          <a:p>
            <a:fld id="{19B51A1E-902D-48AF-9020-955120F399B6}" type="slidenum">
              <a:rPr lang="en-US" noProof="0" smtClean="0"/>
              <a:pPr/>
              <a:t>26</a:t>
            </a:fld>
            <a:endParaRPr lang="en-US" noProof="0" dirty="0"/>
          </a:p>
        </p:txBody>
      </p:sp>
      <p:pic>
        <p:nvPicPr>
          <p:cNvPr id="8" name="Content Placeholder 7">
            <a:extLst>
              <a:ext uri="{FF2B5EF4-FFF2-40B4-BE49-F238E27FC236}">
                <a16:creationId xmlns:a16="http://schemas.microsoft.com/office/drawing/2014/main" id="{B363CEB7-1017-4646-BD6D-B74E76FAA0A5}"/>
              </a:ext>
            </a:extLst>
          </p:cNvPr>
          <p:cNvPicPr>
            <a:picLocks noGrp="1" noChangeAspect="1"/>
          </p:cNvPicPr>
          <p:nvPr>
            <p:ph idx="1"/>
          </p:nvPr>
        </p:nvPicPr>
        <p:blipFill>
          <a:blip r:embed="rId2"/>
          <a:srcRect l="18232" r="18232"/>
          <a:stretch/>
        </p:blipFill>
        <p:spPr>
          <a:xfrm>
            <a:off x="4735628" y="571099"/>
            <a:ext cx="7005011" cy="5364000"/>
          </a:xfrm>
          <a:noFill/>
          <a:ln>
            <a:solidFill>
              <a:schemeClr val="bg2">
                <a:lumMod val="75000"/>
              </a:schemeClr>
            </a:solidFill>
          </a:ln>
        </p:spPr>
      </p:pic>
      <p:sp>
        <p:nvSpPr>
          <p:cNvPr id="9" name="Rectangle 8">
            <a:extLst>
              <a:ext uri="{FF2B5EF4-FFF2-40B4-BE49-F238E27FC236}">
                <a16:creationId xmlns:a16="http://schemas.microsoft.com/office/drawing/2014/main" id="{F6F85A4D-8039-4A99-902E-9CAEBF6C7DEB}"/>
              </a:ext>
            </a:extLst>
          </p:cNvPr>
          <p:cNvSpPr/>
          <p:nvPr/>
        </p:nvSpPr>
        <p:spPr>
          <a:xfrm>
            <a:off x="432000" y="1568918"/>
            <a:ext cx="1955065" cy="12512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Rectangle 9">
            <a:extLst>
              <a:ext uri="{FF2B5EF4-FFF2-40B4-BE49-F238E27FC236}">
                <a16:creationId xmlns:a16="http://schemas.microsoft.com/office/drawing/2014/main" id="{DBA99882-9C1E-478F-B7A6-2B27602FAD67}"/>
              </a:ext>
            </a:extLst>
          </p:cNvPr>
          <p:cNvSpPr/>
          <p:nvPr/>
        </p:nvSpPr>
        <p:spPr>
          <a:xfrm>
            <a:off x="430398" y="1849922"/>
            <a:ext cx="2091421" cy="20505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Text Placeholder 5">
            <a:extLst>
              <a:ext uri="{FF2B5EF4-FFF2-40B4-BE49-F238E27FC236}">
                <a16:creationId xmlns:a16="http://schemas.microsoft.com/office/drawing/2014/main" id="{1D9506F6-762F-48C2-80E1-3D9BE378F3F5}"/>
              </a:ext>
            </a:extLst>
          </p:cNvPr>
          <p:cNvSpPr>
            <a:spLocks noGrp="1"/>
          </p:cNvSpPr>
          <p:nvPr>
            <p:ph type="body" sz="half" idx="2"/>
          </p:nvPr>
        </p:nvSpPr>
        <p:spPr>
          <a:xfrm>
            <a:off x="432000" y="1849922"/>
            <a:ext cx="3932237" cy="4019066"/>
          </a:xfrm>
        </p:spPr>
        <p:txBody>
          <a:bodyPr/>
          <a:lstStyle/>
          <a:p>
            <a:pPr algn="just"/>
            <a:r>
              <a:rPr lang="en-GB" sz="1300" b="1" i="0" dirty="0">
                <a:effectLst/>
              </a:rPr>
              <a:t>Analysis and Interpretation</a:t>
            </a:r>
          </a:p>
          <a:p>
            <a:pPr marL="342900" indent="-342900" algn="just">
              <a:buFont typeface="+mj-lt"/>
              <a:buAutoNum type="arabicPeriod"/>
            </a:pPr>
            <a:r>
              <a:rPr lang="en-GB" sz="1300" b="0" i="0" dirty="0">
                <a:solidFill>
                  <a:srgbClr val="020817"/>
                </a:solidFill>
                <a:effectLst/>
              </a:rPr>
              <a:t>The pie chart illustrates the proportion of clients who subscribed to a term deposit versus those who did not.</a:t>
            </a:r>
          </a:p>
          <a:p>
            <a:pPr marL="342900" indent="-342900" algn="just">
              <a:buFont typeface="+mj-lt"/>
              <a:buAutoNum type="arabicPeriod"/>
            </a:pPr>
            <a:r>
              <a:rPr lang="en-GB" sz="1300" b="0" i="0" dirty="0">
                <a:solidFill>
                  <a:srgbClr val="020817"/>
                </a:solidFill>
                <a:effectLst/>
              </a:rPr>
              <a:t>The majority of clients did not subscribe, indicating a potential area for improvement in marketing strategies to increase subscriptions.</a:t>
            </a:r>
          </a:p>
          <a:p>
            <a:pPr algn="just"/>
            <a:r>
              <a:rPr lang="en-GB" sz="1300" b="1" i="0" dirty="0">
                <a:effectLst/>
              </a:rPr>
              <a:t>Actionable Insights</a:t>
            </a:r>
          </a:p>
          <a:p>
            <a:pPr marL="342900" indent="-342900" algn="just">
              <a:buFont typeface="+mj-lt"/>
              <a:buAutoNum type="arabicPeriod"/>
            </a:pPr>
            <a:r>
              <a:rPr lang="en-GB" sz="1300" b="1" i="0" dirty="0">
                <a:solidFill>
                  <a:srgbClr val="020817"/>
                </a:solidFill>
                <a:effectLst/>
              </a:rPr>
              <a:t>Targeted Marketing</a:t>
            </a:r>
            <a:r>
              <a:rPr lang="en-GB" sz="1300" b="0" i="0" dirty="0">
                <a:solidFill>
                  <a:srgbClr val="020817"/>
                </a:solidFill>
                <a:effectLst/>
              </a:rPr>
              <a:t>: Focus on understanding the characteristics of clients who subscribed to tailor marketing efforts toward similar profiles.</a:t>
            </a:r>
          </a:p>
          <a:p>
            <a:pPr marL="342900" indent="-342900" algn="just">
              <a:buFont typeface="+mj-lt"/>
              <a:buAutoNum type="arabicPeriod"/>
            </a:pPr>
            <a:r>
              <a:rPr lang="en-GB" sz="1300" b="1" i="0" dirty="0">
                <a:solidFill>
                  <a:srgbClr val="020817"/>
                </a:solidFill>
                <a:effectLst/>
              </a:rPr>
              <a:t>Engagement Strategies</a:t>
            </a:r>
            <a:r>
              <a:rPr lang="en-GB" sz="1300" b="0" i="0" dirty="0">
                <a:solidFill>
                  <a:srgbClr val="020817"/>
                </a:solidFill>
                <a:effectLst/>
              </a:rPr>
              <a:t>: Develop strategies to engage clients who did not subscribe, possibly through personalised offers or follow-up communications.</a:t>
            </a:r>
          </a:p>
          <a:p>
            <a:pPr marL="342900" indent="-342900" algn="just">
              <a:buFont typeface="+mj-lt"/>
              <a:buAutoNum type="arabicPeriod"/>
            </a:pPr>
            <a:r>
              <a:rPr lang="en-GB" sz="1300" b="1" i="0" dirty="0">
                <a:solidFill>
                  <a:srgbClr val="020817"/>
                </a:solidFill>
                <a:effectLst/>
              </a:rPr>
              <a:t>Feedback Mechanism</a:t>
            </a:r>
            <a:r>
              <a:rPr lang="en-GB" sz="1300" b="0" i="0" dirty="0">
                <a:solidFill>
                  <a:srgbClr val="020817"/>
                </a:solidFill>
                <a:effectLst/>
              </a:rPr>
              <a:t>: Implement a feedback mechanism to understand why clients chose not to subscribe, which can inform future campaigns.</a:t>
            </a:r>
          </a:p>
          <a:p>
            <a:pPr algn="just"/>
            <a:endParaRPr lang="en-IN" sz="1300" dirty="0"/>
          </a:p>
        </p:txBody>
      </p:sp>
      <p:sp>
        <p:nvSpPr>
          <p:cNvPr id="11" name="Rectangle 10">
            <a:extLst>
              <a:ext uri="{FF2B5EF4-FFF2-40B4-BE49-F238E27FC236}">
                <a16:creationId xmlns:a16="http://schemas.microsoft.com/office/drawing/2014/main" id="{5B5D3EF4-0120-4246-9434-DF7B13331D00}"/>
              </a:ext>
            </a:extLst>
          </p:cNvPr>
          <p:cNvSpPr/>
          <p:nvPr/>
        </p:nvSpPr>
        <p:spPr>
          <a:xfrm>
            <a:off x="9775824" y="6371350"/>
            <a:ext cx="1984136" cy="432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175211160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E4A4B1-D011-479D-881A-5B80C053A516}"/>
              </a:ext>
            </a:extLst>
          </p:cNvPr>
          <p:cNvSpPr>
            <a:spLocks noGrp="1"/>
          </p:cNvSpPr>
          <p:nvPr>
            <p:ph type="title"/>
          </p:nvPr>
        </p:nvSpPr>
        <p:spPr>
          <a:xfrm>
            <a:off x="432000" y="432000"/>
            <a:ext cx="3932037" cy="1054568"/>
          </a:xfrm>
        </p:spPr>
        <p:txBody>
          <a:bodyPr/>
          <a:lstStyle/>
          <a:p>
            <a:r>
              <a:rPr lang="en-IN" sz="3600" dirty="0"/>
              <a:t>Correlation Matrix Heatmap</a:t>
            </a:r>
          </a:p>
        </p:txBody>
      </p:sp>
      <p:sp>
        <p:nvSpPr>
          <p:cNvPr id="4" name="Slide Number Placeholder 3">
            <a:extLst>
              <a:ext uri="{FF2B5EF4-FFF2-40B4-BE49-F238E27FC236}">
                <a16:creationId xmlns:a16="http://schemas.microsoft.com/office/drawing/2014/main" id="{93A5BDA4-FD99-431D-A673-3C45EA1281B2}"/>
              </a:ext>
            </a:extLst>
          </p:cNvPr>
          <p:cNvSpPr>
            <a:spLocks noGrp="1"/>
          </p:cNvSpPr>
          <p:nvPr>
            <p:ph type="sldNum" sz="quarter" idx="33"/>
          </p:nvPr>
        </p:nvSpPr>
        <p:spPr/>
        <p:txBody>
          <a:bodyPr/>
          <a:lstStyle/>
          <a:p>
            <a:fld id="{19B51A1E-902D-48AF-9020-955120F399B6}" type="slidenum">
              <a:rPr lang="en-US" noProof="0" smtClean="0"/>
              <a:pPr/>
              <a:t>27</a:t>
            </a:fld>
            <a:endParaRPr lang="en-US" noProof="0" dirty="0"/>
          </a:p>
        </p:txBody>
      </p:sp>
      <p:pic>
        <p:nvPicPr>
          <p:cNvPr id="8" name="Content Placeholder 7">
            <a:extLst>
              <a:ext uri="{FF2B5EF4-FFF2-40B4-BE49-F238E27FC236}">
                <a16:creationId xmlns:a16="http://schemas.microsoft.com/office/drawing/2014/main" id="{B363CEB7-1017-4646-BD6D-B74E76FAA0A5}"/>
              </a:ext>
            </a:extLst>
          </p:cNvPr>
          <p:cNvPicPr>
            <a:picLocks noGrp="1" noChangeAspect="1"/>
          </p:cNvPicPr>
          <p:nvPr>
            <p:ph idx="1"/>
          </p:nvPr>
        </p:nvPicPr>
        <p:blipFill rotWithShape="1">
          <a:blip r:embed="rId2"/>
          <a:srcRect l="5200" t="1868" r="15600" b="1868"/>
          <a:stretch/>
        </p:blipFill>
        <p:spPr>
          <a:xfrm>
            <a:off x="4460240" y="563603"/>
            <a:ext cx="7280400" cy="5371496"/>
          </a:xfrm>
          <a:noFill/>
          <a:ln>
            <a:solidFill>
              <a:schemeClr val="bg2">
                <a:lumMod val="75000"/>
              </a:schemeClr>
            </a:solidFill>
          </a:ln>
        </p:spPr>
      </p:pic>
      <p:sp>
        <p:nvSpPr>
          <p:cNvPr id="9" name="Rectangle 8">
            <a:extLst>
              <a:ext uri="{FF2B5EF4-FFF2-40B4-BE49-F238E27FC236}">
                <a16:creationId xmlns:a16="http://schemas.microsoft.com/office/drawing/2014/main" id="{F6F85A4D-8039-4A99-902E-9CAEBF6C7DEB}"/>
              </a:ext>
            </a:extLst>
          </p:cNvPr>
          <p:cNvSpPr/>
          <p:nvPr/>
        </p:nvSpPr>
        <p:spPr>
          <a:xfrm>
            <a:off x="432000" y="1568918"/>
            <a:ext cx="1955065" cy="12512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Rectangle 9">
            <a:extLst>
              <a:ext uri="{FF2B5EF4-FFF2-40B4-BE49-F238E27FC236}">
                <a16:creationId xmlns:a16="http://schemas.microsoft.com/office/drawing/2014/main" id="{DBA99882-9C1E-478F-B7A6-2B27602FAD67}"/>
              </a:ext>
            </a:extLst>
          </p:cNvPr>
          <p:cNvSpPr/>
          <p:nvPr/>
        </p:nvSpPr>
        <p:spPr>
          <a:xfrm>
            <a:off x="430398" y="1849922"/>
            <a:ext cx="2091421" cy="20505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Text Placeholder 5">
            <a:extLst>
              <a:ext uri="{FF2B5EF4-FFF2-40B4-BE49-F238E27FC236}">
                <a16:creationId xmlns:a16="http://schemas.microsoft.com/office/drawing/2014/main" id="{1D9506F6-762F-48C2-80E1-3D9BE378F3F5}"/>
              </a:ext>
            </a:extLst>
          </p:cNvPr>
          <p:cNvSpPr>
            <a:spLocks noGrp="1"/>
          </p:cNvSpPr>
          <p:nvPr>
            <p:ph type="body" sz="half" idx="2"/>
          </p:nvPr>
        </p:nvSpPr>
        <p:spPr>
          <a:xfrm>
            <a:off x="432000" y="1849922"/>
            <a:ext cx="3932237" cy="4019066"/>
          </a:xfrm>
        </p:spPr>
        <p:txBody>
          <a:bodyPr/>
          <a:lstStyle/>
          <a:p>
            <a:r>
              <a:rPr lang="en-IN" dirty="0"/>
              <a:t>FIND THE INTERPRETATION ON THE FOLLOWING PAGE</a:t>
            </a:r>
          </a:p>
          <a:p>
            <a:endParaRPr lang="en-IN" dirty="0"/>
          </a:p>
        </p:txBody>
      </p:sp>
      <p:sp>
        <p:nvSpPr>
          <p:cNvPr id="11" name="Rectangle 10">
            <a:extLst>
              <a:ext uri="{FF2B5EF4-FFF2-40B4-BE49-F238E27FC236}">
                <a16:creationId xmlns:a16="http://schemas.microsoft.com/office/drawing/2014/main" id="{5B5D3EF4-0120-4246-9434-DF7B13331D00}"/>
              </a:ext>
            </a:extLst>
          </p:cNvPr>
          <p:cNvSpPr/>
          <p:nvPr/>
        </p:nvSpPr>
        <p:spPr>
          <a:xfrm>
            <a:off x="9775824" y="6371350"/>
            <a:ext cx="1984136" cy="432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80488492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F14BDE-62EB-45C3-8878-B7B208542DBE}"/>
              </a:ext>
            </a:extLst>
          </p:cNvPr>
          <p:cNvSpPr>
            <a:spLocks noGrp="1"/>
          </p:cNvSpPr>
          <p:nvPr>
            <p:ph type="title"/>
          </p:nvPr>
        </p:nvSpPr>
        <p:spPr/>
        <p:txBody>
          <a:bodyPr/>
          <a:lstStyle/>
          <a:p>
            <a:r>
              <a:rPr lang="en-IN" sz="3200" dirty="0"/>
              <a:t>Correlation Matrix Heatmap</a:t>
            </a:r>
            <a:endParaRPr lang="en-IN" dirty="0"/>
          </a:p>
        </p:txBody>
      </p:sp>
      <p:sp>
        <p:nvSpPr>
          <p:cNvPr id="3" name="Footer Placeholder 2">
            <a:extLst>
              <a:ext uri="{FF2B5EF4-FFF2-40B4-BE49-F238E27FC236}">
                <a16:creationId xmlns:a16="http://schemas.microsoft.com/office/drawing/2014/main" id="{C07AD173-CC07-4383-9117-D77656C16F8B}"/>
              </a:ext>
            </a:extLst>
          </p:cNvPr>
          <p:cNvSpPr>
            <a:spLocks noGrp="1"/>
          </p:cNvSpPr>
          <p:nvPr>
            <p:ph type="ftr" sz="quarter" idx="13"/>
          </p:nvPr>
        </p:nvSpPr>
        <p:spPr/>
        <p:txBody>
          <a:bodyPr/>
          <a:lstStyle/>
          <a:p>
            <a:r>
              <a:rPr lang="en-US" noProof="0"/>
              <a:t>Add a footer</a:t>
            </a:r>
            <a:endParaRPr lang="en-US" noProof="0" dirty="0"/>
          </a:p>
        </p:txBody>
      </p:sp>
      <p:sp>
        <p:nvSpPr>
          <p:cNvPr id="4" name="Slide Number Placeholder 3">
            <a:extLst>
              <a:ext uri="{FF2B5EF4-FFF2-40B4-BE49-F238E27FC236}">
                <a16:creationId xmlns:a16="http://schemas.microsoft.com/office/drawing/2014/main" id="{828B13E3-7FFC-4681-9F55-1302363EA892}"/>
              </a:ext>
            </a:extLst>
          </p:cNvPr>
          <p:cNvSpPr>
            <a:spLocks noGrp="1"/>
          </p:cNvSpPr>
          <p:nvPr>
            <p:ph type="sldNum" sz="quarter" idx="33"/>
          </p:nvPr>
        </p:nvSpPr>
        <p:spPr/>
        <p:txBody>
          <a:bodyPr/>
          <a:lstStyle/>
          <a:p>
            <a:fld id="{19B51A1E-902D-48AF-9020-955120F399B6}" type="slidenum">
              <a:rPr lang="en-US" noProof="0" smtClean="0"/>
              <a:pPr/>
              <a:t>28</a:t>
            </a:fld>
            <a:endParaRPr lang="en-US" noProof="0" dirty="0"/>
          </a:p>
        </p:txBody>
      </p:sp>
      <p:sp>
        <p:nvSpPr>
          <p:cNvPr id="5" name="Content Placeholder 4">
            <a:extLst>
              <a:ext uri="{FF2B5EF4-FFF2-40B4-BE49-F238E27FC236}">
                <a16:creationId xmlns:a16="http://schemas.microsoft.com/office/drawing/2014/main" id="{9A30F1D2-DC92-4F4B-B141-2EA07BD38320}"/>
              </a:ext>
            </a:extLst>
          </p:cNvPr>
          <p:cNvSpPr>
            <a:spLocks noGrp="1"/>
          </p:cNvSpPr>
          <p:nvPr>
            <p:ph sz="half" idx="2"/>
          </p:nvPr>
        </p:nvSpPr>
        <p:spPr/>
        <p:txBody>
          <a:bodyPr/>
          <a:lstStyle/>
          <a:p>
            <a:pPr marL="0" indent="0" algn="just">
              <a:buNone/>
            </a:pPr>
            <a:r>
              <a:rPr lang="en-GB" sz="1100" b="1" i="0" dirty="0">
                <a:solidFill>
                  <a:srgbClr val="020817"/>
                </a:solidFill>
                <a:effectLst/>
              </a:rPr>
              <a:t>Actionable Insights:</a:t>
            </a:r>
          </a:p>
          <a:p>
            <a:pPr algn="just">
              <a:buFont typeface="+mj-lt"/>
              <a:buAutoNum type="arabicPeriod"/>
            </a:pPr>
            <a:r>
              <a:rPr lang="en-GB" sz="1100" b="1" i="0" dirty="0">
                <a:solidFill>
                  <a:srgbClr val="020817"/>
                </a:solidFill>
                <a:effectLst/>
              </a:rPr>
              <a:t>Focus on Call Duration: </a:t>
            </a:r>
            <a:r>
              <a:rPr lang="en-GB" sz="1100" b="0" i="0" dirty="0">
                <a:solidFill>
                  <a:srgbClr val="020817"/>
                </a:solidFill>
                <a:effectLst/>
              </a:rPr>
              <a:t>Train staff to engage clients in longer, more meaningful conversations. Develop strategies to keep clients interested and on the call longer.</a:t>
            </a:r>
          </a:p>
          <a:p>
            <a:pPr algn="just">
              <a:buFont typeface="+mj-lt"/>
              <a:buAutoNum type="arabicPeriod"/>
            </a:pPr>
            <a:r>
              <a:rPr lang="en-GB" sz="1100" b="1" i="0" dirty="0">
                <a:solidFill>
                  <a:srgbClr val="020817"/>
                </a:solidFill>
                <a:effectLst/>
              </a:rPr>
              <a:t>Optimize Contact Frequency</a:t>
            </a:r>
            <a:r>
              <a:rPr lang="en-GB" sz="1100" b="0" i="0" dirty="0">
                <a:solidFill>
                  <a:srgbClr val="020817"/>
                </a:solidFill>
                <a:effectLst/>
              </a:rPr>
              <a:t>: Implement a balanced approach to client contact. While multiple contacts can be beneficial, avoid excessive contact quickly. Consider a follow-up strategy for clients who haven't been contacted.</a:t>
            </a:r>
          </a:p>
          <a:p>
            <a:pPr algn="just">
              <a:buFont typeface="+mj-lt"/>
              <a:buAutoNum type="arabicPeriod"/>
            </a:pPr>
            <a:r>
              <a:rPr lang="en-GB" sz="1100" b="1" i="0" dirty="0">
                <a:solidFill>
                  <a:srgbClr val="020817"/>
                </a:solidFill>
                <a:effectLst/>
              </a:rPr>
              <a:t>Targeted Marketing: </a:t>
            </a:r>
            <a:r>
              <a:rPr lang="en-GB" sz="1100" b="0" i="0" dirty="0">
                <a:solidFill>
                  <a:srgbClr val="020817"/>
                </a:solidFill>
                <a:effectLst/>
              </a:rPr>
              <a:t>In marketing campaigns, slightly prioritize older clients and those with higher account balances. Develop specific strategies for clients with existing loans, as they might need more convincing.</a:t>
            </a:r>
          </a:p>
          <a:p>
            <a:pPr algn="just">
              <a:buFont typeface="+mj-lt"/>
              <a:buAutoNum type="arabicPeriod"/>
            </a:pPr>
            <a:r>
              <a:rPr lang="en-GB" sz="1100" b="1" i="0" dirty="0">
                <a:solidFill>
                  <a:srgbClr val="020817"/>
                </a:solidFill>
                <a:effectLst/>
              </a:rPr>
              <a:t>Personalized Approach: </a:t>
            </a:r>
            <a:r>
              <a:rPr lang="en-GB" sz="1100" b="0" i="0" dirty="0">
                <a:solidFill>
                  <a:srgbClr val="020817"/>
                </a:solidFill>
                <a:effectLst/>
              </a:rPr>
              <a:t>Use the weak correlations with age and balance to create personalised offers, but don't rely on these factors too heavily.</a:t>
            </a:r>
          </a:p>
          <a:p>
            <a:pPr algn="just">
              <a:buFont typeface="+mj-lt"/>
              <a:buAutoNum type="arabicPeriod"/>
            </a:pPr>
            <a:r>
              <a:rPr lang="en-GB" sz="1100" b="1" i="0" dirty="0">
                <a:solidFill>
                  <a:srgbClr val="020817"/>
                </a:solidFill>
                <a:effectLst/>
              </a:rPr>
              <a:t>Efficient Campaign Management: </a:t>
            </a:r>
            <a:r>
              <a:rPr lang="en-GB" sz="1100" b="0" i="0" dirty="0">
                <a:solidFill>
                  <a:srgbClr val="020817"/>
                </a:solidFill>
                <a:effectLst/>
              </a:rPr>
              <a:t>Monitor the contacts made during a campaign. If a client doesn't show interest after a few attempts, it might be better to focus resources elsewhere.</a:t>
            </a:r>
          </a:p>
          <a:p>
            <a:pPr algn="just">
              <a:buFont typeface="+mj-lt"/>
              <a:buAutoNum type="arabicPeriod"/>
            </a:pPr>
            <a:r>
              <a:rPr lang="en-GB" sz="1100" b="1" i="0" dirty="0">
                <a:solidFill>
                  <a:srgbClr val="020817"/>
                </a:solidFill>
                <a:effectLst/>
              </a:rPr>
              <a:t>Product Development: </a:t>
            </a:r>
            <a:r>
              <a:rPr lang="en-GB" sz="1100" b="0" i="0" dirty="0">
                <a:solidFill>
                  <a:srgbClr val="020817"/>
                </a:solidFill>
                <a:effectLst/>
              </a:rPr>
              <a:t>Consider developing term deposit products that are attractive to clients with existing loans, potentially offering better rates or terms.</a:t>
            </a:r>
          </a:p>
          <a:p>
            <a:pPr algn="just">
              <a:buFont typeface="+mj-lt"/>
              <a:buAutoNum type="arabicPeriod"/>
            </a:pPr>
            <a:r>
              <a:rPr lang="en-GB" sz="1100" b="1" i="0" dirty="0">
                <a:solidFill>
                  <a:srgbClr val="020817"/>
                </a:solidFill>
                <a:effectLst/>
              </a:rPr>
              <a:t>Further Analysis: </a:t>
            </a:r>
            <a:r>
              <a:rPr lang="en-GB" sz="1100" b="0" i="0" dirty="0">
                <a:solidFill>
                  <a:srgbClr val="020817"/>
                </a:solidFill>
                <a:effectLst/>
              </a:rPr>
              <a:t>Investigate why longer call durations lead to higher subscription rates. Is it due to better explaining benefits, building rapport, or addressing concerns? To understand their motivations, conduct a deeper analysis of the clients who subscribed despite having loans.</a:t>
            </a:r>
          </a:p>
          <a:p>
            <a:pPr algn="just">
              <a:buFont typeface="+mj-lt"/>
              <a:buAutoNum type="arabicPeriod"/>
            </a:pPr>
            <a:r>
              <a:rPr lang="en-GB" sz="1100" b="1" i="0" dirty="0">
                <a:solidFill>
                  <a:srgbClr val="020817"/>
                </a:solidFill>
                <a:effectLst/>
              </a:rPr>
              <a:t>Training and Quality Control: </a:t>
            </a:r>
            <a:r>
              <a:rPr lang="en-GB" sz="1100" b="0" i="0" dirty="0">
                <a:solidFill>
                  <a:srgbClr val="020817"/>
                </a:solidFill>
                <a:effectLst/>
              </a:rPr>
              <a:t>Implement training programs focused on effective communication and engagement techniques to increase call durations naturally. Regularly review call recordings to identify best practices that lead to longer, more productive conversations.</a:t>
            </a:r>
          </a:p>
          <a:p>
            <a:pPr marL="0" indent="0" algn="just">
              <a:buNone/>
            </a:pPr>
            <a:endParaRPr lang="en-IN" sz="1100" dirty="0"/>
          </a:p>
        </p:txBody>
      </p:sp>
      <p:sp>
        <p:nvSpPr>
          <p:cNvPr id="6" name="Content Placeholder 5">
            <a:extLst>
              <a:ext uri="{FF2B5EF4-FFF2-40B4-BE49-F238E27FC236}">
                <a16:creationId xmlns:a16="http://schemas.microsoft.com/office/drawing/2014/main" id="{98B39A65-D8E4-4FD4-9B69-C11857DB0E4D}"/>
              </a:ext>
            </a:extLst>
          </p:cNvPr>
          <p:cNvSpPr>
            <a:spLocks noGrp="1"/>
          </p:cNvSpPr>
          <p:nvPr>
            <p:ph sz="half" idx="1"/>
          </p:nvPr>
        </p:nvSpPr>
        <p:spPr/>
        <p:txBody>
          <a:bodyPr/>
          <a:lstStyle/>
          <a:p>
            <a:pPr marL="0" indent="0" algn="just">
              <a:buNone/>
            </a:pPr>
            <a:r>
              <a:rPr lang="en-GB" sz="1200" b="1" i="0" dirty="0">
                <a:solidFill>
                  <a:srgbClr val="020817"/>
                </a:solidFill>
                <a:effectLst/>
              </a:rPr>
              <a:t>Analysis and Interpretation:</a:t>
            </a:r>
          </a:p>
          <a:p>
            <a:pPr algn="just">
              <a:buFont typeface="+mj-lt"/>
              <a:buAutoNum type="arabicPeriod"/>
            </a:pPr>
            <a:r>
              <a:rPr lang="en-GB" sz="1200" b="1" i="0" dirty="0">
                <a:solidFill>
                  <a:srgbClr val="020817"/>
                </a:solidFill>
                <a:effectLst/>
              </a:rPr>
              <a:t>Duration (0.39): </a:t>
            </a:r>
            <a:r>
              <a:rPr lang="en-GB" sz="1200" b="0" i="0" dirty="0">
                <a:solidFill>
                  <a:srgbClr val="020817"/>
                </a:solidFill>
                <a:effectLst/>
              </a:rPr>
              <a:t>This shows the strongest positive correlation with the likelihood of subscribing to a term deposit. Longer call durations are associated with a higher chance of subscription.</a:t>
            </a:r>
          </a:p>
          <a:p>
            <a:pPr algn="just">
              <a:buFont typeface="+mj-lt"/>
              <a:buAutoNum type="arabicPeriod"/>
            </a:pPr>
            <a:r>
              <a:rPr lang="en-GB" sz="1200" b="1" i="0" dirty="0" err="1">
                <a:solidFill>
                  <a:srgbClr val="020817"/>
                </a:solidFill>
                <a:effectLst/>
              </a:rPr>
              <a:t>Pdays</a:t>
            </a:r>
            <a:r>
              <a:rPr lang="en-GB" sz="1200" b="1" i="0" dirty="0">
                <a:solidFill>
                  <a:srgbClr val="020817"/>
                </a:solidFill>
                <a:effectLst/>
              </a:rPr>
              <a:t> (0.10) and Previous (0.09): </a:t>
            </a:r>
            <a:r>
              <a:rPr lang="en-GB" sz="1200" b="0" i="0" dirty="0">
                <a:solidFill>
                  <a:srgbClr val="020817"/>
                </a:solidFill>
                <a:effectLst/>
              </a:rPr>
              <a:t>These have weak positive correlations. '</a:t>
            </a:r>
            <a:r>
              <a:rPr lang="en-GB" sz="1200" b="0" i="0" dirty="0" err="1">
                <a:solidFill>
                  <a:srgbClr val="020817"/>
                </a:solidFill>
                <a:effectLst/>
              </a:rPr>
              <a:t>Pdays</a:t>
            </a:r>
            <a:r>
              <a:rPr lang="en-GB" sz="1200" b="0" i="0" dirty="0">
                <a:solidFill>
                  <a:srgbClr val="020817"/>
                </a:solidFill>
                <a:effectLst/>
              </a:rPr>
              <a:t>' represents the days since the client was last contacted, and 'Previous' indicates the number of contacts before this campaign. This suggests that clients who haven't been contacted for a while or have been contacted multiple times before might be slightly more likely to subscribe.</a:t>
            </a:r>
          </a:p>
          <a:p>
            <a:pPr algn="just">
              <a:buFont typeface="+mj-lt"/>
              <a:buAutoNum type="arabicPeriod"/>
            </a:pPr>
            <a:r>
              <a:rPr lang="en-GB" sz="1200" b="1" i="0" dirty="0">
                <a:solidFill>
                  <a:srgbClr val="020817"/>
                </a:solidFill>
                <a:effectLst/>
              </a:rPr>
              <a:t>Balance (0.05) and Age (0.03): </a:t>
            </a:r>
            <a:r>
              <a:rPr lang="en-GB" sz="1200" b="0" i="0" dirty="0">
                <a:solidFill>
                  <a:srgbClr val="020817"/>
                </a:solidFill>
                <a:effectLst/>
              </a:rPr>
              <a:t>These have very weak positive correlations, indicating a slight tendency for older clients or those with higher account balances to subscribe, but the relationship is not strong.</a:t>
            </a:r>
          </a:p>
          <a:p>
            <a:pPr algn="just">
              <a:buFont typeface="+mj-lt"/>
              <a:buAutoNum type="arabicPeriod"/>
            </a:pPr>
            <a:r>
              <a:rPr lang="en-GB" sz="1200" b="1" i="0" dirty="0">
                <a:solidFill>
                  <a:srgbClr val="020817"/>
                </a:solidFill>
                <a:effectLst/>
              </a:rPr>
              <a:t>Housing (-0.14) and Loan (-0.07)</a:t>
            </a:r>
            <a:r>
              <a:rPr lang="en-GB" sz="1200" b="0" i="0" dirty="0">
                <a:solidFill>
                  <a:srgbClr val="020817"/>
                </a:solidFill>
                <a:effectLst/>
              </a:rPr>
              <a:t> show weak negative correlations. Clients with existing housing or personal loans are slightly less likely to subscribe to a term deposit.</a:t>
            </a:r>
          </a:p>
          <a:p>
            <a:pPr algn="just">
              <a:buFont typeface="+mj-lt"/>
              <a:buAutoNum type="arabicPeriod"/>
            </a:pPr>
            <a:r>
              <a:rPr lang="en-GB" sz="1200" b="1" i="0" dirty="0">
                <a:solidFill>
                  <a:srgbClr val="020817"/>
                </a:solidFill>
                <a:effectLst/>
              </a:rPr>
              <a:t>Campaign (-0.07): </a:t>
            </a:r>
            <a:r>
              <a:rPr lang="en-GB" sz="1200" b="0" i="0" dirty="0">
                <a:solidFill>
                  <a:srgbClr val="020817"/>
                </a:solidFill>
                <a:effectLst/>
              </a:rPr>
              <a:t>This weak negative correlation suggests that as the number of contacts during this campaign increases, the likelihood of subscription slightly decreases.</a:t>
            </a:r>
          </a:p>
          <a:p>
            <a:pPr algn="just">
              <a:buFont typeface="+mj-lt"/>
              <a:buAutoNum type="arabicPeriod"/>
            </a:pPr>
            <a:r>
              <a:rPr lang="en-GB" sz="1200" b="1" i="0" dirty="0">
                <a:solidFill>
                  <a:srgbClr val="020817"/>
                </a:solidFill>
                <a:effectLst/>
              </a:rPr>
              <a:t>Default (-0.02) and Day (-0.03): </a:t>
            </a:r>
            <a:r>
              <a:rPr lang="en-GB" sz="1200" b="0" i="0" dirty="0">
                <a:solidFill>
                  <a:srgbClr val="020817"/>
                </a:solidFill>
                <a:effectLst/>
              </a:rPr>
              <a:t>These have very weak negative correlations, indicating minimal impact on the subscription likelihood.</a:t>
            </a:r>
          </a:p>
          <a:p>
            <a:pPr algn="just"/>
            <a:endParaRPr lang="en-IN" sz="1200" dirty="0"/>
          </a:p>
        </p:txBody>
      </p:sp>
      <p:sp>
        <p:nvSpPr>
          <p:cNvPr id="7" name="Rectangle 6">
            <a:extLst>
              <a:ext uri="{FF2B5EF4-FFF2-40B4-BE49-F238E27FC236}">
                <a16:creationId xmlns:a16="http://schemas.microsoft.com/office/drawing/2014/main" id="{55CE3AD1-0F5C-4CB4-9D36-4FCC8BADE0E3}"/>
              </a:ext>
            </a:extLst>
          </p:cNvPr>
          <p:cNvSpPr/>
          <p:nvPr/>
        </p:nvSpPr>
        <p:spPr>
          <a:xfrm>
            <a:off x="9775824" y="6371350"/>
            <a:ext cx="1984136" cy="432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59685851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tx1">
            <a:lumMod val="75000"/>
            <a:lumOff val="25000"/>
          </a:schemeClr>
        </a:solidFill>
        <a:effectLst/>
      </p:bgPr>
    </p:bg>
    <p:spTree>
      <p:nvGrpSpPr>
        <p:cNvPr id="1" name=""/>
        <p:cNvGrpSpPr/>
        <p:nvPr/>
      </p:nvGrpSpPr>
      <p:grpSpPr>
        <a:xfrm>
          <a:off x="0" y="0"/>
          <a:ext cx="0" cy="0"/>
          <a:chOff x="0" y="0"/>
          <a:chExt cx="0" cy="0"/>
        </a:xfrm>
      </p:grpSpPr>
      <p:pic>
        <p:nvPicPr>
          <p:cNvPr id="23" name="Picture Placeholder 22" descr="Push pins laying down with one standing up">
            <a:extLst>
              <a:ext uri="{FF2B5EF4-FFF2-40B4-BE49-F238E27FC236}">
                <a16:creationId xmlns:a16="http://schemas.microsoft.com/office/drawing/2014/main" id="{35E3CE9E-B03C-CB4B-A83A-D3265C7A0545}"/>
              </a:ext>
            </a:extLst>
          </p:cNvPr>
          <p:cNvPicPr>
            <a:picLocks noGrp="1" noChangeAspect="1"/>
          </p:cNvPicPr>
          <p:nvPr>
            <p:ph type="pic" sz="quarter" idx="10"/>
          </p:nvPr>
        </p:nvPicPr>
        <p:blipFill>
          <a:blip r:embed="rId2"/>
          <a:srcRect/>
          <a:stretch/>
        </p:blipFill>
        <p:spPr>
          <a:xfrm>
            <a:off x="2411412" y="251022"/>
            <a:ext cx="9780588" cy="5869307"/>
          </a:xfrm>
        </p:spPr>
      </p:pic>
      <p:sp>
        <p:nvSpPr>
          <p:cNvPr id="3" name="Title 2">
            <a:extLst>
              <a:ext uri="{FF2B5EF4-FFF2-40B4-BE49-F238E27FC236}">
                <a16:creationId xmlns:a16="http://schemas.microsoft.com/office/drawing/2014/main" id="{200B3D2B-613A-41BE-987D-E6A1324B456D}"/>
              </a:ext>
            </a:extLst>
          </p:cNvPr>
          <p:cNvSpPr>
            <a:spLocks noGrp="1"/>
          </p:cNvSpPr>
          <p:nvPr>
            <p:ph type="title"/>
          </p:nvPr>
        </p:nvSpPr>
        <p:spPr>
          <a:xfrm>
            <a:off x="-1700" y="2156226"/>
            <a:ext cx="4903599" cy="1958400"/>
          </a:xfrm>
        </p:spPr>
        <p:txBody>
          <a:bodyPr/>
          <a:lstStyle/>
          <a:p>
            <a:r>
              <a:rPr lang="en-US" sz="4550" dirty="0"/>
              <a:t>Additional </a:t>
            </a:r>
            <a:r>
              <a:rPr lang="en-US" sz="4550" dirty="0" err="1"/>
              <a:t>Visualisations</a:t>
            </a:r>
            <a:endParaRPr lang="en-US" sz="4550" dirty="0"/>
          </a:p>
        </p:txBody>
      </p:sp>
      <p:sp>
        <p:nvSpPr>
          <p:cNvPr id="10" name="Text Placeholder 9">
            <a:extLst>
              <a:ext uri="{FF2B5EF4-FFF2-40B4-BE49-F238E27FC236}">
                <a16:creationId xmlns:a16="http://schemas.microsoft.com/office/drawing/2014/main" id="{2972F17A-D965-40B9-8ABB-C634072DBCC0}"/>
              </a:ext>
            </a:extLst>
          </p:cNvPr>
          <p:cNvSpPr>
            <a:spLocks noGrp="1"/>
          </p:cNvSpPr>
          <p:nvPr>
            <p:ph type="body" sz="quarter" idx="13"/>
          </p:nvPr>
        </p:nvSpPr>
        <p:spPr>
          <a:xfrm>
            <a:off x="0" y="4110760"/>
            <a:ext cx="4902200" cy="1100565"/>
          </a:xfrm>
        </p:spPr>
        <p:txBody>
          <a:bodyPr/>
          <a:lstStyle/>
          <a:p>
            <a:r>
              <a:rPr lang="en-US" dirty="0"/>
              <a:t>Plotting Graphs with One or More Variables and Driving Insights</a:t>
            </a:r>
          </a:p>
          <a:p>
            <a:endParaRPr lang="en-US" dirty="0"/>
          </a:p>
        </p:txBody>
      </p:sp>
      <p:sp>
        <p:nvSpPr>
          <p:cNvPr id="5" name="Slide Number Placeholder 4">
            <a:extLst>
              <a:ext uri="{FF2B5EF4-FFF2-40B4-BE49-F238E27FC236}">
                <a16:creationId xmlns:a16="http://schemas.microsoft.com/office/drawing/2014/main" id="{F6964141-6F81-4947-A236-746D94ED3F6F}"/>
              </a:ext>
            </a:extLst>
          </p:cNvPr>
          <p:cNvSpPr>
            <a:spLocks noGrp="1"/>
          </p:cNvSpPr>
          <p:nvPr>
            <p:ph type="sldNum" sz="quarter" idx="12"/>
          </p:nvPr>
        </p:nvSpPr>
        <p:spPr>
          <a:solidFill>
            <a:schemeClr val="tx1">
              <a:lumMod val="95000"/>
              <a:lumOff val="5000"/>
            </a:schemeClr>
          </a:solidFill>
        </p:spPr>
        <p:txBody>
          <a:bodyPr/>
          <a:lstStyle/>
          <a:p>
            <a:fld id="{19B51A1E-902D-48AF-9020-955120F399B6}" type="slidenum">
              <a:rPr lang="en-US" smtClean="0"/>
              <a:pPr/>
              <a:t>29</a:t>
            </a:fld>
            <a:endParaRPr lang="en-US" dirty="0"/>
          </a:p>
        </p:txBody>
      </p:sp>
      <p:sp>
        <p:nvSpPr>
          <p:cNvPr id="6" name="Rectangle 5">
            <a:extLst>
              <a:ext uri="{FF2B5EF4-FFF2-40B4-BE49-F238E27FC236}">
                <a16:creationId xmlns:a16="http://schemas.microsoft.com/office/drawing/2014/main" id="{82A6A880-F19E-4C29-B91D-B6D5A818B4FD}"/>
              </a:ext>
            </a:extLst>
          </p:cNvPr>
          <p:cNvSpPr/>
          <p:nvPr/>
        </p:nvSpPr>
        <p:spPr>
          <a:xfrm>
            <a:off x="9775824" y="6371350"/>
            <a:ext cx="1984136" cy="432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353784780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E4A4B1-D011-479D-881A-5B80C053A516}"/>
              </a:ext>
            </a:extLst>
          </p:cNvPr>
          <p:cNvSpPr>
            <a:spLocks noGrp="1"/>
          </p:cNvSpPr>
          <p:nvPr>
            <p:ph type="title"/>
          </p:nvPr>
        </p:nvSpPr>
        <p:spPr>
          <a:xfrm>
            <a:off x="432000" y="432000"/>
            <a:ext cx="3932037" cy="1054568"/>
          </a:xfrm>
        </p:spPr>
        <p:txBody>
          <a:bodyPr/>
          <a:lstStyle/>
          <a:p>
            <a:r>
              <a:rPr lang="en-IN" sz="3600" dirty="0"/>
              <a:t>Age vs Subscription to Term Deposit</a:t>
            </a:r>
          </a:p>
        </p:txBody>
      </p:sp>
      <p:sp>
        <p:nvSpPr>
          <p:cNvPr id="4" name="Slide Number Placeholder 3">
            <a:extLst>
              <a:ext uri="{FF2B5EF4-FFF2-40B4-BE49-F238E27FC236}">
                <a16:creationId xmlns:a16="http://schemas.microsoft.com/office/drawing/2014/main" id="{93A5BDA4-FD99-431D-A673-3C45EA1281B2}"/>
              </a:ext>
            </a:extLst>
          </p:cNvPr>
          <p:cNvSpPr>
            <a:spLocks noGrp="1"/>
          </p:cNvSpPr>
          <p:nvPr>
            <p:ph type="sldNum" sz="quarter" idx="33"/>
          </p:nvPr>
        </p:nvSpPr>
        <p:spPr/>
        <p:txBody>
          <a:bodyPr/>
          <a:lstStyle/>
          <a:p>
            <a:fld id="{19B51A1E-902D-48AF-9020-955120F399B6}" type="slidenum">
              <a:rPr lang="en-US" noProof="0" smtClean="0"/>
              <a:pPr/>
              <a:t>30</a:t>
            </a:fld>
            <a:endParaRPr lang="en-US" noProof="0" dirty="0"/>
          </a:p>
        </p:txBody>
      </p:sp>
      <p:pic>
        <p:nvPicPr>
          <p:cNvPr id="8" name="Content Placeholder 7">
            <a:extLst>
              <a:ext uri="{FF2B5EF4-FFF2-40B4-BE49-F238E27FC236}">
                <a16:creationId xmlns:a16="http://schemas.microsoft.com/office/drawing/2014/main" id="{B363CEB7-1017-4646-BD6D-B74E76FAA0A5}"/>
              </a:ext>
            </a:extLst>
          </p:cNvPr>
          <p:cNvPicPr>
            <a:picLocks noGrp="1" noChangeAspect="1"/>
          </p:cNvPicPr>
          <p:nvPr>
            <p:ph idx="1"/>
          </p:nvPr>
        </p:nvPicPr>
        <p:blipFill rotWithShape="1">
          <a:blip r:embed="rId2"/>
          <a:srcRect l="7848" t="2736" r="7848" b="-2736"/>
          <a:stretch/>
        </p:blipFill>
        <p:spPr>
          <a:xfrm>
            <a:off x="4668253" y="606392"/>
            <a:ext cx="7307747" cy="5262595"/>
          </a:xfrm>
          <a:noFill/>
          <a:ln>
            <a:solidFill>
              <a:schemeClr val="bg2">
                <a:lumMod val="75000"/>
              </a:schemeClr>
            </a:solidFill>
          </a:ln>
        </p:spPr>
      </p:pic>
      <p:sp>
        <p:nvSpPr>
          <p:cNvPr id="9" name="Rectangle 8">
            <a:extLst>
              <a:ext uri="{FF2B5EF4-FFF2-40B4-BE49-F238E27FC236}">
                <a16:creationId xmlns:a16="http://schemas.microsoft.com/office/drawing/2014/main" id="{F6F85A4D-8039-4A99-902E-9CAEBF6C7DEB}"/>
              </a:ext>
            </a:extLst>
          </p:cNvPr>
          <p:cNvSpPr/>
          <p:nvPr/>
        </p:nvSpPr>
        <p:spPr>
          <a:xfrm>
            <a:off x="432000" y="1568918"/>
            <a:ext cx="1955065" cy="12512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Rectangle 9">
            <a:extLst>
              <a:ext uri="{FF2B5EF4-FFF2-40B4-BE49-F238E27FC236}">
                <a16:creationId xmlns:a16="http://schemas.microsoft.com/office/drawing/2014/main" id="{DBA99882-9C1E-478F-B7A6-2B27602FAD67}"/>
              </a:ext>
            </a:extLst>
          </p:cNvPr>
          <p:cNvSpPr/>
          <p:nvPr/>
        </p:nvSpPr>
        <p:spPr>
          <a:xfrm>
            <a:off x="430398" y="1849922"/>
            <a:ext cx="2091421" cy="20505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Text Placeholder 5">
            <a:extLst>
              <a:ext uri="{FF2B5EF4-FFF2-40B4-BE49-F238E27FC236}">
                <a16:creationId xmlns:a16="http://schemas.microsoft.com/office/drawing/2014/main" id="{1D9506F6-762F-48C2-80E1-3D9BE378F3F5}"/>
              </a:ext>
            </a:extLst>
          </p:cNvPr>
          <p:cNvSpPr>
            <a:spLocks noGrp="1"/>
          </p:cNvSpPr>
          <p:nvPr>
            <p:ph type="body" sz="half" idx="2"/>
          </p:nvPr>
        </p:nvSpPr>
        <p:spPr>
          <a:xfrm>
            <a:off x="432000" y="1849922"/>
            <a:ext cx="3932237" cy="4019066"/>
          </a:xfrm>
        </p:spPr>
        <p:txBody>
          <a:bodyPr/>
          <a:lstStyle/>
          <a:p>
            <a:pPr algn="just"/>
            <a:r>
              <a:rPr lang="en-GB" sz="1200" b="1" i="0" dirty="0">
                <a:effectLst/>
              </a:rPr>
              <a:t>Analysis and Interpretation</a:t>
            </a:r>
          </a:p>
          <a:p>
            <a:pPr marL="342900" indent="-342900" algn="just">
              <a:buFont typeface="+mj-lt"/>
              <a:buAutoNum type="arabicPeriod"/>
            </a:pPr>
            <a:r>
              <a:rPr lang="en-GB" sz="1200" b="0" i="0" dirty="0">
                <a:solidFill>
                  <a:srgbClr val="020817"/>
                </a:solidFill>
                <a:effectLst/>
              </a:rPr>
              <a:t>The box plot illustrates the distribution of ages for clients who subscribed to a term deposit versus those who did not.</a:t>
            </a:r>
          </a:p>
          <a:p>
            <a:pPr marL="342900" indent="-342900" algn="just">
              <a:buFont typeface="+mj-lt"/>
              <a:buAutoNum type="arabicPeriod"/>
            </a:pPr>
            <a:r>
              <a:rPr lang="en-GB" sz="1200" b="0" i="0" dirty="0">
                <a:solidFill>
                  <a:srgbClr val="020817"/>
                </a:solidFill>
                <a:effectLst/>
              </a:rPr>
              <a:t>Clients who subscribed tend to be older, with a higher median age than those who did not subscribe.</a:t>
            </a:r>
          </a:p>
          <a:p>
            <a:pPr marL="342900" indent="-342900" algn="just">
              <a:buFont typeface="+mj-lt"/>
              <a:buAutoNum type="arabicPeriod"/>
            </a:pPr>
            <a:r>
              <a:rPr lang="en-GB" sz="1200" b="0" i="0" dirty="0">
                <a:solidFill>
                  <a:srgbClr val="020817"/>
                </a:solidFill>
                <a:effectLst/>
              </a:rPr>
              <a:t>There are also some outliers in both categories, indicating that while most clients fall within a certain age range, there are individuals outside of this range.</a:t>
            </a:r>
          </a:p>
          <a:p>
            <a:pPr algn="just"/>
            <a:r>
              <a:rPr lang="en-GB" sz="1200" b="1" i="0" dirty="0">
                <a:effectLst/>
              </a:rPr>
              <a:t>Actionable Insights</a:t>
            </a:r>
          </a:p>
          <a:p>
            <a:pPr marL="342900" indent="-342900" algn="just">
              <a:buFont typeface="+mj-lt"/>
              <a:buAutoNum type="arabicPeriod"/>
            </a:pPr>
            <a:r>
              <a:rPr lang="en-GB" sz="1200" b="1" i="0" dirty="0">
                <a:solidFill>
                  <a:srgbClr val="020817"/>
                </a:solidFill>
                <a:effectLst/>
              </a:rPr>
              <a:t>Target Older Demographics</a:t>
            </a:r>
            <a:r>
              <a:rPr lang="en-GB" sz="1200" b="0" i="0" dirty="0">
                <a:solidFill>
                  <a:srgbClr val="020817"/>
                </a:solidFill>
                <a:effectLst/>
              </a:rPr>
              <a:t>: Given the trend that older clients are more likely to subscribe, marketing efforts could be tailored to appeal to this demographic.</a:t>
            </a:r>
          </a:p>
          <a:p>
            <a:pPr marL="342900" indent="-342900" algn="just">
              <a:buFont typeface="+mj-lt"/>
              <a:buAutoNum type="arabicPeriod"/>
            </a:pPr>
            <a:r>
              <a:rPr lang="en-GB" sz="1200" b="1" i="0" dirty="0">
                <a:solidFill>
                  <a:srgbClr val="020817"/>
                </a:solidFill>
                <a:effectLst/>
              </a:rPr>
              <a:t>Personalized Campaigns</a:t>
            </a:r>
            <a:r>
              <a:rPr lang="en-GB" sz="1200" b="0" i="0" dirty="0">
                <a:solidFill>
                  <a:srgbClr val="020817"/>
                </a:solidFill>
                <a:effectLst/>
              </a:rPr>
              <a:t>: Consider developing personalised campaigns that address different age groups' specific needs and preferences.</a:t>
            </a:r>
          </a:p>
          <a:p>
            <a:pPr marL="342900" indent="-342900" algn="just">
              <a:buFont typeface="+mj-lt"/>
              <a:buAutoNum type="arabicPeriod"/>
            </a:pPr>
            <a:r>
              <a:rPr lang="en-GB" sz="1200" b="1" i="0" dirty="0">
                <a:solidFill>
                  <a:srgbClr val="020817"/>
                </a:solidFill>
                <a:effectLst/>
              </a:rPr>
              <a:t>Further Analysis</a:t>
            </a:r>
            <a:r>
              <a:rPr lang="en-GB" sz="1200" b="0" i="0" dirty="0">
                <a:solidFill>
                  <a:srgbClr val="020817"/>
                </a:solidFill>
                <a:effectLst/>
              </a:rPr>
              <a:t>: Investigate other factors influencing subscription rates among different age groups, such as income or previous banking history.</a:t>
            </a:r>
          </a:p>
          <a:p>
            <a:pPr algn="just"/>
            <a:endParaRPr lang="en-IN" sz="1200" dirty="0"/>
          </a:p>
        </p:txBody>
      </p:sp>
      <p:sp>
        <p:nvSpPr>
          <p:cNvPr id="11" name="Rectangle 10">
            <a:extLst>
              <a:ext uri="{FF2B5EF4-FFF2-40B4-BE49-F238E27FC236}">
                <a16:creationId xmlns:a16="http://schemas.microsoft.com/office/drawing/2014/main" id="{5B5D3EF4-0120-4246-9434-DF7B13331D00}"/>
              </a:ext>
            </a:extLst>
          </p:cNvPr>
          <p:cNvSpPr/>
          <p:nvPr/>
        </p:nvSpPr>
        <p:spPr>
          <a:xfrm>
            <a:off x="9775824" y="6371350"/>
            <a:ext cx="1984136" cy="432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103143486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E4A4B1-D011-479D-881A-5B80C053A516}"/>
              </a:ext>
            </a:extLst>
          </p:cNvPr>
          <p:cNvSpPr>
            <a:spLocks noGrp="1"/>
          </p:cNvSpPr>
          <p:nvPr>
            <p:ph type="title"/>
          </p:nvPr>
        </p:nvSpPr>
        <p:spPr>
          <a:xfrm>
            <a:off x="432000" y="432000"/>
            <a:ext cx="3932037" cy="1054568"/>
          </a:xfrm>
        </p:spPr>
        <p:txBody>
          <a:bodyPr/>
          <a:lstStyle/>
          <a:p>
            <a:r>
              <a:rPr lang="en-IN" sz="3600" dirty="0"/>
              <a:t>Education Level vs Term Deposit</a:t>
            </a:r>
          </a:p>
        </p:txBody>
      </p:sp>
      <p:sp>
        <p:nvSpPr>
          <p:cNvPr id="4" name="Slide Number Placeholder 3">
            <a:extLst>
              <a:ext uri="{FF2B5EF4-FFF2-40B4-BE49-F238E27FC236}">
                <a16:creationId xmlns:a16="http://schemas.microsoft.com/office/drawing/2014/main" id="{93A5BDA4-FD99-431D-A673-3C45EA1281B2}"/>
              </a:ext>
            </a:extLst>
          </p:cNvPr>
          <p:cNvSpPr>
            <a:spLocks noGrp="1"/>
          </p:cNvSpPr>
          <p:nvPr>
            <p:ph type="sldNum" sz="quarter" idx="33"/>
          </p:nvPr>
        </p:nvSpPr>
        <p:spPr/>
        <p:txBody>
          <a:bodyPr/>
          <a:lstStyle/>
          <a:p>
            <a:fld id="{19B51A1E-902D-48AF-9020-955120F399B6}" type="slidenum">
              <a:rPr lang="en-US" noProof="0" smtClean="0"/>
              <a:pPr/>
              <a:t>31</a:t>
            </a:fld>
            <a:endParaRPr lang="en-US" noProof="0" dirty="0"/>
          </a:p>
        </p:txBody>
      </p:sp>
      <p:pic>
        <p:nvPicPr>
          <p:cNvPr id="8" name="Content Placeholder 7">
            <a:extLst>
              <a:ext uri="{FF2B5EF4-FFF2-40B4-BE49-F238E27FC236}">
                <a16:creationId xmlns:a16="http://schemas.microsoft.com/office/drawing/2014/main" id="{B363CEB7-1017-4646-BD6D-B74E76FAA0A5}"/>
              </a:ext>
            </a:extLst>
          </p:cNvPr>
          <p:cNvPicPr>
            <a:picLocks noGrp="1" noChangeAspect="1"/>
          </p:cNvPicPr>
          <p:nvPr>
            <p:ph idx="1"/>
          </p:nvPr>
        </p:nvPicPr>
        <p:blipFill rotWithShape="1">
          <a:blip r:embed="rId2"/>
          <a:srcRect l="3609" r="7087"/>
          <a:stretch/>
        </p:blipFill>
        <p:spPr>
          <a:xfrm>
            <a:off x="4928135" y="606392"/>
            <a:ext cx="7047865" cy="5262595"/>
          </a:xfrm>
          <a:noFill/>
          <a:ln>
            <a:solidFill>
              <a:schemeClr val="bg2">
                <a:lumMod val="75000"/>
              </a:schemeClr>
            </a:solidFill>
          </a:ln>
        </p:spPr>
      </p:pic>
      <p:sp>
        <p:nvSpPr>
          <p:cNvPr id="9" name="Rectangle 8">
            <a:extLst>
              <a:ext uri="{FF2B5EF4-FFF2-40B4-BE49-F238E27FC236}">
                <a16:creationId xmlns:a16="http://schemas.microsoft.com/office/drawing/2014/main" id="{F6F85A4D-8039-4A99-902E-9CAEBF6C7DEB}"/>
              </a:ext>
            </a:extLst>
          </p:cNvPr>
          <p:cNvSpPr/>
          <p:nvPr/>
        </p:nvSpPr>
        <p:spPr>
          <a:xfrm>
            <a:off x="432000" y="1568918"/>
            <a:ext cx="1955065" cy="12512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Rectangle 9">
            <a:extLst>
              <a:ext uri="{FF2B5EF4-FFF2-40B4-BE49-F238E27FC236}">
                <a16:creationId xmlns:a16="http://schemas.microsoft.com/office/drawing/2014/main" id="{DBA99882-9C1E-478F-B7A6-2B27602FAD67}"/>
              </a:ext>
            </a:extLst>
          </p:cNvPr>
          <p:cNvSpPr/>
          <p:nvPr/>
        </p:nvSpPr>
        <p:spPr>
          <a:xfrm>
            <a:off x="430398" y="1849922"/>
            <a:ext cx="2091421" cy="20505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Text Placeholder 5">
            <a:extLst>
              <a:ext uri="{FF2B5EF4-FFF2-40B4-BE49-F238E27FC236}">
                <a16:creationId xmlns:a16="http://schemas.microsoft.com/office/drawing/2014/main" id="{1D9506F6-762F-48C2-80E1-3D9BE378F3F5}"/>
              </a:ext>
            </a:extLst>
          </p:cNvPr>
          <p:cNvSpPr>
            <a:spLocks noGrp="1"/>
          </p:cNvSpPr>
          <p:nvPr>
            <p:ph type="body" sz="half" idx="2"/>
          </p:nvPr>
        </p:nvSpPr>
        <p:spPr>
          <a:xfrm>
            <a:off x="432001" y="1849922"/>
            <a:ext cx="4072622" cy="4019066"/>
          </a:xfrm>
        </p:spPr>
        <p:txBody>
          <a:bodyPr/>
          <a:lstStyle/>
          <a:p>
            <a:pPr algn="just"/>
            <a:r>
              <a:rPr lang="en-GB" sz="1200" b="1" dirty="0">
                <a:effectLst/>
                <a:ea typeface="Calibri" panose="020F0502020204030204" pitchFamily="34" charset="0"/>
                <a:cs typeface="Times New Roman" panose="02020603050405020304" pitchFamily="18" charset="0"/>
              </a:rPr>
              <a:t>Analysis and Interpretation</a:t>
            </a:r>
            <a:endParaRPr lang="en-IN" sz="1200" dirty="0">
              <a:effectLst/>
              <a:ea typeface="Calibri" panose="020F0502020204030204" pitchFamily="34" charset="0"/>
              <a:cs typeface="Times New Roman" panose="02020603050405020304" pitchFamily="18" charset="0"/>
            </a:endParaRPr>
          </a:p>
          <a:p>
            <a:pPr marL="342900" lvl="0" indent="-342900" algn="just">
              <a:buFont typeface="Symbol" panose="05050102010706020507" pitchFamily="18" charset="2"/>
              <a:buChar char=""/>
            </a:pPr>
            <a:r>
              <a:rPr lang="en-GB" sz="1200" b="1" dirty="0">
                <a:effectLst/>
                <a:ea typeface="Calibri" panose="020F0502020204030204" pitchFamily="34" charset="0"/>
                <a:cs typeface="Times New Roman" panose="02020603050405020304" pitchFamily="18" charset="0"/>
              </a:rPr>
              <a:t>Higher Subscription Rates in Higher Education:</a:t>
            </a:r>
            <a:r>
              <a:rPr lang="en-GB" sz="1200" dirty="0">
                <a:effectLst/>
                <a:ea typeface="Calibri" panose="020F0502020204030204" pitchFamily="34" charset="0"/>
                <a:cs typeface="Times New Roman" panose="02020603050405020304" pitchFamily="18" charset="0"/>
              </a:rPr>
              <a:t> There appears to be a trend where higher education levels (like tertiary) might correlate with a higher likelihood of subscribing to term deposits, although exact subscriber counts for tertiary and unknown categories need further confirmation.</a:t>
            </a:r>
            <a:endParaRPr lang="en-IN" sz="1200" dirty="0">
              <a:effectLst/>
              <a:ea typeface="Calibri" panose="020F0502020204030204" pitchFamily="34" charset="0"/>
              <a:cs typeface="Times New Roman" panose="02020603050405020304" pitchFamily="18" charset="0"/>
            </a:endParaRPr>
          </a:p>
          <a:p>
            <a:pPr marL="342900" lvl="0" indent="-342900" algn="just">
              <a:buFont typeface="Symbol" panose="05050102010706020507" pitchFamily="18" charset="2"/>
              <a:buChar char=""/>
            </a:pPr>
            <a:r>
              <a:rPr lang="en-GB" sz="1200" b="1" dirty="0">
                <a:effectLst/>
                <a:ea typeface="Calibri" panose="020F0502020204030204" pitchFamily="34" charset="0"/>
                <a:cs typeface="Times New Roman" panose="02020603050405020304" pitchFamily="18" charset="0"/>
              </a:rPr>
              <a:t>Dominance of Secondary Education:</a:t>
            </a:r>
            <a:r>
              <a:rPr lang="en-GB" sz="1200" dirty="0">
                <a:effectLst/>
                <a:ea typeface="Calibri" panose="020F0502020204030204" pitchFamily="34" charset="0"/>
                <a:cs typeface="Times New Roman" panose="02020603050405020304" pitchFamily="18" charset="0"/>
              </a:rPr>
              <a:t> The overwhelming number of individuals with secondary education could skew overall subscription rates and might suggest that financial products like term deposits are more commonly marketed or more accessible to this demographic</a:t>
            </a:r>
            <a:r>
              <a:rPr lang="en-GB" sz="1200" b="1" dirty="0">
                <a:effectLst/>
                <a:ea typeface="Calibri" panose="020F0502020204030204" pitchFamily="34" charset="0"/>
                <a:cs typeface="Times New Roman" panose="02020603050405020304" pitchFamily="18" charset="0"/>
              </a:rPr>
              <a:t>.</a:t>
            </a:r>
            <a:endParaRPr lang="en-IN" sz="1200" dirty="0">
              <a:effectLst/>
              <a:ea typeface="Calibri" panose="020F0502020204030204" pitchFamily="34" charset="0"/>
              <a:cs typeface="Times New Roman" panose="02020603050405020304" pitchFamily="18" charset="0"/>
            </a:endParaRPr>
          </a:p>
          <a:p>
            <a:pPr algn="just"/>
            <a:r>
              <a:rPr lang="en-GB" sz="1200" b="1" dirty="0">
                <a:effectLst/>
                <a:ea typeface="Calibri" panose="020F0502020204030204" pitchFamily="34" charset="0"/>
                <a:cs typeface="Times New Roman" panose="02020603050405020304" pitchFamily="18" charset="0"/>
              </a:rPr>
              <a:t>Actionable Insights</a:t>
            </a:r>
            <a:endParaRPr lang="en-IN" sz="1200" dirty="0">
              <a:effectLst/>
              <a:ea typeface="Calibri" panose="020F0502020204030204" pitchFamily="34" charset="0"/>
              <a:cs typeface="Times New Roman" panose="02020603050405020304" pitchFamily="18" charset="0"/>
            </a:endParaRPr>
          </a:p>
          <a:p>
            <a:pPr marL="342900" lvl="0" indent="-342900" algn="just">
              <a:buFont typeface="Symbol" panose="05050102010706020507" pitchFamily="18" charset="2"/>
              <a:buChar char=""/>
            </a:pPr>
            <a:r>
              <a:rPr lang="en-GB" sz="1200" b="1" dirty="0">
                <a:effectLst/>
                <a:ea typeface="Calibri" panose="020F0502020204030204" pitchFamily="34" charset="0"/>
                <a:cs typeface="Times New Roman" panose="02020603050405020304" pitchFamily="18" charset="0"/>
              </a:rPr>
              <a:t>Further Data Collection:</a:t>
            </a:r>
            <a:r>
              <a:rPr lang="en-GB" sz="1200" dirty="0">
                <a:effectLst/>
                <a:ea typeface="Calibri" panose="020F0502020204030204" pitchFamily="34" charset="0"/>
                <a:cs typeface="Times New Roman" panose="02020603050405020304" pitchFamily="18" charset="0"/>
              </a:rPr>
              <a:t> Obtain complete subscription data for all education levels to better assess the impact.</a:t>
            </a:r>
            <a:endParaRPr lang="en-IN" sz="1200" dirty="0">
              <a:effectLst/>
              <a:ea typeface="Calibri" panose="020F0502020204030204" pitchFamily="34" charset="0"/>
              <a:cs typeface="Times New Roman" panose="02020603050405020304" pitchFamily="18" charset="0"/>
            </a:endParaRPr>
          </a:p>
          <a:p>
            <a:pPr marL="342900" lvl="0" indent="-342900" algn="just">
              <a:buFont typeface="Symbol" panose="05050102010706020507" pitchFamily="18" charset="2"/>
              <a:buChar char=""/>
            </a:pPr>
            <a:r>
              <a:rPr lang="en-GB" sz="1200" b="1" dirty="0">
                <a:effectLst/>
                <a:ea typeface="Calibri" panose="020F0502020204030204" pitchFamily="34" charset="0"/>
                <a:cs typeface="Times New Roman" panose="02020603050405020304" pitchFamily="18" charset="0"/>
              </a:rPr>
              <a:t>Targeted Marketing Strategies: </a:t>
            </a:r>
            <a:r>
              <a:rPr lang="en-GB" sz="1200" dirty="0">
                <a:effectLst/>
                <a:ea typeface="Calibri" panose="020F0502020204030204" pitchFamily="34" charset="0"/>
                <a:cs typeface="Times New Roman" panose="02020603050405020304" pitchFamily="18" charset="0"/>
              </a:rPr>
              <a:t>Financial institutions might consider tailored marketing strategies for different education levels, especially promoting term deposits to higher education levels where subscription rates appear favourable.</a:t>
            </a:r>
            <a:endParaRPr lang="en-IN" sz="1200" dirty="0">
              <a:effectLst/>
              <a:ea typeface="Calibri" panose="020F0502020204030204" pitchFamily="34" charset="0"/>
              <a:cs typeface="Times New Roman" panose="02020603050405020304" pitchFamily="18" charset="0"/>
            </a:endParaRPr>
          </a:p>
        </p:txBody>
      </p:sp>
      <p:sp>
        <p:nvSpPr>
          <p:cNvPr id="11" name="Rectangle 10">
            <a:extLst>
              <a:ext uri="{FF2B5EF4-FFF2-40B4-BE49-F238E27FC236}">
                <a16:creationId xmlns:a16="http://schemas.microsoft.com/office/drawing/2014/main" id="{5B5D3EF4-0120-4246-9434-DF7B13331D00}"/>
              </a:ext>
            </a:extLst>
          </p:cNvPr>
          <p:cNvSpPr/>
          <p:nvPr/>
        </p:nvSpPr>
        <p:spPr>
          <a:xfrm>
            <a:off x="9775824" y="6371350"/>
            <a:ext cx="1984136" cy="432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289142785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E4A4B1-D011-479D-881A-5B80C053A516}"/>
              </a:ext>
            </a:extLst>
          </p:cNvPr>
          <p:cNvSpPr>
            <a:spLocks noGrp="1"/>
          </p:cNvSpPr>
          <p:nvPr>
            <p:ph type="title"/>
          </p:nvPr>
        </p:nvSpPr>
        <p:spPr>
          <a:xfrm>
            <a:off x="432000" y="432000"/>
            <a:ext cx="3932037" cy="1054568"/>
          </a:xfrm>
        </p:spPr>
        <p:txBody>
          <a:bodyPr/>
          <a:lstStyle/>
          <a:p>
            <a:r>
              <a:rPr lang="en-IN" sz="3600" dirty="0"/>
              <a:t>Job Type vs  Term Deposit</a:t>
            </a:r>
          </a:p>
        </p:txBody>
      </p:sp>
      <p:sp>
        <p:nvSpPr>
          <p:cNvPr id="4" name="Slide Number Placeholder 3">
            <a:extLst>
              <a:ext uri="{FF2B5EF4-FFF2-40B4-BE49-F238E27FC236}">
                <a16:creationId xmlns:a16="http://schemas.microsoft.com/office/drawing/2014/main" id="{93A5BDA4-FD99-431D-A673-3C45EA1281B2}"/>
              </a:ext>
            </a:extLst>
          </p:cNvPr>
          <p:cNvSpPr>
            <a:spLocks noGrp="1"/>
          </p:cNvSpPr>
          <p:nvPr>
            <p:ph type="sldNum" sz="quarter" idx="33"/>
          </p:nvPr>
        </p:nvSpPr>
        <p:spPr/>
        <p:txBody>
          <a:bodyPr/>
          <a:lstStyle/>
          <a:p>
            <a:fld id="{19B51A1E-902D-48AF-9020-955120F399B6}" type="slidenum">
              <a:rPr lang="en-US" noProof="0" smtClean="0"/>
              <a:pPr/>
              <a:t>32</a:t>
            </a:fld>
            <a:endParaRPr lang="en-US" noProof="0" dirty="0"/>
          </a:p>
        </p:txBody>
      </p:sp>
      <p:pic>
        <p:nvPicPr>
          <p:cNvPr id="8" name="Content Placeholder 7">
            <a:extLst>
              <a:ext uri="{FF2B5EF4-FFF2-40B4-BE49-F238E27FC236}">
                <a16:creationId xmlns:a16="http://schemas.microsoft.com/office/drawing/2014/main" id="{B363CEB7-1017-4646-BD6D-B74E76FAA0A5}"/>
              </a:ext>
            </a:extLst>
          </p:cNvPr>
          <p:cNvPicPr>
            <a:picLocks noGrp="1" noChangeAspect="1"/>
          </p:cNvPicPr>
          <p:nvPr>
            <p:ph idx="1"/>
          </p:nvPr>
        </p:nvPicPr>
        <p:blipFill rotWithShape="1">
          <a:blip r:embed="rId2"/>
          <a:srcRect l="5401" t="2736" r="7933" b="-2736"/>
          <a:stretch/>
        </p:blipFill>
        <p:spPr>
          <a:xfrm>
            <a:off x="5765532" y="606392"/>
            <a:ext cx="6210467" cy="5262595"/>
          </a:xfrm>
          <a:noFill/>
          <a:ln>
            <a:solidFill>
              <a:schemeClr val="bg2">
                <a:lumMod val="75000"/>
              </a:schemeClr>
            </a:solidFill>
          </a:ln>
        </p:spPr>
      </p:pic>
      <p:sp>
        <p:nvSpPr>
          <p:cNvPr id="9" name="Rectangle 8">
            <a:extLst>
              <a:ext uri="{FF2B5EF4-FFF2-40B4-BE49-F238E27FC236}">
                <a16:creationId xmlns:a16="http://schemas.microsoft.com/office/drawing/2014/main" id="{F6F85A4D-8039-4A99-902E-9CAEBF6C7DEB}"/>
              </a:ext>
            </a:extLst>
          </p:cNvPr>
          <p:cNvSpPr/>
          <p:nvPr/>
        </p:nvSpPr>
        <p:spPr>
          <a:xfrm>
            <a:off x="432000" y="1568918"/>
            <a:ext cx="1955065" cy="12512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Rectangle 9">
            <a:extLst>
              <a:ext uri="{FF2B5EF4-FFF2-40B4-BE49-F238E27FC236}">
                <a16:creationId xmlns:a16="http://schemas.microsoft.com/office/drawing/2014/main" id="{DBA99882-9C1E-478F-B7A6-2B27602FAD67}"/>
              </a:ext>
            </a:extLst>
          </p:cNvPr>
          <p:cNvSpPr/>
          <p:nvPr/>
        </p:nvSpPr>
        <p:spPr>
          <a:xfrm>
            <a:off x="430398" y="1849922"/>
            <a:ext cx="2091421" cy="20505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Text Placeholder 5">
            <a:extLst>
              <a:ext uri="{FF2B5EF4-FFF2-40B4-BE49-F238E27FC236}">
                <a16:creationId xmlns:a16="http://schemas.microsoft.com/office/drawing/2014/main" id="{1D9506F6-762F-48C2-80E1-3D9BE378F3F5}"/>
              </a:ext>
            </a:extLst>
          </p:cNvPr>
          <p:cNvSpPr>
            <a:spLocks noGrp="1"/>
          </p:cNvSpPr>
          <p:nvPr>
            <p:ph type="body" sz="half" idx="2"/>
          </p:nvPr>
        </p:nvSpPr>
        <p:spPr>
          <a:xfrm>
            <a:off x="431999" y="1849922"/>
            <a:ext cx="4987023" cy="4019066"/>
          </a:xfrm>
        </p:spPr>
        <p:txBody>
          <a:bodyPr/>
          <a:lstStyle/>
          <a:p>
            <a:pPr algn="just"/>
            <a:r>
              <a:rPr lang="en-GB" sz="1050" b="1" dirty="0">
                <a:effectLst/>
                <a:ea typeface="Calibri" panose="020F0502020204030204" pitchFamily="34" charset="0"/>
                <a:cs typeface="Times New Roman" panose="02020603050405020304" pitchFamily="18" charset="0"/>
              </a:rPr>
              <a:t>Analysis and Interpretation</a:t>
            </a:r>
            <a:endParaRPr lang="en-IN" sz="1050" dirty="0">
              <a:effectLst/>
              <a:ea typeface="Calibri" panose="020F0502020204030204" pitchFamily="34" charset="0"/>
              <a:cs typeface="Times New Roman" panose="02020603050405020304" pitchFamily="18" charset="0"/>
            </a:endParaRPr>
          </a:p>
          <a:p>
            <a:pPr marL="342900" lvl="0" indent="-342900" algn="just">
              <a:buFont typeface="+mj-lt"/>
              <a:buAutoNum type="arabicPeriod"/>
            </a:pPr>
            <a:r>
              <a:rPr lang="en-US" sz="1050" b="1" dirty="0">
                <a:effectLst/>
                <a:ea typeface="Calibri" panose="020F0502020204030204" pitchFamily="34" charset="0"/>
                <a:cs typeface="Times New Roman" panose="02020603050405020304" pitchFamily="18" charset="0"/>
              </a:rPr>
              <a:t>Highest Subscription Rates: </a:t>
            </a:r>
            <a:r>
              <a:rPr lang="en-US" sz="1050" dirty="0">
                <a:effectLst/>
                <a:ea typeface="Calibri" panose="020F0502020204030204" pitchFamily="34" charset="0"/>
                <a:cs typeface="Times New Roman" panose="02020603050405020304" pitchFamily="18" charset="0"/>
              </a:rPr>
              <a:t>The job categories 'retired' and 'student' show the highest subscription rates, significantly above the average. This could be attributed to these groups having more time to consider and the capacity to invest in long-term savings options.</a:t>
            </a:r>
            <a:endParaRPr lang="en-IN" sz="1050" dirty="0">
              <a:effectLst/>
              <a:ea typeface="Calibri" panose="020F0502020204030204" pitchFamily="34" charset="0"/>
              <a:cs typeface="Times New Roman" panose="02020603050405020304" pitchFamily="18" charset="0"/>
            </a:endParaRPr>
          </a:p>
          <a:p>
            <a:pPr marL="342900" lvl="0" indent="-342900" algn="just">
              <a:buFont typeface="+mj-lt"/>
              <a:buAutoNum type="arabicPeriod"/>
            </a:pPr>
            <a:r>
              <a:rPr lang="en-US" sz="1050" b="1" dirty="0">
                <a:effectLst/>
                <a:ea typeface="Calibri" panose="020F0502020204030204" pitchFamily="34" charset="0"/>
                <a:cs typeface="Times New Roman" panose="02020603050405020304" pitchFamily="18" charset="0"/>
              </a:rPr>
              <a:t>Lowest Subscription Rates:</a:t>
            </a:r>
            <a:r>
              <a:rPr lang="en-US" sz="1050" dirty="0">
                <a:effectLst/>
                <a:ea typeface="Calibri" panose="020F0502020204030204" pitchFamily="34" charset="0"/>
                <a:cs typeface="Times New Roman" panose="02020603050405020304" pitchFamily="18" charset="0"/>
              </a:rPr>
              <a:t> 'blue-collar' workers have the lowest subscription rate, which might be due to lower disposable income or a lack of access to banking advice.</a:t>
            </a:r>
            <a:endParaRPr lang="en-IN" sz="1050" dirty="0">
              <a:effectLst/>
              <a:ea typeface="Calibri" panose="020F0502020204030204" pitchFamily="34" charset="0"/>
              <a:cs typeface="Times New Roman" panose="02020603050405020304" pitchFamily="18" charset="0"/>
            </a:endParaRPr>
          </a:p>
          <a:p>
            <a:pPr marL="342900" lvl="0" indent="-342900" algn="just">
              <a:buFont typeface="+mj-lt"/>
              <a:buAutoNum type="arabicPeriod"/>
            </a:pPr>
            <a:r>
              <a:rPr lang="en-US" sz="1050" b="1" dirty="0">
                <a:effectLst/>
                <a:ea typeface="Calibri" panose="020F0502020204030204" pitchFamily="34" charset="0"/>
                <a:cs typeface="Times New Roman" panose="02020603050405020304" pitchFamily="18" charset="0"/>
              </a:rPr>
              <a:t>Moderate Subscription Rates:</a:t>
            </a:r>
            <a:r>
              <a:rPr lang="en-US" sz="1050" dirty="0">
                <a:effectLst/>
                <a:ea typeface="Calibri" panose="020F0502020204030204" pitchFamily="34" charset="0"/>
                <a:cs typeface="Times New Roman" panose="02020603050405020304" pitchFamily="18" charset="0"/>
              </a:rPr>
              <a:t> Job types like 'admin.', 'management', and 'technician' show moderate subscription rates, indicating a potential area for increased focus.</a:t>
            </a:r>
            <a:endParaRPr lang="en-IN" sz="1050" dirty="0">
              <a:effectLst/>
              <a:ea typeface="Calibri" panose="020F0502020204030204" pitchFamily="34" charset="0"/>
              <a:cs typeface="Times New Roman" panose="02020603050405020304" pitchFamily="18" charset="0"/>
            </a:endParaRPr>
          </a:p>
          <a:p>
            <a:pPr algn="just"/>
            <a:r>
              <a:rPr lang="en-IN" sz="1050" b="1" dirty="0">
                <a:effectLst/>
                <a:ea typeface="Calibri" panose="020F0502020204030204" pitchFamily="34" charset="0"/>
                <a:cs typeface="Times New Roman" panose="02020603050405020304" pitchFamily="18" charset="0"/>
              </a:rPr>
              <a:t>Actionable Insights</a:t>
            </a:r>
            <a:endParaRPr lang="en-IN" sz="1050" dirty="0">
              <a:effectLst/>
              <a:ea typeface="Calibri" panose="020F0502020204030204" pitchFamily="34" charset="0"/>
              <a:cs typeface="Times New Roman" panose="02020603050405020304" pitchFamily="18" charset="0"/>
            </a:endParaRPr>
          </a:p>
          <a:p>
            <a:pPr marL="342900" lvl="0" indent="-342900" algn="just">
              <a:buFont typeface="+mj-lt"/>
              <a:buAutoNum type="arabicPeriod"/>
            </a:pPr>
            <a:r>
              <a:rPr lang="en-IN" sz="1050" b="1" dirty="0">
                <a:effectLst/>
                <a:ea typeface="Calibri" panose="020F0502020204030204" pitchFamily="34" charset="0"/>
                <a:cs typeface="Times New Roman" panose="02020603050405020304" pitchFamily="18" charset="0"/>
              </a:rPr>
              <a:t>Targeted Marketing: </a:t>
            </a:r>
            <a:r>
              <a:rPr lang="en-IN" sz="1050" dirty="0">
                <a:effectLst/>
                <a:ea typeface="Calibri" panose="020F0502020204030204" pitchFamily="34" charset="0"/>
                <a:cs typeface="Times New Roman" panose="02020603050405020304" pitchFamily="18" charset="0"/>
              </a:rPr>
              <a:t>Financial institutions should tailor their marketing strategies to target job types with lower subscription rates by addressing their specific financial needs and concerns.</a:t>
            </a:r>
          </a:p>
          <a:p>
            <a:pPr marL="342900" lvl="0" indent="-342900" algn="just">
              <a:buFont typeface="+mj-lt"/>
              <a:buAutoNum type="arabicPeriod"/>
            </a:pPr>
            <a:r>
              <a:rPr lang="en-IN" sz="1050" b="1" dirty="0">
                <a:effectLst/>
                <a:ea typeface="Calibri" panose="020F0502020204030204" pitchFamily="34" charset="0"/>
                <a:cs typeface="Times New Roman" panose="02020603050405020304" pitchFamily="18" charset="0"/>
              </a:rPr>
              <a:t>Financial Education Programs: </a:t>
            </a:r>
            <a:r>
              <a:rPr lang="en-IN" sz="1050" dirty="0">
                <a:effectLst/>
                <a:ea typeface="Calibri" panose="020F0502020204030204" pitchFamily="34" charset="0"/>
                <a:cs typeface="Times New Roman" panose="02020603050405020304" pitchFamily="18" charset="0"/>
              </a:rPr>
              <a:t>Implementing educational programs that help individuals from lower subscribing job categories understand the benefits of term deposits could increase subscription rates.</a:t>
            </a:r>
          </a:p>
          <a:p>
            <a:pPr marL="342900" lvl="0" indent="-342900" algn="just">
              <a:lnSpc>
                <a:spcPct val="107000"/>
              </a:lnSpc>
              <a:spcAft>
                <a:spcPts val="800"/>
              </a:spcAft>
              <a:buFont typeface="+mj-lt"/>
              <a:buAutoNum type="arabicPeriod"/>
            </a:pPr>
            <a:r>
              <a:rPr lang="en-IN" sz="1050" b="1" dirty="0">
                <a:effectLst/>
                <a:ea typeface="Calibri" panose="020F0502020204030204" pitchFamily="34" charset="0"/>
                <a:cs typeface="Times New Roman" panose="02020603050405020304" pitchFamily="18" charset="0"/>
              </a:rPr>
              <a:t>Special Offers for High Subscription Categories: </a:t>
            </a:r>
            <a:r>
              <a:rPr lang="en-IN" sz="1050" dirty="0">
                <a:effectLst/>
                <a:ea typeface="Calibri" panose="020F0502020204030204" pitchFamily="34" charset="0"/>
                <a:cs typeface="Times New Roman" panose="02020603050405020304" pitchFamily="18" charset="0"/>
              </a:rPr>
              <a:t>Banks could offer special rates or packages for job types with high subscription rates to retain and attract even more customers from these segments.</a:t>
            </a:r>
          </a:p>
          <a:p>
            <a:pPr algn="just"/>
            <a:endParaRPr lang="en-IN" sz="1050" dirty="0"/>
          </a:p>
        </p:txBody>
      </p:sp>
      <p:sp>
        <p:nvSpPr>
          <p:cNvPr id="11" name="Rectangle 10">
            <a:extLst>
              <a:ext uri="{FF2B5EF4-FFF2-40B4-BE49-F238E27FC236}">
                <a16:creationId xmlns:a16="http://schemas.microsoft.com/office/drawing/2014/main" id="{5B5D3EF4-0120-4246-9434-DF7B13331D00}"/>
              </a:ext>
            </a:extLst>
          </p:cNvPr>
          <p:cNvSpPr/>
          <p:nvPr/>
        </p:nvSpPr>
        <p:spPr>
          <a:xfrm>
            <a:off x="9775824" y="6371350"/>
            <a:ext cx="1984136" cy="432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97589504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E4A4B1-D011-479D-881A-5B80C053A516}"/>
              </a:ext>
            </a:extLst>
          </p:cNvPr>
          <p:cNvSpPr>
            <a:spLocks noGrp="1"/>
          </p:cNvSpPr>
          <p:nvPr>
            <p:ph type="title"/>
          </p:nvPr>
        </p:nvSpPr>
        <p:spPr>
          <a:xfrm>
            <a:off x="432000" y="432000"/>
            <a:ext cx="3932037" cy="1054568"/>
          </a:xfrm>
        </p:spPr>
        <p:txBody>
          <a:bodyPr/>
          <a:lstStyle/>
          <a:p>
            <a:r>
              <a:rPr lang="en-IN" sz="3600" dirty="0"/>
              <a:t>Subscription Rate by Month</a:t>
            </a:r>
          </a:p>
        </p:txBody>
      </p:sp>
      <p:sp>
        <p:nvSpPr>
          <p:cNvPr id="4" name="Slide Number Placeholder 3">
            <a:extLst>
              <a:ext uri="{FF2B5EF4-FFF2-40B4-BE49-F238E27FC236}">
                <a16:creationId xmlns:a16="http://schemas.microsoft.com/office/drawing/2014/main" id="{93A5BDA4-FD99-431D-A673-3C45EA1281B2}"/>
              </a:ext>
            </a:extLst>
          </p:cNvPr>
          <p:cNvSpPr>
            <a:spLocks noGrp="1"/>
          </p:cNvSpPr>
          <p:nvPr>
            <p:ph type="sldNum" sz="quarter" idx="33"/>
          </p:nvPr>
        </p:nvSpPr>
        <p:spPr/>
        <p:txBody>
          <a:bodyPr/>
          <a:lstStyle/>
          <a:p>
            <a:fld id="{19B51A1E-902D-48AF-9020-955120F399B6}" type="slidenum">
              <a:rPr lang="en-US" noProof="0" smtClean="0"/>
              <a:pPr/>
              <a:t>33</a:t>
            </a:fld>
            <a:endParaRPr lang="en-US" noProof="0" dirty="0"/>
          </a:p>
        </p:txBody>
      </p:sp>
      <p:pic>
        <p:nvPicPr>
          <p:cNvPr id="8" name="Content Placeholder 7">
            <a:extLst>
              <a:ext uri="{FF2B5EF4-FFF2-40B4-BE49-F238E27FC236}">
                <a16:creationId xmlns:a16="http://schemas.microsoft.com/office/drawing/2014/main" id="{B363CEB7-1017-4646-BD6D-B74E76FAA0A5}"/>
              </a:ext>
            </a:extLst>
          </p:cNvPr>
          <p:cNvPicPr>
            <a:picLocks noGrp="1" noChangeAspect="1"/>
          </p:cNvPicPr>
          <p:nvPr>
            <p:ph idx="1"/>
          </p:nvPr>
        </p:nvPicPr>
        <p:blipFill rotWithShape="1">
          <a:blip r:embed="rId2"/>
          <a:srcRect l="4402" r="7820"/>
          <a:stretch/>
        </p:blipFill>
        <p:spPr>
          <a:xfrm>
            <a:off x="6385792" y="606392"/>
            <a:ext cx="5590208" cy="5262595"/>
          </a:xfrm>
          <a:noFill/>
          <a:ln>
            <a:solidFill>
              <a:schemeClr val="bg2">
                <a:lumMod val="75000"/>
              </a:schemeClr>
            </a:solidFill>
          </a:ln>
        </p:spPr>
      </p:pic>
      <p:sp>
        <p:nvSpPr>
          <p:cNvPr id="9" name="Rectangle 8">
            <a:extLst>
              <a:ext uri="{FF2B5EF4-FFF2-40B4-BE49-F238E27FC236}">
                <a16:creationId xmlns:a16="http://schemas.microsoft.com/office/drawing/2014/main" id="{F6F85A4D-8039-4A99-902E-9CAEBF6C7DEB}"/>
              </a:ext>
            </a:extLst>
          </p:cNvPr>
          <p:cNvSpPr/>
          <p:nvPr/>
        </p:nvSpPr>
        <p:spPr>
          <a:xfrm>
            <a:off x="432000" y="1568918"/>
            <a:ext cx="1955065" cy="12512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Rectangle 9">
            <a:extLst>
              <a:ext uri="{FF2B5EF4-FFF2-40B4-BE49-F238E27FC236}">
                <a16:creationId xmlns:a16="http://schemas.microsoft.com/office/drawing/2014/main" id="{DBA99882-9C1E-478F-B7A6-2B27602FAD67}"/>
              </a:ext>
            </a:extLst>
          </p:cNvPr>
          <p:cNvSpPr/>
          <p:nvPr/>
        </p:nvSpPr>
        <p:spPr>
          <a:xfrm>
            <a:off x="430398" y="1849922"/>
            <a:ext cx="2091421" cy="20505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Text Placeholder 5">
            <a:extLst>
              <a:ext uri="{FF2B5EF4-FFF2-40B4-BE49-F238E27FC236}">
                <a16:creationId xmlns:a16="http://schemas.microsoft.com/office/drawing/2014/main" id="{1D9506F6-762F-48C2-80E1-3D9BE378F3F5}"/>
              </a:ext>
            </a:extLst>
          </p:cNvPr>
          <p:cNvSpPr>
            <a:spLocks noGrp="1"/>
          </p:cNvSpPr>
          <p:nvPr>
            <p:ph type="body" sz="half" idx="2"/>
          </p:nvPr>
        </p:nvSpPr>
        <p:spPr>
          <a:xfrm>
            <a:off x="431999" y="1849922"/>
            <a:ext cx="5590208" cy="4019066"/>
          </a:xfrm>
        </p:spPr>
        <p:txBody>
          <a:bodyPr/>
          <a:lstStyle/>
          <a:p>
            <a:pPr algn="just">
              <a:lnSpc>
                <a:spcPct val="70000"/>
              </a:lnSpc>
              <a:spcAft>
                <a:spcPts val="800"/>
              </a:spcAft>
            </a:pPr>
            <a:r>
              <a:rPr lang="en-IN" sz="1000" b="1" dirty="0">
                <a:effectLst/>
                <a:ea typeface="Calibri" panose="020F0502020204030204" pitchFamily="34" charset="0"/>
                <a:cs typeface="Times New Roman" panose="02020603050405020304" pitchFamily="18" charset="0"/>
              </a:rPr>
              <a:t>Analysis and Interpretation</a:t>
            </a:r>
            <a:endParaRPr lang="en-IN" sz="1000" dirty="0">
              <a:effectLst/>
              <a:ea typeface="Calibri" panose="020F0502020204030204" pitchFamily="34" charset="0"/>
              <a:cs typeface="Times New Roman" panose="02020603050405020304" pitchFamily="18" charset="0"/>
            </a:endParaRPr>
          </a:p>
          <a:p>
            <a:pPr marL="342900" lvl="0" indent="-342900" algn="just">
              <a:lnSpc>
                <a:spcPct val="70000"/>
              </a:lnSpc>
              <a:buFont typeface="+mj-lt"/>
              <a:buAutoNum type="arabicPeriod"/>
            </a:pPr>
            <a:r>
              <a:rPr lang="en-IN" sz="1000" b="1" dirty="0">
                <a:effectLst/>
                <a:ea typeface="Calibri" panose="020F0502020204030204" pitchFamily="34" charset="0"/>
                <a:cs typeface="Times New Roman" panose="02020603050405020304" pitchFamily="18" charset="0"/>
              </a:rPr>
              <a:t>Highest Subscription Rates</a:t>
            </a:r>
            <a:r>
              <a:rPr lang="en-IN" sz="1000" dirty="0">
                <a:effectLst/>
                <a:ea typeface="Calibri" panose="020F0502020204030204" pitchFamily="34" charset="0"/>
                <a:cs typeface="Times New Roman" panose="02020603050405020304" pitchFamily="18" charset="0"/>
              </a:rPr>
              <a:t>: December, March, and October show the highest subscription rates, with December's peak at approximately 0.47.</a:t>
            </a:r>
          </a:p>
          <a:p>
            <a:pPr marL="342900" lvl="0" indent="-342900" algn="just">
              <a:lnSpc>
                <a:spcPct val="70000"/>
              </a:lnSpc>
              <a:buFont typeface="+mj-lt"/>
              <a:buAutoNum type="arabicPeriod"/>
            </a:pPr>
            <a:r>
              <a:rPr lang="en-IN" sz="1000" b="1" dirty="0">
                <a:effectLst/>
                <a:ea typeface="Calibri" panose="020F0502020204030204" pitchFamily="34" charset="0"/>
                <a:cs typeface="Times New Roman" panose="02020603050405020304" pitchFamily="18" charset="0"/>
              </a:rPr>
              <a:t>Lowest Subscription Rates</a:t>
            </a:r>
            <a:r>
              <a:rPr lang="en-IN" sz="1000" dirty="0">
                <a:effectLst/>
                <a:ea typeface="Calibri" panose="020F0502020204030204" pitchFamily="34" charset="0"/>
                <a:cs typeface="Times New Roman" panose="02020603050405020304" pitchFamily="18" charset="0"/>
              </a:rPr>
              <a:t>: August and January have the lowest subscription rates, with January slightly above 0.1 and August around 0.11.</a:t>
            </a:r>
          </a:p>
          <a:p>
            <a:pPr marL="342900" lvl="0" indent="-342900" algn="just">
              <a:lnSpc>
                <a:spcPct val="70000"/>
              </a:lnSpc>
              <a:spcAft>
                <a:spcPts val="800"/>
              </a:spcAft>
              <a:buFont typeface="+mj-lt"/>
              <a:buAutoNum type="arabicPeriod"/>
            </a:pPr>
            <a:r>
              <a:rPr lang="en-IN" sz="1000" b="1" dirty="0">
                <a:effectLst/>
                <a:ea typeface="Calibri" panose="020F0502020204030204" pitchFamily="34" charset="0"/>
                <a:cs typeface="Times New Roman" panose="02020603050405020304" pitchFamily="18" charset="0"/>
              </a:rPr>
              <a:t>Moderate Subscription Rates</a:t>
            </a:r>
            <a:r>
              <a:rPr lang="en-IN" sz="1000" dirty="0">
                <a:effectLst/>
                <a:ea typeface="Calibri" panose="020F0502020204030204" pitchFamily="34" charset="0"/>
                <a:cs typeface="Times New Roman" panose="02020603050405020304" pitchFamily="18" charset="0"/>
              </a:rPr>
              <a:t>: April, February, and November show moderate subscription rates, ranging from approximately 0.17 to 0.20.</a:t>
            </a:r>
          </a:p>
          <a:p>
            <a:pPr algn="just">
              <a:lnSpc>
                <a:spcPct val="70000"/>
              </a:lnSpc>
              <a:spcAft>
                <a:spcPts val="800"/>
              </a:spcAft>
            </a:pPr>
            <a:r>
              <a:rPr lang="en-IN" sz="1000" b="1" dirty="0">
                <a:effectLst/>
                <a:ea typeface="Calibri" panose="020F0502020204030204" pitchFamily="34" charset="0"/>
                <a:cs typeface="Times New Roman" panose="02020603050405020304" pitchFamily="18" charset="0"/>
              </a:rPr>
              <a:t>Insights and Actionable Recommendations</a:t>
            </a:r>
            <a:endParaRPr lang="en-IN" sz="1000" dirty="0">
              <a:effectLst/>
              <a:ea typeface="Calibri" panose="020F0502020204030204" pitchFamily="34" charset="0"/>
              <a:cs typeface="Times New Roman" panose="02020603050405020304" pitchFamily="18" charset="0"/>
            </a:endParaRPr>
          </a:p>
          <a:p>
            <a:pPr marL="342900" lvl="0" indent="-342900" algn="just">
              <a:lnSpc>
                <a:spcPct val="70000"/>
              </a:lnSpc>
              <a:spcAft>
                <a:spcPts val="800"/>
              </a:spcAft>
              <a:buFont typeface="+mj-lt"/>
              <a:buAutoNum type="arabicPeriod"/>
              <a:tabLst>
                <a:tab pos="457200" algn="l"/>
              </a:tabLst>
            </a:pPr>
            <a:r>
              <a:rPr lang="en-IN" sz="1000" b="1" dirty="0">
                <a:effectLst/>
                <a:ea typeface="Calibri" panose="020F0502020204030204" pitchFamily="34" charset="0"/>
                <a:cs typeface="Times New Roman" panose="02020603050405020304" pitchFamily="18" charset="0"/>
              </a:rPr>
              <a:t>Capitalize on Peak Months</a:t>
            </a:r>
            <a:r>
              <a:rPr lang="en-IN" sz="1000" dirty="0">
                <a:effectLst/>
                <a:ea typeface="Calibri" panose="020F0502020204030204" pitchFamily="34" charset="0"/>
                <a:cs typeface="Times New Roman" panose="02020603050405020304" pitchFamily="18" charset="0"/>
              </a:rPr>
              <a:t>: Given the high subscription rates in December, March, and October, these months should be targeted for increased marketing efforts. Special promotions or incentives could be offered to maximise the subscription rate during these peak periods.</a:t>
            </a:r>
          </a:p>
          <a:p>
            <a:pPr marL="342900" lvl="0" indent="-342900" algn="just">
              <a:lnSpc>
                <a:spcPct val="70000"/>
              </a:lnSpc>
              <a:spcAft>
                <a:spcPts val="800"/>
              </a:spcAft>
              <a:buFont typeface="+mj-lt"/>
              <a:buAutoNum type="arabicPeriod"/>
              <a:tabLst>
                <a:tab pos="457200" algn="l"/>
              </a:tabLst>
            </a:pPr>
            <a:r>
              <a:rPr lang="en-IN" sz="1000" b="1" dirty="0">
                <a:effectLst/>
                <a:ea typeface="Calibri" panose="020F0502020204030204" pitchFamily="34" charset="0"/>
                <a:cs typeface="Times New Roman" panose="02020603050405020304" pitchFamily="18" charset="0"/>
              </a:rPr>
              <a:t>Investigate Low-Performance Months</a:t>
            </a:r>
            <a:r>
              <a:rPr lang="en-IN" sz="1000" dirty="0">
                <a:effectLst/>
                <a:ea typeface="Calibri" panose="020F0502020204030204" pitchFamily="34" charset="0"/>
                <a:cs typeface="Times New Roman" panose="02020603050405020304" pitchFamily="18" charset="0"/>
              </a:rPr>
              <a:t>: For months like August and January, with the lowest subscription rates, it is crucial to investigate the underlying reasons. This could involve analysing customer feedback, market conditions, or competing offers during these months and tailoring strategies accordingly</a:t>
            </a:r>
          </a:p>
          <a:p>
            <a:pPr marL="342900" lvl="0" indent="-342900" algn="just">
              <a:lnSpc>
                <a:spcPct val="70000"/>
              </a:lnSpc>
              <a:spcAft>
                <a:spcPts val="800"/>
              </a:spcAft>
              <a:buFont typeface="+mj-lt"/>
              <a:buAutoNum type="arabicPeriod"/>
              <a:tabLst>
                <a:tab pos="457200" algn="l"/>
              </a:tabLst>
            </a:pPr>
            <a:r>
              <a:rPr lang="en-IN" sz="1000" b="1" dirty="0">
                <a:effectLst/>
                <a:ea typeface="Calibri" panose="020F0502020204030204" pitchFamily="34" charset="0"/>
                <a:cs typeface="Times New Roman" panose="02020603050405020304" pitchFamily="18" charset="0"/>
              </a:rPr>
              <a:t>Adjust Resource Distribution</a:t>
            </a:r>
            <a:r>
              <a:rPr lang="en-IN" sz="1000" dirty="0">
                <a:effectLst/>
                <a:ea typeface="Calibri" panose="020F0502020204030204" pitchFamily="34" charset="0"/>
                <a:cs typeface="Times New Roman" panose="02020603050405020304" pitchFamily="18" charset="0"/>
              </a:rPr>
              <a:t>: Allocate marketing and sales resources more heavily during months with historically higher subscription rates. Conversely, consider reducing expenditure or reallocating resources during lower-performing months unless specific strategies are implemented to boost performance.</a:t>
            </a:r>
          </a:p>
          <a:p>
            <a:pPr marL="342900" lvl="0" indent="-342900" algn="just">
              <a:lnSpc>
                <a:spcPct val="70000"/>
              </a:lnSpc>
              <a:spcAft>
                <a:spcPts val="800"/>
              </a:spcAft>
              <a:buFont typeface="+mj-lt"/>
              <a:buAutoNum type="arabicPeriod"/>
              <a:tabLst>
                <a:tab pos="457200" algn="l"/>
              </a:tabLst>
            </a:pPr>
            <a:r>
              <a:rPr lang="en-IN" sz="1000" b="1" dirty="0">
                <a:effectLst/>
                <a:ea typeface="Calibri" panose="020F0502020204030204" pitchFamily="34" charset="0"/>
                <a:cs typeface="Times New Roman" panose="02020603050405020304" pitchFamily="18" charset="0"/>
              </a:rPr>
              <a:t>Track Changes and Adapt</a:t>
            </a:r>
            <a:r>
              <a:rPr lang="en-IN" sz="1000" dirty="0">
                <a:effectLst/>
                <a:ea typeface="Calibri" panose="020F0502020204030204" pitchFamily="34" charset="0"/>
                <a:cs typeface="Times New Roman" panose="02020603050405020304" pitchFamily="18" charset="0"/>
              </a:rPr>
              <a:t>: Continuously monitor the effectiveness of strategies and campaigns across different months. Be prepared to make adjustments based on real-time data and emerging trends to ensure optimal performance throughout the year.</a:t>
            </a:r>
          </a:p>
          <a:p>
            <a:pPr algn="just"/>
            <a:endParaRPr lang="en-IN" sz="600" dirty="0"/>
          </a:p>
        </p:txBody>
      </p:sp>
      <p:sp>
        <p:nvSpPr>
          <p:cNvPr id="11" name="Rectangle 10">
            <a:extLst>
              <a:ext uri="{FF2B5EF4-FFF2-40B4-BE49-F238E27FC236}">
                <a16:creationId xmlns:a16="http://schemas.microsoft.com/office/drawing/2014/main" id="{5B5D3EF4-0120-4246-9434-DF7B13331D00}"/>
              </a:ext>
            </a:extLst>
          </p:cNvPr>
          <p:cNvSpPr/>
          <p:nvPr/>
        </p:nvSpPr>
        <p:spPr>
          <a:xfrm>
            <a:off x="9775824" y="6371350"/>
            <a:ext cx="1984136" cy="432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82894890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E4A4B1-D011-479D-881A-5B80C053A516}"/>
              </a:ext>
            </a:extLst>
          </p:cNvPr>
          <p:cNvSpPr>
            <a:spLocks noGrp="1"/>
          </p:cNvSpPr>
          <p:nvPr>
            <p:ph type="title"/>
          </p:nvPr>
        </p:nvSpPr>
        <p:spPr>
          <a:xfrm>
            <a:off x="432000" y="432000"/>
            <a:ext cx="3932037" cy="1054568"/>
          </a:xfrm>
        </p:spPr>
        <p:txBody>
          <a:bodyPr/>
          <a:lstStyle/>
          <a:p>
            <a:r>
              <a:rPr lang="en-IN" sz="3600" dirty="0"/>
              <a:t>Contract Duration vs Term Deposit</a:t>
            </a:r>
          </a:p>
        </p:txBody>
      </p:sp>
      <p:sp>
        <p:nvSpPr>
          <p:cNvPr id="4" name="Slide Number Placeholder 3">
            <a:extLst>
              <a:ext uri="{FF2B5EF4-FFF2-40B4-BE49-F238E27FC236}">
                <a16:creationId xmlns:a16="http://schemas.microsoft.com/office/drawing/2014/main" id="{93A5BDA4-FD99-431D-A673-3C45EA1281B2}"/>
              </a:ext>
            </a:extLst>
          </p:cNvPr>
          <p:cNvSpPr>
            <a:spLocks noGrp="1"/>
          </p:cNvSpPr>
          <p:nvPr>
            <p:ph type="sldNum" sz="quarter" idx="33"/>
          </p:nvPr>
        </p:nvSpPr>
        <p:spPr/>
        <p:txBody>
          <a:bodyPr/>
          <a:lstStyle/>
          <a:p>
            <a:fld id="{19B51A1E-902D-48AF-9020-955120F399B6}" type="slidenum">
              <a:rPr lang="en-US" noProof="0" smtClean="0"/>
              <a:pPr/>
              <a:t>34</a:t>
            </a:fld>
            <a:endParaRPr lang="en-US" noProof="0" dirty="0"/>
          </a:p>
        </p:txBody>
      </p:sp>
      <p:pic>
        <p:nvPicPr>
          <p:cNvPr id="8" name="Content Placeholder 7">
            <a:extLst>
              <a:ext uri="{FF2B5EF4-FFF2-40B4-BE49-F238E27FC236}">
                <a16:creationId xmlns:a16="http://schemas.microsoft.com/office/drawing/2014/main" id="{B363CEB7-1017-4646-BD6D-B74E76FAA0A5}"/>
              </a:ext>
            </a:extLst>
          </p:cNvPr>
          <p:cNvPicPr>
            <a:picLocks noGrp="1" noChangeAspect="1"/>
          </p:cNvPicPr>
          <p:nvPr>
            <p:ph idx="1"/>
          </p:nvPr>
        </p:nvPicPr>
        <p:blipFill rotWithShape="1">
          <a:blip r:embed="rId2"/>
          <a:srcRect l="3230" r="5885"/>
          <a:stretch/>
        </p:blipFill>
        <p:spPr>
          <a:xfrm>
            <a:off x="4706754" y="606392"/>
            <a:ext cx="7269246" cy="5262595"/>
          </a:xfrm>
          <a:noFill/>
          <a:ln>
            <a:solidFill>
              <a:schemeClr val="bg2">
                <a:lumMod val="75000"/>
              </a:schemeClr>
            </a:solidFill>
          </a:ln>
        </p:spPr>
      </p:pic>
      <p:sp>
        <p:nvSpPr>
          <p:cNvPr id="9" name="Rectangle 8">
            <a:extLst>
              <a:ext uri="{FF2B5EF4-FFF2-40B4-BE49-F238E27FC236}">
                <a16:creationId xmlns:a16="http://schemas.microsoft.com/office/drawing/2014/main" id="{F6F85A4D-8039-4A99-902E-9CAEBF6C7DEB}"/>
              </a:ext>
            </a:extLst>
          </p:cNvPr>
          <p:cNvSpPr/>
          <p:nvPr/>
        </p:nvSpPr>
        <p:spPr>
          <a:xfrm>
            <a:off x="432000" y="1568918"/>
            <a:ext cx="1955065" cy="12512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Rectangle 9">
            <a:extLst>
              <a:ext uri="{FF2B5EF4-FFF2-40B4-BE49-F238E27FC236}">
                <a16:creationId xmlns:a16="http://schemas.microsoft.com/office/drawing/2014/main" id="{DBA99882-9C1E-478F-B7A6-2B27602FAD67}"/>
              </a:ext>
            </a:extLst>
          </p:cNvPr>
          <p:cNvSpPr/>
          <p:nvPr/>
        </p:nvSpPr>
        <p:spPr>
          <a:xfrm>
            <a:off x="430398" y="1849922"/>
            <a:ext cx="2091421" cy="20505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Text Placeholder 5">
            <a:extLst>
              <a:ext uri="{FF2B5EF4-FFF2-40B4-BE49-F238E27FC236}">
                <a16:creationId xmlns:a16="http://schemas.microsoft.com/office/drawing/2014/main" id="{1D9506F6-762F-48C2-80E1-3D9BE378F3F5}"/>
              </a:ext>
            </a:extLst>
          </p:cNvPr>
          <p:cNvSpPr>
            <a:spLocks noGrp="1"/>
          </p:cNvSpPr>
          <p:nvPr>
            <p:ph type="body" sz="half" idx="2"/>
          </p:nvPr>
        </p:nvSpPr>
        <p:spPr>
          <a:xfrm>
            <a:off x="432000" y="1849922"/>
            <a:ext cx="3932237" cy="4019066"/>
          </a:xfrm>
        </p:spPr>
        <p:txBody>
          <a:bodyPr/>
          <a:lstStyle/>
          <a:p>
            <a:pPr algn="just"/>
            <a:r>
              <a:rPr lang="en-GB" sz="1200" b="1" dirty="0">
                <a:effectLst/>
                <a:ea typeface="Calibri" panose="020F0502020204030204" pitchFamily="34" charset="0"/>
                <a:cs typeface="Times New Roman" panose="02020603050405020304" pitchFamily="18" charset="0"/>
              </a:rPr>
              <a:t>Analysis and Interpretation</a:t>
            </a:r>
            <a:endParaRPr lang="en-IN" sz="1200" dirty="0">
              <a:effectLst/>
              <a:ea typeface="Calibri" panose="020F0502020204030204" pitchFamily="34" charset="0"/>
              <a:cs typeface="Times New Roman" panose="02020603050405020304" pitchFamily="18" charset="0"/>
            </a:endParaRPr>
          </a:p>
          <a:p>
            <a:pPr marL="342900" lvl="0" indent="-342900" algn="just">
              <a:buSzPts val="1000"/>
              <a:buFont typeface="+mj-lt"/>
              <a:buAutoNum type="arabicPeriod"/>
              <a:tabLst>
                <a:tab pos="457200" algn="l"/>
              </a:tabLst>
            </a:pPr>
            <a:r>
              <a:rPr lang="en-IN" sz="1200" b="1" dirty="0">
                <a:effectLst/>
                <a:ea typeface="Calibri" panose="020F0502020204030204" pitchFamily="34" charset="0"/>
                <a:cs typeface="Times New Roman" panose="02020603050405020304" pitchFamily="18" charset="0"/>
              </a:rPr>
              <a:t>Longer Contact Duration Correlates with Higher Subscription Rates: </a:t>
            </a:r>
            <a:r>
              <a:rPr lang="en-IN" sz="1200" dirty="0">
                <a:effectLst/>
                <a:ea typeface="Calibri" panose="020F0502020204030204" pitchFamily="34" charset="0"/>
                <a:cs typeface="Times New Roman" panose="02020603050405020304" pitchFamily="18" charset="0"/>
              </a:rPr>
              <a:t>Clients who engage longer with the bank are more likely to subscribe to term deposits. This could be due to more comprehensive explanations or building better rapport during longer calls.</a:t>
            </a:r>
          </a:p>
          <a:p>
            <a:pPr marL="342900" lvl="0" indent="-342900" algn="just">
              <a:buSzPts val="1000"/>
              <a:buFont typeface="+mj-lt"/>
              <a:buAutoNum type="arabicPeriod"/>
              <a:tabLst>
                <a:tab pos="457200" algn="l"/>
              </a:tabLst>
            </a:pPr>
            <a:r>
              <a:rPr lang="en-IN" sz="1200" b="1" dirty="0">
                <a:effectLst/>
                <a:ea typeface="Calibri" panose="020F0502020204030204" pitchFamily="34" charset="0"/>
                <a:cs typeface="Times New Roman" panose="02020603050405020304" pitchFamily="18" charset="0"/>
              </a:rPr>
              <a:t>Optimal Duration Window: </a:t>
            </a:r>
            <a:r>
              <a:rPr lang="en-IN" sz="1200" dirty="0">
                <a:effectLst/>
                <a:ea typeface="Calibri" panose="020F0502020204030204" pitchFamily="34" charset="0"/>
                <a:cs typeface="Times New Roman" panose="02020603050405020304" pitchFamily="18" charset="0"/>
              </a:rPr>
              <a:t>While longer durations generally correlate with higher subscription rates, outliers and a wide range in the 'no' category suggest an optimal duration window beyond which additional time might not increase the likelihood of subscription.</a:t>
            </a:r>
          </a:p>
          <a:p>
            <a:pPr algn="just"/>
            <a:r>
              <a:rPr lang="en-IN" sz="1200" b="1" dirty="0">
                <a:effectLst/>
                <a:ea typeface="Calibri" panose="020F0502020204030204" pitchFamily="34" charset="0"/>
                <a:cs typeface="Times New Roman" panose="02020603050405020304" pitchFamily="18" charset="0"/>
              </a:rPr>
              <a:t>Actionable Insights</a:t>
            </a:r>
            <a:endParaRPr lang="en-IN" sz="1200" dirty="0">
              <a:effectLst/>
              <a:ea typeface="Calibri" panose="020F0502020204030204" pitchFamily="34" charset="0"/>
              <a:cs typeface="Times New Roman" panose="02020603050405020304" pitchFamily="18" charset="0"/>
            </a:endParaRPr>
          </a:p>
          <a:p>
            <a:pPr marL="342900" lvl="0" indent="-342900" algn="just">
              <a:buSzPts val="1000"/>
              <a:buFont typeface="+mj-lt"/>
              <a:buAutoNum type="arabicPeriod"/>
              <a:tabLst>
                <a:tab pos="457200" algn="l"/>
              </a:tabLst>
            </a:pPr>
            <a:r>
              <a:rPr lang="en-IN" sz="1200" b="1" dirty="0">
                <a:effectLst/>
                <a:ea typeface="Calibri" panose="020F0502020204030204" pitchFamily="34" charset="0"/>
                <a:cs typeface="Times New Roman" panose="02020603050405020304" pitchFamily="18" charset="0"/>
              </a:rPr>
              <a:t>Focus on Quality and Efficiency: </a:t>
            </a:r>
            <a:r>
              <a:rPr lang="en-IN" sz="1200" dirty="0">
                <a:effectLst/>
                <a:ea typeface="Calibri" panose="020F0502020204030204" pitchFamily="34" charset="0"/>
                <a:cs typeface="Times New Roman" panose="02020603050405020304" pitchFamily="18" charset="0"/>
              </a:rPr>
              <a:t>Banks should train their staff to balance call duration and effectiveness. Ensuring the client receives all necessary information and feels heard without unnecessarily prolonging the conversation could enhance subscription rates.</a:t>
            </a:r>
          </a:p>
          <a:p>
            <a:pPr marL="342900" lvl="0" indent="-342900" algn="just">
              <a:buSzPts val="1000"/>
              <a:buFont typeface="+mj-lt"/>
              <a:buAutoNum type="arabicPeriod"/>
              <a:tabLst>
                <a:tab pos="457200" algn="l"/>
              </a:tabLst>
            </a:pPr>
            <a:r>
              <a:rPr lang="en-IN" sz="1200" b="1" dirty="0">
                <a:effectLst/>
                <a:ea typeface="Calibri" panose="020F0502020204030204" pitchFamily="34" charset="0"/>
                <a:cs typeface="Times New Roman" panose="02020603050405020304" pitchFamily="18" charset="0"/>
              </a:rPr>
              <a:t>Tailored Communication Strategies: </a:t>
            </a:r>
            <a:r>
              <a:rPr lang="en-IN" sz="1200" dirty="0">
                <a:effectLst/>
                <a:ea typeface="Calibri" panose="020F0502020204030204" pitchFamily="34" charset="0"/>
                <a:cs typeface="Times New Roman" panose="02020603050405020304" pitchFamily="18" charset="0"/>
              </a:rPr>
              <a:t>Analysing individual client profiles and tailoring the conversation’s length and style might help optimise outcomes</a:t>
            </a:r>
            <a:r>
              <a:rPr lang="en-IN" sz="1200" b="1" dirty="0">
                <a:effectLst/>
                <a:ea typeface="Calibri" panose="020F0502020204030204" pitchFamily="34" charset="0"/>
                <a:cs typeface="Times New Roman" panose="02020603050405020304" pitchFamily="18" charset="0"/>
              </a:rPr>
              <a:t>.</a:t>
            </a:r>
            <a:endParaRPr lang="en-IN" sz="1200" dirty="0">
              <a:effectLst/>
              <a:ea typeface="Calibri" panose="020F0502020204030204" pitchFamily="34" charset="0"/>
              <a:cs typeface="Times New Roman" panose="02020603050405020304" pitchFamily="18" charset="0"/>
            </a:endParaRPr>
          </a:p>
          <a:p>
            <a:pPr algn="just"/>
            <a:endParaRPr lang="en-IN" sz="1100" dirty="0"/>
          </a:p>
        </p:txBody>
      </p:sp>
      <p:sp>
        <p:nvSpPr>
          <p:cNvPr id="11" name="Rectangle 10">
            <a:extLst>
              <a:ext uri="{FF2B5EF4-FFF2-40B4-BE49-F238E27FC236}">
                <a16:creationId xmlns:a16="http://schemas.microsoft.com/office/drawing/2014/main" id="{5B5D3EF4-0120-4246-9434-DF7B13331D00}"/>
              </a:ext>
            </a:extLst>
          </p:cNvPr>
          <p:cNvSpPr/>
          <p:nvPr/>
        </p:nvSpPr>
        <p:spPr>
          <a:xfrm>
            <a:off x="9775824" y="6371350"/>
            <a:ext cx="1984136" cy="432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161446523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E4A4B1-D011-479D-881A-5B80C053A516}"/>
              </a:ext>
            </a:extLst>
          </p:cNvPr>
          <p:cNvSpPr>
            <a:spLocks noGrp="1"/>
          </p:cNvSpPr>
          <p:nvPr>
            <p:ph type="title"/>
          </p:nvPr>
        </p:nvSpPr>
        <p:spPr>
          <a:xfrm>
            <a:off x="432000" y="432000"/>
            <a:ext cx="3932037" cy="1054568"/>
          </a:xfrm>
        </p:spPr>
        <p:txBody>
          <a:bodyPr/>
          <a:lstStyle/>
          <a:p>
            <a:r>
              <a:rPr lang="en-IN" sz="3600" dirty="0"/>
              <a:t>Balance vs Term Deposit</a:t>
            </a:r>
          </a:p>
        </p:txBody>
      </p:sp>
      <p:sp>
        <p:nvSpPr>
          <p:cNvPr id="4" name="Slide Number Placeholder 3">
            <a:extLst>
              <a:ext uri="{FF2B5EF4-FFF2-40B4-BE49-F238E27FC236}">
                <a16:creationId xmlns:a16="http://schemas.microsoft.com/office/drawing/2014/main" id="{93A5BDA4-FD99-431D-A673-3C45EA1281B2}"/>
              </a:ext>
            </a:extLst>
          </p:cNvPr>
          <p:cNvSpPr>
            <a:spLocks noGrp="1"/>
          </p:cNvSpPr>
          <p:nvPr>
            <p:ph type="sldNum" sz="quarter" idx="33"/>
          </p:nvPr>
        </p:nvSpPr>
        <p:spPr/>
        <p:txBody>
          <a:bodyPr/>
          <a:lstStyle/>
          <a:p>
            <a:fld id="{19B51A1E-902D-48AF-9020-955120F399B6}" type="slidenum">
              <a:rPr lang="en-US" noProof="0" smtClean="0"/>
              <a:pPr/>
              <a:t>35</a:t>
            </a:fld>
            <a:endParaRPr lang="en-US" noProof="0" dirty="0"/>
          </a:p>
        </p:txBody>
      </p:sp>
      <p:pic>
        <p:nvPicPr>
          <p:cNvPr id="8" name="Content Placeholder 7">
            <a:extLst>
              <a:ext uri="{FF2B5EF4-FFF2-40B4-BE49-F238E27FC236}">
                <a16:creationId xmlns:a16="http://schemas.microsoft.com/office/drawing/2014/main" id="{B363CEB7-1017-4646-BD6D-B74E76FAA0A5}"/>
              </a:ext>
            </a:extLst>
          </p:cNvPr>
          <p:cNvPicPr>
            <a:picLocks noGrp="1" noChangeAspect="1"/>
          </p:cNvPicPr>
          <p:nvPr>
            <p:ph idx="1"/>
          </p:nvPr>
        </p:nvPicPr>
        <p:blipFill rotWithShape="1">
          <a:blip r:embed="rId2"/>
          <a:srcRect l="1689" r="7022"/>
          <a:stretch/>
        </p:blipFill>
        <p:spPr>
          <a:xfrm>
            <a:off x="5255395" y="606392"/>
            <a:ext cx="6720606" cy="5262595"/>
          </a:xfrm>
          <a:noFill/>
          <a:ln>
            <a:solidFill>
              <a:schemeClr val="bg2">
                <a:lumMod val="75000"/>
              </a:schemeClr>
            </a:solidFill>
          </a:ln>
        </p:spPr>
      </p:pic>
      <p:sp>
        <p:nvSpPr>
          <p:cNvPr id="9" name="Rectangle 8">
            <a:extLst>
              <a:ext uri="{FF2B5EF4-FFF2-40B4-BE49-F238E27FC236}">
                <a16:creationId xmlns:a16="http://schemas.microsoft.com/office/drawing/2014/main" id="{F6F85A4D-8039-4A99-902E-9CAEBF6C7DEB}"/>
              </a:ext>
            </a:extLst>
          </p:cNvPr>
          <p:cNvSpPr/>
          <p:nvPr/>
        </p:nvSpPr>
        <p:spPr>
          <a:xfrm>
            <a:off x="432000" y="1568918"/>
            <a:ext cx="1955065" cy="12512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Rectangle 9">
            <a:extLst>
              <a:ext uri="{FF2B5EF4-FFF2-40B4-BE49-F238E27FC236}">
                <a16:creationId xmlns:a16="http://schemas.microsoft.com/office/drawing/2014/main" id="{DBA99882-9C1E-478F-B7A6-2B27602FAD67}"/>
              </a:ext>
            </a:extLst>
          </p:cNvPr>
          <p:cNvSpPr/>
          <p:nvPr/>
        </p:nvSpPr>
        <p:spPr>
          <a:xfrm>
            <a:off x="430398" y="1849922"/>
            <a:ext cx="2091421" cy="20505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Text Placeholder 5">
            <a:extLst>
              <a:ext uri="{FF2B5EF4-FFF2-40B4-BE49-F238E27FC236}">
                <a16:creationId xmlns:a16="http://schemas.microsoft.com/office/drawing/2014/main" id="{1D9506F6-762F-48C2-80E1-3D9BE378F3F5}"/>
              </a:ext>
            </a:extLst>
          </p:cNvPr>
          <p:cNvSpPr>
            <a:spLocks noGrp="1"/>
          </p:cNvSpPr>
          <p:nvPr>
            <p:ph type="body" sz="half" idx="2"/>
          </p:nvPr>
        </p:nvSpPr>
        <p:spPr>
          <a:xfrm>
            <a:off x="432000" y="1849922"/>
            <a:ext cx="4582762" cy="4019066"/>
          </a:xfrm>
        </p:spPr>
        <p:txBody>
          <a:bodyPr/>
          <a:lstStyle/>
          <a:p>
            <a:r>
              <a:rPr lang="en-GB" sz="1050" b="1" dirty="0"/>
              <a:t>Analysis and Interpretation</a:t>
            </a:r>
          </a:p>
          <a:p>
            <a:pPr marL="342900" indent="-342900">
              <a:buFont typeface="+mj-lt"/>
              <a:buAutoNum type="arabicPeriod"/>
            </a:pPr>
            <a:r>
              <a:rPr lang="en-GB" sz="1050" b="1" dirty="0"/>
              <a:t>Median Balance: </a:t>
            </a:r>
            <a:r>
              <a:rPr lang="en-GB" sz="1050" dirty="0"/>
              <a:t>The median balance for clients who subscribed to a term deposit (yes) is higher than those who did not (no). This suggests customers with higher average yearly balances are more likely to subscribe to term deposits.</a:t>
            </a:r>
          </a:p>
          <a:p>
            <a:pPr marL="342900" indent="-342900">
              <a:buFont typeface="+mj-lt"/>
              <a:buAutoNum type="arabicPeriod"/>
            </a:pPr>
            <a:r>
              <a:rPr lang="en-GB" sz="1050" b="1" dirty="0"/>
              <a:t>Interquartile Range (IQR):</a:t>
            </a:r>
            <a:r>
              <a:rPr lang="en-GB" sz="1050" dirty="0"/>
              <a:t> The IQR for both groups is wide, indicating substantial variability in balances within each group. However, the variability seems higher for those who did not subscribe (no).</a:t>
            </a:r>
          </a:p>
          <a:p>
            <a:pPr marL="342900" indent="-342900">
              <a:buFont typeface="+mj-lt"/>
              <a:buAutoNum type="arabicPeriod"/>
            </a:pPr>
            <a:r>
              <a:rPr lang="en-GB" sz="1050" b="1" dirty="0"/>
              <a:t>Outliers:</a:t>
            </a:r>
            <a:r>
              <a:rPr lang="en-GB" sz="1050" dirty="0"/>
              <a:t> Both groups have several outliers, particularly in the no group. This indicates that some clients have significantly higher or lower balances than most.</a:t>
            </a:r>
          </a:p>
          <a:p>
            <a:r>
              <a:rPr lang="en-GB" sz="1050" b="1" dirty="0"/>
              <a:t>Actionable Insights</a:t>
            </a:r>
          </a:p>
          <a:p>
            <a:pPr marL="342900" indent="-342900">
              <a:buFont typeface="+mj-lt"/>
              <a:buAutoNum type="arabicPeriod"/>
            </a:pPr>
            <a:r>
              <a:rPr lang="en-GB" sz="1050" b="1" dirty="0"/>
              <a:t>Target Higher Balance Customers:</a:t>
            </a:r>
            <a:r>
              <a:rPr lang="en-GB" sz="1050" dirty="0"/>
              <a:t> Since higher balances correlate with a higher likelihood of subscription, focus marketing efforts on customers with higher average yearly balances.</a:t>
            </a:r>
          </a:p>
          <a:p>
            <a:pPr marL="342900" indent="-342900">
              <a:buFont typeface="+mj-lt"/>
              <a:buAutoNum type="arabicPeriod"/>
            </a:pPr>
            <a:r>
              <a:rPr lang="en-GB" sz="1050" b="1" dirty="0"/>
              <a:t>Tailored Marketing Strategies:</a:t>
            </a:r>
            <a:r>
              <a:rPr lang="en-GB" sz="1050" dirty="0"/>
              <a:t> Develop specific strategies to engage clients with lower balances, possibly by offering more attractive terms or highlighting the benefits of term deposits for wealth accumulation.</a:t>
            </a:r>
          </a:p>
          <a:p>
            <a:pPr marL="342900" indent="-342900">
              <a:buFont typeface="+mj-lt"/>
              <a:buAutoNum type="arabicPeriod"/>
            </a:pPr>
            <a:r>
              <a:rPr lang="en-GB" sz="1050" b="1" dirty="0"/>
              <a:t>Outlier Analysis:</a:t>
            </a:r>
            <a:r>
              <a:rPr lang="en-GB" sz="1050" dirty="0"/>
              <a:t> Investigate the characteristics of outliers, especially those with very high balances who did not subscribe. Understanding their reasons might reveal opportunities to convert these high-balance non-subscribers.</a:t>
            </a:r>
            <a:endParaRPr lang="en-IN" sz="1050" dirty="0"/>
          </a:p>
        </p:txBody>
      </p:sp>
      <p:sp>
        <p:nvSpPr>
          <p:cNvPr id="11" name="Rectangle 10">
            <a:extLst>
              <a:ext uri="{FF2B5EF4-FFF2-40B4-BE49-F238E27FC236}">
                <a16:creationId xmlns:a16="http://schemas.microsoft.com/office/drawing/2014/main" id="{5B5D3EF4-0120-4246-9434-DF7B13331D00}"/>
              </a:ext>
            </a:extLst>
          </p:cNvPr>
          <p:cNvSpPr/>
          <p:nvPr/>
        </p:nvSpPr>
        <p:spPr>
          <a:xfrm>
            <a:off x="9775824" y="6371350"/>
            <a:ext cx="1984136" cy="432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200333277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E4A4B1-D011-479D-881A-5B80C053A516}"/>
              </a:ext>
            </a:extLst>
          </p:cNvPr>
          <p:cNvSpPr>
            <a:spLocks noGrp="1"/>
          </p:cNvSpPr>
          <p:nvPr>
            <p:ph type="title"/>
          </p:nvPr>
        </p:nvSpPr>
        <p:spPr>
          <a:xfrm>
            <a:off x="432000" y="432000"/>
            <a:ext cx="3932037" cy="1054568"/>
          </a:xfrm>
        </p:spPr>
        <p:txBody>
          <a:bodyPr/>
          <a:lstStyle/>
          <a:p>
            <a:r>
              <a:rPr lang="en-IN" sz="3600" dirty="0"/>
              <a:t>Multiple Loans vs Term Deposit</a:t>
            </a:r>
          </a:p>
        </p:txBody>
      </p:sp>
      <p:sp>
        <p:nvSpPr>
          <p:cNvPr id="4" name="Slide Number Placeholder 3">
            <a:extLst>
              <a:ext uri="{FF2B5EF4-FFF2-40B4-BE49-F238E27FC236}">
                <a16:creationId xmlns:a16="http://schemas.microsoft.com/office/drawing/2014/main" id="{93A5BDA4-FD99-431D-A673-3C45EA1281B2}"/>
              </a:ext>
            </a:extLst>
          </p:cNvPr>
          <p:cNvSpPr>
            <a:spLocks noGrp="1"/>
          </p:cNvSpPr>
          <p:nvPr>
            <p:ph type="sldNum" sz="quarter" idx="33"/>
          </p:nvPr>
        </p:nvSpPr>
        <p:spPr/>
        <p:txBody>
          <a:bodyPr/>
          <a:lstStyle/>
          <a:p>
            <a:fld id="{19B51A1E-902D-48AF-9020-955120F399B6}" type="slidenum">
              <a:rPr lang="en-US" noProof="0" smtClean="0"/>
              <a:pPr/>
              <a:t>36</a:t>
            </a:fld>
            <a:endParaRPr lang="en-US" noProof="0" dirty="0"/>
          </a:p>
        </p:txBody>
      </p:sp>
      <p:pic>
        <p:nvPicPr>
          <p:cNvPr id="8" name="Content Placeholder 7">
            <a:extLst>
              <a:ext uri="{FF2B5EF4-FFF2-40B4-BE49-F238E27FC236}">
                <a16:creationId xmlns:a16="http://schemas.microsoft.com/office/drawing/2014/main" id="{B363CEB7-1017-4646-BD6D-B74E76FAA0A5}"/>
              </a:ext>
            </a:extLst>
          </p:cNvPr>
          <p:cNvPicPr>
            <a:picLocks noGrp="1" noChangeAspect="1"/>
          </p:cNvPicPr>
          <p:nvPr>
            <p:ph idx="1"/>
          </p:nvPr>
        </p:nvPicPr>
        <p:blipFill rotWithShape="1">
          <a:blip r:embed="rId2"/>
          <a:srcRect l="2970" r="7336"/>
          <a:stretch/>
        </p:blipFill>
        <p:spPr>
          <a:xfrm>
            <a:off x="5871411" y="606392"/>
            <a:ext cx="6104589" cy="5262595"/>
          </a:xfrm>
          <a:noFill/>
          <a:ln>
            <a:solidFill>
              <a:schemeClr val="bg2">
                <a:lumMod val="75000"/>
              </a:schemeClr>
            </a:solidFill>
          </a:ln>
        </p:spPr>
      </p:pic>
      <p:sp>
        <p:nvSpPr>
          <p:cNvPr id="9" name="Rectangle 8">
            <a:extLst>
              <a:ext uri="{FF2B5EF4-FFF2-40B4-BE49-F238E27FC236}">
                <a16:creationId xmlns:a16="http://schemas.microsoft.com/office/drawing/2014/main" id="{F6F85A4D-8039-4A99-902E-9CAEBF6C7DEB}"/>
              </a:ext>
            </a:extLst>
          </p:cNvPr>
          <p:cNvSpPr/>
          <p:nvPr/>
        </p:nvSpPr>
        <p:spPr>
          <a:xfrm>
            <a:off x="432000" y="1568918"/>
            <a:ext cx="1955065" cy="12512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Rectangle 9">
            <a:extLst>
              <a:ext uri="{FF2B5EF4-FFF2-40B4-BE49-F238E27FC236}">
                <a16:creationId xmlns:a16="http://schemas.microsoft.com/office/drawing/2014/main" id="{DBA99882-9C1E-478F-B7A6-2B27602FAD67}"/>
              </a:ext>
            </a:extLst>
          </p:cNvPr>
          <p:cNvSpPr/>
          <p:nvPr/>
        </p:nvSpPr>
        <p:spPr>
          <a:xfrm>
            <a:off x="430398" y="1849922"/>
            <a:ext cx="2091421" cy="20505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Text Placeholder 5">
            <a:extLst>
              <a:ext uri="{FF2B5EF4-FFF2-40B4-BE49-F238E27FC236}">
                <a16:creationId xmlns:a16="http://schemas.microsoft.com/office/drawing/2014/main" id="{1D9506F6-762F-48C2-80E1-3D9BE378F3F5}"/>
              </a:ext>
            </a:extLst>
          </p:cNvPr>
          <p:cNvSpPr>
            <a:spLocks noGrp="1"/>
          </p:cNvSpPr>
          <p:nvPr>
            <p:ph type="body" sz="half" idx="2"/>
          </p:nvPr>
        </p:nvSpPr>
        <p:spPr>
          <a:xfrm>
            <a:off x="431999" y="1849922"/>
            <a:ext cx="5121778" cy="4019066"/>
          </a:xfrm>
        </p:spPr>
        <p:txBody>
          <a:bodyPr/>
          <a:lstStyle/>
          <a:p>
            <a:pPr algn="just"/>
            <a:r>
              <a:rPr lang="en-GB" sz="1050" b="1" dirty="0"/>
              <a:t>Analysis and Interpretation</a:t>
            </a:r>
          </a:p>
          <a:p>
            <a:pPr marL="342900" indent="-342900" algn="just">
              <a:buFont typeface="+mj-lt"/>
              <a:buAutoNum type="arabicPeriod"/>
            </a:pPr>
            <a:r>
              <a:rPr lang="en-GB" sz="1050" b="1" dirty="0"/>
              <a:t>No Loans:</a:t>
            </a:r>
            <a:r>
              <a:rPr lang="en-GB" sz="1050" dirty="0"/>
              <a:t> Clients with neither housing nor personal loans show a higher proportion of term deposit subscriptions (yes). This suggests financial freedom or fewer existing obligations might make clients more inclined to invest in term deposits. </a:t>
            </a:r>
          </a:p>
          <a:p>
            <a:pPr marL="342900" indent="-342900" algn="just">
              <a:buFont typeface="+mj-lt"/>
              <a:buAutoNum type="arabicPeriod"/>
            </a:pPr>
            <a:r>
              <a:rPr lang="en-GB" sz="1050" b="1" dirty="0"/>
              <a:t>Only Housing Loan:</a:t>
            </a:r>
            <a:r>
              <a:rPr lang="en-GB" sz="1050" dirty="0"/>
              <a:t> Clients with only a housing loan have a lower subscription rate than those without. This indicates that a housing loan might slightly deter term deposit subscriptions.</a:t>
            </a:r>
          </a:p>
          <a:p>
            <a:pPr marL="342900" indent="-342900" algn="just">
              <a:buFont typeface="+mj-lt"/>
              <a:buAutoNum type="arabicPeriod"/>
            </a:pPr>
            <a:r>
              <a:rPr lang="en-GB" sz="1050" b="1" dirty="0"/>
              <a:t>Only Personal Loan:</a:t>
            </a:r>
            <a:r>
              <a:rPr lang="en-GB" sz="1050" dirty="0"/>
              <a:t> Clients with only a personal loan also show a lower subscription rate than those with a housing loan.</a:t>
            </a:r>
          </a:p>
          <a:p>
            <a:pPr marL="342900" indent="-342900" algn="just">
              <a:buFont typeface="+mj-lt"/>
              <a:buAutoNum type="arabicPeriod"/>
            </a:pPr>
            <a:r>
              <a:rPr lang="en-GB" sz="1050" b="1" dirty="0"/>
              <a:t>Both Loans:</a:t>
            </a:r>
            <a:r>
              <a:rPr lang="en-GB" sz="1050" dirty="0"/>
              <a:t> Clients with both housing and personal loans show the lowest subscription rate. This could imply that multiple financial obligations make clients less likely to commit to a term deposit.</a:t>
            </a:r>
          </a:p>
          <a:p>
            <a:pPr algn="just"/>
            <a:r>
              <a:rPr lang="en-GB" sz="1050" b="1" dirty="0"/>
              <a:t>Actionable Insights</a:t>
            </a:r>
          </a:p>
          <a:p>
            <a:pPr marL="342900" indent="-342900" algn="just">
              <a:buFont typeface="+mj-lt"/>
              <a:buAutoNum type="arabicPeriod"/>
            </a:pPr>
            <a:r>
              <a:rPr lang="en-GB" sz="1050" b="1" dirty="0"/>
              <a:t>Focus on Clients with No Loans:</a:t>
            </a:r>
            <a:r>
              <a:rPr lang="en-GB" sz="1050" dirty="0"/>
              <a:t> Marketing efforts should prioritise clients without loans, as they tend to subscribe to term deposits.</a:t>
            </a:r>
          </a:p>
          <a:p>
            <a:pPr marL="342900" indent="-342900" algn="just">
              <a:buFont typeface="+mj-lt"/>
              <a:buAutoNum type="arabicPeriod"/>
            </a:pPr>
            <a:r>
              <a:rPr lang="en-GB" sz="1050" b="1" dirty="0"/>
              <a:t>Address Loan-Related Concerns: </a:t>
            </a:r>
            <a:r>
              <a:rPr lang="en-GB" sz="1050" dirty="0"/>
              <a:t>Develop marketing messages that address clients’ concerns about existing loans, possibly highlighting how term deposits can still be a viable option for them.</a:t>
            </a:r>
          </a:p>
          <a:p>
            <a:pPr marL="342900" indent="-342900" algn="just">
              <a:buFont typeface="+mj-lt"/>
              <a:buAutoNum type="arabicPeriod"/>
            </a:pPr>
            <a:r>
              <a:rPr lang="en-GB" sz="1050" b="1" dirty="0"/>
              <a:t>Incentivize Multi-Loan Holders: </a:t>
            </a:r>
            <a:r>
              <a:rPr lang="en-GB" sz="1050" dirty="0"/>
              <a:t>Offer special incentives or tailored products to clients with housing and personal loans to encourage them to consider term deposits despite their existing financial commitments. </a:t>
            </a:r>
            <a:endParaRPr lang="en-IN" sz="1050" dirty="0"/>
          </a:p>
        </p:txBody>
      </p:sp>
      <p:sp>
        <p:nvSpPr>
          <p:cNvPr id="11" name="Rectangle 10">
            <a:extLst>
              <a:ext uri="{FF2B5EF4-FFF2-40B4-BE49-F238E27FC236}">
                <a16:creationId xmlns:a16="http://schemas.microsoft.com/office/drawing/2014/main" id="{5B5D3EF4-0120-4246-9434-DF7B13331D00}"/>
              </a:ext>
            </a:extLst>
          </p:cNvPr>
          <p:cNvSpPr/>
          <p:nvPr/>
        </p:nvSpPr>
        <p:spPr>
          <a:xfrm>
            <a:off x="9775824" y="6371350"/>
            <a:ext cx="1984136" cy="432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329847816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E4A4B1-D011-479D-881A-5B80C053A516}"/>
              </a:ext>
            </a:extLst>
          </p:cNvPr>
          <p:cNvSpPr>
            <a:spLocks noGrp="1"/>
          </p:cNvSpPr>
          <p:nvPr>
            <p:ph type="title"/>
          </p:nvPr>
        </p:nvSpPr>
        <p:spPr>
          <a:xfrm>
            <a:off x="432000" y="432000"/>
            <a:ext cx="3932037" cy="1054568"/>
          </a:xfrm>
        </p:spPr>
        <p:txBody>
          <a:bodyPr/>
          <a:lstStyle/>
          <a:p>
            <a:r>
              <a:rPr lang="en-IN" sz="3600" dirty="0"/>
              <a:t>Contact Method vs Term Deposit</a:t>
            </a:r>
          </a:p>
        </p:txBody>
      </p:sp>
      <p:sp>
        <p:nvSpPr>
          <p:cNvPr id="4" name="Slide Number Placeholder 3">
            <a:extLst>
              <a:ext uri="{FF2B5EF4-FFF2-40B4-BE49-F238E27FC236}">
                <a16:creationId xmlns:a16="http://schemas.microsoft.com/office/drawing/2014/main" id="{93A5BDA4-FD99-431D-A673-3C45EA1281B2}"/>
              </a:ext>
            </a:extLst>
          </p:cNvPr>
          <p:cNvSpPr>
            <a:spLocks noGrp="1"/>
          </p:cNvSpPr>
          <p:nvPr>
            <p:ph type="sldNum" sz="quarter" idx="33"/>
          </p:nvPr>
        </p:nvSpPr>
        <p:spPr/>
        <p:txBody>
          <a:bodyPr/>
          <a:lstStyle/>
          <a:p>
            <a:fld id="{19B51A1E-902D-48AF-9020-955120F399B6}" type="slidenum">
              <a:rPr lang="en-US" noProof="0" smtClean="0"/>
              <a:pPr/>
              <a:t>37</a:t>
            </a:fld>
            <a:endParaRPr lang="en-US" noProof="0" dirty="0"/>
          </a:p>
        </p:txBody>
      </p:sp>
      <p:pic>
        <p:nvPicPr>
          <p:cNvPr id="8" name="Content Placeholder 7">
            <a:extLst>
              <a:ext uri="{FF2B5EF4-FFF2-40B4-BE49-F238E27FC236}">
                <a16:creationId xmlns:a16="http://schemas.microsoft.com/office/drawing/2014/main" id="{B363CEB7-1017-4646-BD6D-B74E76FAA0A5}"/>
              </a:ext>
            </a:extLst>
          </p:cNvPr>
          <p:cNvPicPr>
            <a:picLocks noGrp="1" noChangeAspect="1"/>
          </p:cNvPicPr>
          <p:nvPr>
            <p:ph idx="1"/>
          </p:nvPr>
        </p:nvPicPr>
        <p:blipFill rotWithShape="1">
          <a:blip r:embed="rId2"/>
          <a:srcRect l="2970" r="7336"/>
          <a:stretch/>
        </p:blipFill>
        <p:spPr>
          <a:xfrm>
            <a:off x="5178392" y="606392"/>
            <a:ext cx="6797608" cy="5262595"/>
          </a:xfrm>
          <a:noFill/>
          <a:ln>
            <a:solidFill>
              <a:schemeClr val="bg2">
                <a:lumMod val="75000"/>
              </a:schemeClr>
            </a:solidFill>
          </a:ln>
        </p:spPr>
      </p:pic>
      <p:sp>
        <p:nvSpPr>
          <p:cNvPr id="9" name="Rectangle 8">
            <a:extLst>
              <a:ext uri="{FF2B5EF4-FFF2-40B4-BE49-F238E27FC236}">
                <a16:creationId xmlns:a16="http://schemas.microsoft.com/office/drawing/2014/main" id="{F6F85A4D-8039-4A99-902E-9CAEBF6C7DEB}"/>
              </a:ext>
            </a:extLst>
          </p:cNvPr>
          <p:cNvSpPr/>
          <p:nvPr/>
        </p:nvSpPr>
        <p:spPr>
          <a:xfrm>
            <a:off x="432000" y="1568918"/>
            <a:ext cx="1955065" cy="12512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Rectangle 9">
            <a:extLst>
              <a:ext uri="{FF2B5EF4-FFF2-40B4-BE49-F238E27FC236}">
                <a16:creationId xmlns:a16="http://schemas.microsoft.com/office/drawing/2014/main" id="{DBA99882-9C1E-478F-B7A6-2B27602FAD67}"/>
              </a:ext>
            </a:extLst>
          </p:cNvPr>
          <p:cNvSpPr/>
          <p:nvPr/>
        </p:nvSpPr>
        <p:spPr>
          <a:xfrm>
            <a:off x="430398" y="1849922"/>
            <a:ext cx="2091421" cy="20505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Text Placeholder 5">
            <a:extLst>
              <a:ext uri="{FF2B5EF4-FFF2-40B4-BE49-F238E27FC236}">
                <a16:creationId xmlns:a16="http://schemas.microsoft.com/office/drawing/2014/main" id="{1D9506F6-762F-48C2-80E1-3D9BE378F3F5}"/>
              </a:ext>
            </a:extLst>
          </p:cNvPr>
          <p:cNvSpPr>
            <a:spLocks noGrp="1"/>
          </p:cNvSpPr>
          <p:nvPr>
            <p:ph type="body" sz="half" idx="2"/>
          </p:nvPr>
        </p:nvSpPr>
        <p:spPr>
          <a:xfrm>
            <a:off x="432000" y="1849922"/>
            <a:ext cx="4457634" cy="4019066"/>
          </a:xfrm>
        </p:spPr>
        <p:txBody>
          <a:bodyPr/>
          <a:lstStyle/>
          <a:p>
            <a:pPr algn="just"/>
            <a:r>
              <a:rPr lang="en-GB" sz="1200" b="1" dirty="0"/>
              <a:t>Analysis and Interpretation</a:t>
            </a:r>
          </a:p>
          <a:p>
            <a:pPr marL="342900" indent="-342900" algn="just">
              <a:buFont typeface="+mj-lt"/>
              <a:buAutoNum type="arabicPeriod"/>
            </a:pPr>
            <a:r>
              <a:rPr lang="en-GB" sz="1200" b="1" dirty="0"/>
              <a:t>Cellular:</a:t>
            </a:r>
            <a:r>
              <a:rPr lang="en-GB" sz="1200" dirty="0"/>
              <a:t> The majority of contacts were made via cellular phones. Among these, a significant number resulted in subscriptions (yes), suggesting that this method is relatively effective. </a:t>
            </a:r>
          </a:p>
          <a:p>
            <a:pPr marL="342900" indent="-342900" algn="just">
              <a:buFont typeface="+mj-lt"/>
              <a:buAutoNum type="arabicPeriod"/>
            </a:pPr>
            <a:r>
              <a:rPr lang="en-GB" sz="1200" b="1" dirty="0"/>
              <a:t>Telephone:</a:t>
            </a:r>
            <a:r>
              <a:rPr lang="en-GB" sz="1200" dirty="0"/>
              <a:t> Fewer contacts were made via traditional telephones compared to cellular, and the proportion of successful subscriptions is lower.</a:t>
            </a:r>
          </a:p>
          <a:p>
            <a:pPr algn="just"/>
            <a:r>
              <a:rPr lang="en-GB" sz="1200" b="1" dirty="0"/>
              <a:t>Actionable Insights</a:t>
            </a:r>
          </a:p>
          <a:p>
            <a:pPr marL="342900" indent="-342900" algn="just">
              <a:buFont typeface="+mj-lt"/>
              <a:buAutoNum type="arabicPeriod"/>
            </a:pPr>
            <a:r>
              <a:rPr lang="en-GB" sz="1200" b="1" dirty="0"/>
              <a:t>Prioritize Cellular Contact</a:t>
            </a:r>
            <a:r>
              <a:rPr lang="en-GB" sz="1200" dirty="0"/>
              <a:t>: Since contacting clients via cellular phones yields more subscriptions, continue prioritising this method for future campaigns.</a:t>
            </a:r>
          </a:p>
          <a:p>
            <a:pPr marL="342900" indent="-342900" algn="just">
              <a:buFont typeface="+mj-lt"/>
              <a:buAutoNum type="arabicPeriod"/>
            </a:pPr>
            <a:r>
              <a:rPr lang="en-GB" sz="1200" b="1" dirty="0"/>
              <a:t>Enhance Telephone Strategy</a:t>
            </a:r>
            <a:r>
              <a:rPr lang="en-GB" sz="1200" dirty="0"/>
              <a:t>: Re-evaluate the strategy for telephone contacts. Consider improvements or additional training for agents to increase the effectiveness of this method.</a:t>
            </a:r>
          </a:p>
          <a:p>
            <a:pPr marL="342900" indent="-342900" algn="just">
              <a:buFont typeface="+mj-lt"/>
              <a:buAutoNum type="arabicPeriod"/>
            </a:pPr>
            <a:r>
              <a:rPr lang="en-GB" sz="1200" b="1" dirty="0"/>
              <a:t>Multi-Channel Approach:</a:t>
            </a:r>
            <a:r>
              <a:rPr lang="en-GB" sz="1200" dirty="0"/>
              <a:t> Implement a multi-channel contact strategy, starting with the most effective method (cellular) and followed by follow-up attempts using less effective methods (telephone) to maximise outreach and potential subscriptions.</a:t>
            </a:r>
            <a:endParaRPr lang="en-IN" sz="1200" dirty="0"/>
          </a:p>
        </p:txBody>
      </p:sp>
      <p:sp>
        <p:nvSpPr>
          <p:cNvPr id="11" name="Rectangle 10">
            <a:extLst>
              <a:ext uri="{FF2B5EF4-FFF2-40B4-BE49-F238E27FC236}">
                <a16:creationId xmlns:a16="http://schemas.microsoft.com/office/drawing/2014/main" id="{5B5D3EF4-0120-4246-9434-DF7B13331D00}"/>
              </a:ext>
            </a:extLst>
          </p:cNvPr>
          <p:cNvSpPr/>
          <p:nvPr/>
        </p:nvSpPr>
        <p:spPr>
          <a:xfrm>
            <a:off x="9775824" y="6371350"/>
            <a:ext cx="1984136" cy="432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266833825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E4A4B1-D011-479D-881A-5B80C053A516}"/>
              </a:ext>
            </a:extLst>
          </p:cNvPr>
          <p:cNvSpPr>
            <a:spLocks noGrp="1"/>
          </p:cNvSpPr>
          <p:nvPr>
            <p:ph type="title"/>
          </p:nvPr>
        </p:nvSpPr>
        <p:spPr>
          <a:xfrm>
            <a:off x="432000" y="432000"/>
            <a:ext cx="3932037" cy="1054568"/>
          </a:xfrm>
        </p:spPr>
        <p:txBody>
          <a:bodyPr/>
          <a:lstStyle/>
          <a:p>
            <a:r>
              <a:rPr lang="en-IN" sz="3600" dirty="0"/>
              <a:t>Average Balance by Job Type</a:t>
            </a:r>
          </a:p>
        </p:txBody>
      </p:sp>
      <p:sp>
        <p:nvSpPr>
          <p:cNvPr id="4" name="Slide Number Placeholder 3">
            <a:extLst>
              <a:ext uri="{FF2B5EF4-FFF2-40B4-BE49-F238E27FC236}">
                <a16:creationId xmlns:a16="http://schemas.microsoft.com/office/drawing/2014/main" id="{93A5BDA4-FD99-431D-A673-3C45EA1281B2}"/>
              </a:ext>
            </a:extLst>
          </p:cNvPr>
          <p:cNvSpPr>
            <a:spLocks noGrp="1"/>
          </p:cNvSpPr>
          <p:nvPr>
            <p:ph type="sldNum" sz="quarter" idx="33"/>
          </p:nvPr>
        </p:nvSpPr>
        <p:spPr/>
        <p:txBody>
          <a:bodyPr/>
          <a:lstStyle/>
          <a:p>
            <a:fld id="{19B51A1E-902D-48AF-9020-955120F399B6}" type="slidenum">
              <a:rPr lang="en-US" noProof="0" smtClean="0"/>
              <a:pPr/>
              <a:t>38</a:t>
            </a:fld>
            <a:endParaRPr lang="en-US" noProof="0" dirty="0"/>
          </a:p>
        </p:txBody>
      </p:sp>
      <p:pic>
        <p:nvPicPr>
          <p:cNvPr id="8" name="Content Placeholder 7">
            <a:extLst>
              <a:ext uri="{FF2B5EF4-FFF2-40B4-BE49-F238E27FC236}">
                <a16:creationId xmlns:a16="http://schemas.microsoft.com/office/drawing/2014/main" id="{B363CEB7-1017-4646-BD6D-B74E76FAA0A5}"/>
              </a:ext>
            </a:extLst>
          </p:cNvPr>
          <p:cNvPicPr>
            <a:picLocks noGrp="1" noChangeAspect="1"/>
          </p:cNvPicPr>
          <p:nvPr>
            <p:ph idx="1"/>
          </p:nvPr>
        </p:nvPicPr>
        <p:blipFill rotWithShape="1">
          <a:blip r:embed="rId2"/>
          <a:srcRect l="5823" r="7511"/>
          <a:stretch/>
        </p:blipFill>
        <p:spPr>
          <a:xfrm>
            <a:off x="4697128" y="606392"/>
            <a:ext cx="7278872" cy="5262595"/>
          </a:xfrm>
          <a:noFill/>
          <a:ln>
            <a:solidFill>
              <a:schemeClr val="bg2">
                <a:lumMod val="75000"/>
              </a:schemeClr>
            </a:solidFill>
          </a:ln>
        </p:spPr>
      </p:pic>
      <p:sp>
        <p:nvSpPr>
          <p:cNvPr id="9" name="Rectangle 8">
            <a:extLst>
              <a:ext uri="{FF2B5EF4-FFF2-40B4-BE49-F238E27FC236}">
                <a16:creationId xmlns:a16="http://schemas.microsoft.com/office/drawing/2014/main" id="{F6F85A4D-8039-4A99-902E-9CAEBF6C7DEB}"/>
              </a:ext>
            </a:extLst>
          </p:cNvPr>
          <p:cNvSpPr/>
          <p:nvPr/>
        </p:nvSpPr>
        <p:spPr>
          <a:xfrm>
            <a:off x="432000" y="1568918"/>
            <a:ext cx="1955065" cy="12512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Rectangle 9">
            <a:extLst>
              <a:ext uri="{FF2B5EF4-FFF2-40B4-BE49-F238E27FC236}">
                <a16:creationId xmlns:a16="http://schemas.microsoft.com/office/drawing/2014/main" id="{DBA99882-9C1E-478F-B7A6-2B27602FAD67}"/>
              </a:ext>
            </a:extLst>
          </p:cNvPr>
          <p:cNvSpPr/>
          <p:nvPr/>
        </p:nvSpPr>
        <p:spPr>
          <a:xfrm>
            <a:off x="430398" y="1849922"/>
            <a:ext cx="2091421" cy="20505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Text Placeholder 5">
            <a:extLst>
              <a:ext uri="{FF2B5EF4-FFF2-40B4-BE49-F238E27FC236}">
                <a16:creationId xmlns:a16="http://schemas.microsoft.com/office/drawing/2014/main" id="{1D9506F6-762F-48C2-80E1-3D9BE378F3F5}"/>
              </a:ext>
            </a:extLst>
          </p:cNvPr>
          <p:cNvSpPr>
            <a:spLocks noGrp="1"/>
          </p:cNvSpPr>
          <p:nvPr>
            <p:ph type="body" sz="half" idx="2"/>
          </p:nvPr>
        </p:nvSpPr>
        <p:spPr>
          <a:xfrm>
            <a:off x="432000" y="1849922"/>
            <a:ext cx="3932237" cy="4019066"/>
          </a:xfrm>
        </p:spPr>
        <p:txBody>
          <a:bodyPr/>
          <a:lstStyle/>
          <a:p>
            <a:pPr algn="just"/>
            <a:r>
              <a:rPr lang="en-GB" sz="1200" b="1" dirty="0"/>
              <a:t>Analysis and Interpretation</a:t>
            </a:r>
          </a:p>
          <a:p>
            <a:pPr marL="342900" indent="-342900" algn="just">
              <a:buFont typeface="+mj-lt"/>
              <a:buAutoNum type="arabicPeriod"/>
            </a:pPr>
            <a:r>
              <a:rPr lang="en-GB" sz="1200" b="1" dirty="0"/>
              <a:t>Higher Average Balances in Specific Jobs:</a:t>
            </a:r>
            <a:r>
              <a:rPr lang="en-GB" sz="1200" dirty="0"/>
              <a:t> Retired clients, those in management positions, and self-employed individuals have the highest average balances, indicating they may have more disposable income or savings.</a:t>
            </a:r>
          </a:p>
          <a:p>
            <a:pPr marL="342900" indent="-342900" algn="just">
              <a:buFont typeface="+mj-lt"/>
              <a:buAutoNum type="arabicPeriod"/>
            </a:pPr>
            <a:r>
              <a:rPr lang="en-GB" sz="1200" b="1" dirty="0"/>
              <a:t>Lower Average Balances in Service and Blue-Collar Jobs:</a:t>
            </a:r>
            <a:r>
              <a:rPr lang="en-GB" sz="1200" dirty="0"/>
              <a:t> Clients in service-related and blue-collar jobs have the lowest average balances, suggesting they may have less disposable income for investment in term deposits.</a:t>
            </a:r>
          </a:p>
          <a:p>
            <a:pPr algn="just"/>
            <a:r>
              <a:rPr lang="en-GB" sz="1200" b="1" dirty="0"/>
              <a:t>Actionable Insights</a:t>
            </a:r>
          </a:p>
          <a:p>
            <a:pPr marL="342900" indent="-342900" algn="just">
              <a:buFont typeface="+mj-lt"/>
              <a:buAutoNum type="arabicPeriod"/>
            </a:pPr>
            <a:r>
              <a:rPr lang="en-GB" sz="1200" b="1" dirty="0"/>
              <a:t>Target High-Balance Segments:</a:t>
            </a:r>
            <a:r>
              <a:rPr lang="en-GB" sz="1200" dirty="0"/>
              <a:t> Focus marketing efforts on retirees, management, and self-employed clients with higher average balances and may be more inclined to invest in term deposits.</a:t>
            </a:r>
          </a:p>
          <a:p>
            <a:pPr marL="342900" indent="-342900" algn="just">
              <a:buFont typeface="+mj-lt"/>
              <a:buAutoNum type="arabicPeriod"/>
            </a:pPr>
            <a:r>
              <a:rPr lang="en-GB" sz="1200" b="1" dirty="0"/>
              <a:t>Personalised Marketing Strategies:</a:t>
            </a:r>
            <a:r>
              <a:rPr lang="en-GB" sz="1200" dirty="0"/>
              <a:t> Develop customised marketing messages for different job types to increase the relevance and effectiveness of campaigns, such as highlighting financial stability for retirees and growth opportunities for self-employed individuals.</a:t>
            </a:r>
            <a:endParaRPr lang="en-IN" sz="1200" dirty="0"/>
          </a:p>
        </p:txBody>
      </p:sp>
      <p:sp>
        <p:nvSpPr>
          <p:cNvPr id="11" name="Rectangle 10">
            <a:extLst>
              <a:ext uri="{FF2B5EF4-FFF2-40B4-BE49-F238E27FC236}">
                <a16:creationId xmlns:a16="http://schemas.microsoft.com/office/drawing/2014/main" id="{5B5D3EF4-0120-4246-9434-DF7B13331D00}"/>
              </a:ext>
            </a:extLst>
          </p:cNvPr>
          <p:cNvSpPr/>
          <p:nvPr/>
        </p:nvSpPr>
        <p:spPr>
          <a:xfrm>
            <a:off x="9775824" y="6371350"/>
            <a:ext cx="1984136" cy="432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302615511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E4A4B1-D011-479D-881A-5B80C053A516}"/>
              </a:ext>
            </a:extLst>
          </p:cNvPr>
          <p:cNvSpPr>
            <a:spLocks noGrp="1"/>
          </p:cNvSpPr>
          <p:nvPr>
            <p:ph type="title"/>
          </p:nvPr>
        </p:nvSpPr>
        <p:spPr>
          <a:xfrm>
            <a:off x="432000" y="432000"/>
            <a:ext cx="3932037" cy="1054568"/>
          </a:xfrm>
        </p:spPr>
        <p:txBody>
          <a:bodyPr/>
          <a:lstStyle/>
          <a:p>
            <a:r>
              <a:rPr lang="en-IN" sz="3600" dirty="0"/>
              <a:t>Subscription Rate by Age Group</a:t>
            </a:r>
          </a:p>
        </p:txBody>
      </p:sp>
      <p:sp>
        <p:nvSpPr>
          <p:cNvPr id="4" name="Slide Number Placeholder 3">
            <a:extLst>
              <a:ext uri="{FF2B5EF4-FFF2-40B4-BE49-F238E27FC236}">
                <a16:creationId xmlns:a16="http://schemas.microsoft.com/office/drawing/2014/main" id="{93A5BDA4-FD99-431D-A673-3C45EA1281B2}"/>
              </a:ext>
            </a:extLst>
          </p:cNvPr>
          <p:cNvSpPr>
            <a:spLocks noGrp="1"/>
          </p:cNvSpPr>
          <p:nvPr>
            <p:ph type="sldNum" sz="quarter" idx="33"/>
          </p:nvPr>
        </p:nvSpPr>
        <p:spPr/>
        <p:txBody>
          <a:bodyPr/>
          <a:lstStyle/>
          <a:p>
            <a:fld id="{19B51A1E-902D-48AF-9020-955120F399B6}" type="slidenum">
              <a:rPr lang="en-US" noProof="0" smtClean="0"/>
              <a:pPr/>
              <a:t>39</a:t>
            </a:fld>
            <a:endParaRPr lang="en-US" noProof="0" dirty="0"/>
          </a:p>
        </p:txBody>
      </p:sp>
      <p:pic>
        <p:nvPicPr>
          <p:cNvPr id="8" name="Content Placeholder 7">
            <a:extLst>
              <a:ext uri="{FF2B5EF4-FFF2-40B4-BE49-F238E27FC236}">
                <a16:creationId xmlns:a16="http://schemas.microsoft.com/office/drawing/2014/main" id="{B363CEB7-1017-4646-BD6D-B74E76FAA0A5}"/>
              </a:ext>
            </a:extLst>
          </p:cNvPr>
          <p:cNvPicPr>
            <a:picLocks noGrp="1" noChangeAspect="1"/>
          </p:cNvPicPr>
          <p:nvPr>
            <p:ph idx="1"/>
          </p:nvPr>
        </p:nvPicPr>
        <p:blipFill rotWithShape="1">
          <a:blip r:embed="rId2"/>
          <a:srcRect l="4979" r="8354"/>
          <a:stretch/>
        </p:blipFill>
        <p:spPr>
          <a:xfrm>
            <a:off x="5630778" y="606392"/>
            <a:ext cx="6345221" cy="5262595"/>
          </a:xfrm>
          <a:noFill/>
          <a:ln>
            <a:solidFill>
              <a:schemeClr val="bg2">
                <a:lumMod val="75000"/>
              </a:schemeClr>
            </a:solidFill>
          </a:ln>
        </p:spPr>
      </p:pic>
      <p:sp>
        <p:nvSpPr>
          <p:cNvPr id="9" name="Rectangle 8">
            <a:extLst>
              <a:ext uri="{FF2B5EF4-FFF2-40B4-BE49-F238E27FC236}">
                <a16:creationId xmlns:a16="http://schemas.microsoft.com/office/drawing/2014/main" id="{F6F85A4D-8039-4A99-902E-9CAEBF6C7DEB}"/>
              </a:ext>
            </a:extLst>
          </p:cNvPr>
          <p:cNvSpPr/>
          <p:nvPr/>
        </p:nvSpPr>
        <p:spPr>
          <a:xfrm>
            <a:off x="432000" y="1568918"/>
            <a:ext cx="1955065" cy="12512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Rectangle 9">
            <a:extLst>
              <a:ext uri="{FF2B5EF4-FFF2-40B4-BE49-F238E27FC236}">
                <a16:creationId xmlns:a16="http://schemas.microsoft.com/office/drawing/2014/main" id="{DBA99882-9C1E-478F-B7A6-2B27602FAD67}"/>
              </a:ext>
            </a:extLst>
          </p:cNvPr>
          <p:cNvSpPr/>
          <p:nvPr/>
        </p:nvSpPr>
        <p:spPr>
          <a:xfrm>
            <a:off x="430398" y="1849922"/>
            <a:ext cx="2091421" cy="20505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Text Placeholder 5">
            <a:extLst>
              <a:ext uri="{FF2B5EF4-FFF2-40B4-BE49-F238E27FC236}">
                <a16:creationId xmlns:a16="http://schemas.microsoft.com/office/drawing/2014/main" id="{1D9506F6-762F-48C2-80E1-3D9BE378F3F5}"/>
              </a:ext>
            </a:extLst>
          </p:cNvPr>
          <p:cNvSpPr>
            <a:spLocks noGrp="1"/>
          </p:cNvSpPr>
          <p:nvPr>
            <p:ph type="body" sz="half" idx="2"/>
          </p:nvPr>
        </p:nvSpPr>
        <p:spPr>
          <a:xfrm>
            <a:off x="431999" y="1849922"/>
            <a:ext cx="4910021" cy="4019066"/>
          </a:xfrm>
        </p:spPr>
        <p:txBody>
          <a:bodyPr/>
          <a:lstStyle/>
          <a:p>
            <a:pPr algn="just"/>
            <a:r>
              <a:rPr lang="en-GB" sz="1100" b="1" dirty="0"/>
              <a:t>Analysis and Interpretation</a:t>
            </a:r>
            <a:endParaRPr lang="en-GB" sz="1100" dirty="0"/>
          </a:p>
          <a:p>
            <a:pPr marL="342900" indent="-342900" algn="just">
              <a:buFont typeface="+mj-lt"/>
              <a:buAutoNum type="arabicPeriod"/>
            </a:pPr>
            <a:r>
              <a:rPr lang="en-GB" sz="1100" b="1" dirty="0"/>
              <a:t>Younger Clients (18-30):</a:t>
            </a:r>
            <a:r>
              <a:rPr lang="en-GB" sz="1100" dirty="0"/>
              <a:t> This age group has the lowest subscription rates for term deposits. This may be due to their focus on short-term financial needs such as education, starting careers, or managing initial financial independence. They may also have less disposable income to invest.</a:t>
            </a:r>
          </a:p>
          <a:p>
            <a:pPr marL="342900" indent="-342900" algn="just">
              <a:buFont typeface="+mj-lt"/>
              <a:buAutoNum type="arabicPeriod"/>
            </a:pPr>
            <a:r>
              <a:rPr lang="en-GB" sz="1100" b="1" dirty="0"/>
              <a:t>Middle-Aged Clients (40-50):</a:t>
            </a:r>
            <a:r>
              <a:rPr lang="en-GB" sz="1100" dirty="0"/>
              <a:t> This group shows higher subscription rates, likely due to greater financial stability, higher disposable incomes, and a focus on long-term financial planning, such as retirement savings and investment.</a:t>
            </a:r>
          </a:p>
          <a:p>
            <a:pPr marL="342900" indent="-342900" algn="just">
              <a:buFont typeface="+mj-lt"/>
              <a:buAutoNum type="arabicPeriod"/>
            </a:pPr>
            <a:r>
              <a:rPr lang="en-GB" sz="1100" b="1" dirty="0"/>
              <a:t>Older Clients (60+):</a:t>
            </a:r>
            <a:r>
              <a:rPr lang="en-GB" sz="1100" dirty="0"/>
              <a:t> Clients in this age group also demonstrate a high likelihood of subscribing to term deposits, driven by a need for secure investment options that offer stability and reliable returns as they approach or are in retirement.</a:t>
            </a:r>
          </a:p>
          <a:p>
            <a:pPr algn="just"/>
            <a:r>
              <a:rPr lang="en-GB" sz="1100" b="1" dirty="0"/>
              <a:t>Actionable Insights</a:t>
            </a:r>
            <a:endParaRPr lang="en-GB" sz="1100" dirty="0"/>
          </a:p>
          <a:p>
            <a:pPr marL="342900" indent="-342900" algn="just">
              <a:buFont typeface="+mj-lt"/>
              <a:buAutoNum type="arabicPeriod"/>
            </a:pPr>
            <a:r>
              <a:rPr lang="en-GB" sz="1100" b="1" dirty="0"/>
              <a:t>Target Middle-Aged and Older Clients:</a:t>
            </a:r>
            <a:r>
              <a:rPr lang="en-GB" sz="1100" dirty="0"/>
              <a:t> Develop targeted marketing campaigns that specifically address the needs and interests of clients aged 40-50 and above 60. Highlight benefits such as financial security, retirement planning, and stable investment options that appeal to these age groups.</a:t>
            </a:r>
          </a:p>
          <a:p>
            <a:pPr marL="342900" indent="-342900" algn="just">
              <a:buFont typeface="+mj-lt"/>
              <a:buAutoNum type="arabicPeriod"/>
            </a:pPr>
            <a:r>
              <a:rPr lang="en-GB" sz="1100" b="1" dirty="0"/>
              <a:t>Customized Campaigns for Younger Clients:</a:t>
            </a:r>
            <a:r>
              <a:rPr lang="en-GB" sz="1100" dirty="0"/>
              <a:t> Create appealing offers and incentives for younger clients (18-30) to increase their subscription rates. This could include features like higher interest rates for shorter-term deposits, flexible terms, or educational content on the benefits of early investment.</a:t>
            </a:r>
          </a:p>
          <a:p>
            <a:pPr algn="just"/>
            <a:endParaRPr lang="en-IN" sz="1100" dirty="0"/>
          </a:p>
        </p:txBody>
      </p:sp>
      <p:sp>
        <p:nvSpPr>
          <p:cNvPr id="11" name="Rectangle 10">
            <a:extLst>
              <a:ext uri="{FF2B5EF4-FFF2-40B4-BE49-F238E27FC236}">
                <a16:creationId xmlns:a16="http://schemas.microsoft.com/office/drawing/2014/main" id="{5B5D3EF4-0120-4246-9434-DF7B13331D00}"/>
              </a:ext>
            </a:extLst>
          </p:cNvPr>
          <p:cNvSpPr/>
          <p:nvPr/>
        </p:nvSpPr>
        <p:spPr>
          <a:xfrm>
            <a:off x="9775824" y="6371350"/>
            <a:ext cx="1984136" cy="432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350050805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E4A4B1-D011-479D-881A-5B80C053A516}"/>
              </a:ext>
            </a:extLst>
          </p:cNvPr>
          <p:cNvSpPr>
            <a:spLocks noGrp="1"/>
          </p:cNvSpPr>
          <p:nvPr>
            <p:ph type="title"/>
          </p:nvPr>
        </p:nvSpPr>
        <p:spPr>
          <a:xfrm>
            <a:off x="432000" y="432000"/>
            <a:ext cx="3932037" cy="1054568"/>
          </a:xfrm>
        </p:spPr>
        <p:txBody>
          <a:bodyPr/>
          <a:lstStyle/>
          <a:p>
            <a:r>
              <a:rPr lang="en-IN" sz="3600" dirty="0"/>
              <a:t>Subscription Rate by Education Level</a:t>
            </a:r>
          </a:p>
        </p:txBody>
      </p:sp>
      <p:sp>
        <p:nvSpPr>
          <p:cNvPr id="4" name="Slide Number Placeholder 3">
            <a:extLst>
              <a:ext uri="{FF2B5EF4-FFF2-40B4-BE49-F238E27FC236}">
                <a16:creationId xmlns:a16="http://schemas.microsoft.com/office/drawing/2014/main" id="{93A5BDA4-FD99-431D-A673-3C45EA1281B2}"/>
              </a:ext>
            </a:extLst>
          </p:cNvPr>
          <p:cNvSpPr>
            <a:spLocks noGrp="1"/>
          </p:cNvSpPr>
          <p:nvPr>
            <p:ph type="sldNum" sz="quarter" idx="33"/>
          </p:nvPr>
        </p:nvSpPr>
        <p:spPr/>
        <p:txBody>
          <a:bodyPr/>
          <a:lstStyle/>
          <a:p>
            <a:fld id="{19B51A1E-902D-48AF-9020-955120F399B6}" type="slidenum">
              <a:rPr lang="en-US" noProof="0" smtClean="0"/>
              <a:pPr/>
              <a:t>40</a:t>
            </a:fld>
            <a:endParaRPr lang="en-US" noProof="0" dirty="0"/>
          </a:p>
        </p:txBody>
      </p:sp>
      <p:pic>
        <p:nvPicPr>
          <p:cNvPr id="8" name="Content Placeholder 7">
            <a:extLst>
              <a:ext uri="{FF2B5EF4-FFF2-40B4-BE49-F238E27FC236}">
                <a16:creationId xmlns:a16="http://schemas.microsoft.com/office/drawing/2014/main" id="{B363CEB7-1017-4646-BD6D-B74E76FAA0A5}"/>
              </a:ext>
            </a:extLst>
          </p:cNvPr>
          <p:cNvPicPr>
            <a:picLocks noGrp="1" noChangeAspect="1"/>
          </p:cNvPicPr>
          <p:nvPr>
            <p:ph idx="1"/>
          </p:nvPr>
        </p:nvPicPr>
        <p:blipFill rotWithShape="1">
          <a:blip r:embed="rId2"/>
          <a:srcRect l="4789" r="8178"/>
          <a:stretch/>
        </p:blipFill>
        <p:spPr>
          <a:xfrm>
            <a:off x="5890660" y="606392"/>
            <a:ext cx="6085339" cy="5262595"/>
          </a:xfrm>
          <a:noFill/>
          <a:ln>
            <a:solidFill>
              <a:schemeClr val="bg2">
                <a:lumMod val="75000"/>
              </a:schemeClr>
            </a:solidFill>
          </a:ln>
        </p:spPr>
      </p:pic>
      <p:sp>
        <p:nvSpPr>
          <p:cNvPr id="9" name="Rectangle 8">
            <a:extLst>
              <a:ext uri="{FF2B5EF4-FFF2-40B4-BE49-F238E27FC236}">
                <a16:creationId xmlns:a16="http://schemas.microsoft.com/office/drawing/2014/main" id="{F6F85A4D-8039-4A99-902E-9CAEBF6C7DEB}"/>
              </a:ext>
            </a:extLst>
          </p:cNvPr>
          <p:cNvSpPr/>
          <p:nvPr/>
        </p:nvSpPr>
        <p:spPr>
          <a:xfrm>
            <a:off x="432000" y="1568918"/>
            <a:ext cx="1955065" cy="12512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Rectangle 9">
            <a:extLst>
              <a:ext uri="{FF2B5EF4-FFF2-40B4-BE49-F238E27FC236}">
                <a16:creationId xmlns:a16="http://schemas.microsoft.com/office/drawing/2014/main" id="{DBA99882-9C1E-478F-B7A6-2B27602FAD67}"/>
              </a:ext>
            </a:extLst>
          </p:cNvPr>
          <p:cNvSpPr/>
          <p:nvPr/>
        </p:nvSpPr>
        <p:spPr>
          <a:xfrm>
            <a:off x="430398" y="1849922"/>
            <a:ext cx="2091421" cy="20505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Text Placeholder 5">
            <a:extLst>
              <a:ext uri="{FF2B5EF4-FFF2-40B4-BE49-F238E27FC236}">
                <a16:creationId xmlns:a16="http://schemas.microsoft.com/office/drawing/2014/main" id="{1D9506F6-762F-48C2-80E1-3D9BE378F3F5}"/>
              </a:ext>
            </a:extLst>
          </p:cNvPr>
          <p:cNvSpPr>
            <a:spLocks noGrp="1"/>
          </p:cNvSpPr>
          <p:nvPr>
            <p:ph type="body" sz="half" idx="2"/>
          </p:nvPr>
        </p:nvSpPr>
        <p:spPr>
          <a:xfrm>
            <a:off x="432000" y="1849922"/>
            <a:ext cx="5160278" cy="4019066"/>
          </a:xfrm>
        </p:spPr>
        <p:txBody>
          <a:bodyPr/>
          <a:lstStyle/>
          <a:p>
            <a:pPr algn="just"/>
            <a:r>
              <a:rPr lang="en-GB" sz="1100" b="1" dirty="0"/>
              <a:t>Analysis and Interpretation</a:t>
            </a:r>
            <a:endParaRPr lang="en-GB" sz="1100" dirty="0"/>
          </a:p>
          <a:p>
            <a:pPr marL="342900" indent="-342900" algn="just">
              <a:buFont typeface="+mj-lt"/>
              <a:buAutoNum type="arabicPeriod"/>
            </a:pPr>
            <a:r>
              <a:rPr lang="en-GB" sz="1100" b="1" dirty="0"/>
              <a:t>Tertiary Education:</a:t>
            </a:r>
            <a:r>
              <a:rPr lang="en-GB" sz="1100" dirty="0"/>
              <a:t> Clients with tertiary education have higher subscription rates. This could be due to their better understanding of financial products, higher incomes, and greater focus on long-term financial planning.</a:t>
            </a:r>
          </a:p>
          <a:p>
            <a:pPr marL="342900" indent="-342900" algn="just">
              <a:buFont typeface="+mj-lt"/>
              <a:buAutoNum type="arabicPeriod"/>
            </a:pPr>
            <a:r>
              <a:rPr lang="en-GB" sz="1100" b="1" dirty="0"/>
              <a:t>Primary and Secondary Education:</a:t>
            </a:r>
            <a:r>
              <a:rPr lang="en-GB" sz="1100" dirty="0"/>
              <a:t> These clients have lower subscription rates, possibly due to lower incomes, less financial literacy, or different financial priorities.</a:t>
            </a:r>
          </a:p>
          <a:p>
            <a:pPr marL="342900" indent="-342900" algn="just">
              <a:buFont typeface="+mj-lt"/>
              <a:buAutoNum type="arabicPeriod"/>
            </a:pPr>
            <a:r>
              <a:rPr lang="en-GB" sz="1100" b="1" dirty="0"/>
              <a:t>Unknown Education Levels:</a:t>
            </a:r>
            <a:r>
              <a:rPr lang="en-GB" sz="1100" dirty="0"/>
              <a:t> The varied subscription patterns in this group suggest that it might include a mix of different education levels, making it harder to generalise their behaviour.</a:t>
            </a:r>
          </a:p>
          <a:p>
            <a:pPr algn="just"/>
            <a:r>
              <a:rPr lang="en-GB" sz="1100" b="1" dirty="0"/>
              <a:t>Actionable Insights</a:t>
            </a:r>
            <a:endParaRPr lang="en-GB" sz="1100" dirty="0"/>
          </a:p>
          <a:p>
            <a:pPr marL="342900" indent="-342900" algn="just">
              <a:buFont typeface="+mj-lt"/>
              <a:buAutoNum type="arabicPeriod"/>
            </a:pPr>
            <a:r>
              <a:rPr lang="en-GB" sz="1100" b="1" dirty="0"/>
              <a:t>Educational Campaigns:</a:t>
            </a:r>
            <a:r>
              <a:rPr lang="en-GB" sz="1100" dirty="0"/>
              <a:t> Tailor campaigns to emphasise the benefits of term deposits to clients with tertiary education, leveraging their higher likelihood of subscribing. Use sophisticated financial terminology and highlight long-term financial growth and security.</a:t>
            </a:r>
          </a:p>
          <a:p>
            <a:pPr marL="342900" indent="-342900" algn="just">
              <a:buFont typeface="+mj-lt"/>
              <a:buAutoNum type="arabicPeriod"/>
            </a:pPr>
            <a:r>
              <a:rPr lang="en-GB" sz="1100" b="1" dirty="0"/>
              <a:t>Address Knowledge Gaps:</a:t>
            </a:r>
            <a:r>
              <a:rPr lang="en-GB" sz="1100" dirty="0"/>
              <a:t> Develop educational content and workshops targeting clients with primary or secondary education. Simplify the concept of term deposits and illustrate their benefits through relatable examples and testimonials.</a:t>
            </a:r>
          </a:p>
          <a:p>
            <a:pPr marL="342900" indent="-342900" algn="just">
              <a:buFont typeface="+mj-lt"/>
              <a:buAutoNum type="arabicPeriod"/>
            </a:pPr>
            <a:r>
              <a:rPr lang="en-GB" sz="1100" b="1" dirty="0"/>
              <a:t>Clarify Unknown Education Levels:</a:t>
            </a:r>
            <a:r>
              <a:rPr lang="en-GB" sz="1100" dirty="0"/>
              <a:t> Investigate and address the reasons behind the 'unknown' education levels. If possible, update client profiles to better tailor marketing efforts.</a:t>
            </a:r>
          </a:p>
          <a:p>
            <a:pPr algn="just"/>
            <a:endParaRPr lang="en-IN" sz="1100" dirty="0"/>
          </a:p>
        </p:txBody>
      </p:sp>
      <p:sp>
        <p:nvSpPr>
          <p:cNvPr id="11" name="Rectangle 10">
            <a:extLst>
              <a:ext uri="{FF2B5EF4-FFF2-40B4-BE49-F238E27FC236}">
                <a16:creationId xmlns:a16="http://schemas.microsoft.com/office/drawing/2014/main" id="{5B5D3EF4-0120-4246-9434-DF7B13331D00}"/>
              </a:ext>
            </a:extLst>
          </p:cNvPr>
          <p:cNvSpPr/>
          <p:nvPr/>
        </p:nvSpPr>
        <p:spPr>
          <a:xfrm>
            <a:off x="9775824" y="6371350"/>
            <a:ext cx="1984136" cy="432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298003361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E4A4B1-D011-479D-881A-5B80C053A516}"/>
              </a:ext>
            </a:extLst>
          </p:cNvPr>
          <p:cNvSpPr>
            <a:spLocks noGrp="1"/>
          </p:cNvSpPr>
          <p:nvPr>
            <p:ph type="title"/>
          </p:nvPr>
        </p:nvSpPr>
        <p:spPr>
          <a:xfrm>
            <a:off x="432000" y="432000"/>
            <a:ext cx="3932037" cy="1054568"/>
          </a:xfrm>
        </p:spPr>
        <p:txBody>
          <a:bodyPr/>
          <a:lstStyle/>
          <a:p>
            <a:r>
              <a:rPr lang="en-IN" sz="3600" dirty="0"/>
              <a:t>Subscription Rate by Marital Status</a:t>
            </a:r>
          </a:p>
        </p:txBody>
      </p:sp>
      <p:sp>
        <p:nvSpPr>
          <p:cNvPr id="4" name="Slide Number Placeholder 3">
            <a:extLst>
              <a:ext uri="{FF2B5EF4-FFF2-40B4-BE49-F238E27FC236}">
                <a16:creationId xmlns:a16="http://schemas.microsoft.com/office/drawing/2014/main" id="{93A5BDA4-FD99-431D-A673-3C45EA1281B2}"/>
              </a:ext>
            </a:extLst>
          </p:cNvPr>
          <p:cNvSpPr>
            <a:spLocks noGrp="1"/>
          </p:cNvSpPr>
          <p:nvPr>
            <p:ph type="sldNum" sz="quarter" idx="33"/>
          </p:nvPr>
        </p:nvSpPr>
        <p:spPr/>
        <p:txBody>
          <a:bodyPr/>
          <a:lstStyle/>
          <a:p>
            <a:fld id="{19B51A1E-902D-48AF-9020-955120F399B6}" type="slidenum">
              <a:rPr lang="en-US" noProof="0" smtClean="0"/>
              <a:pPr/>
              <a:t>41</a:t>
            </a:fld>
            <a:endParaRPr lang="en-US" noProof="0" dirty="0"/>
          </a:p>
        </p:txBody>
      </p:sp>
      <p:pic>
        <p:nvPicPr>
          <p:cNvPr id="8" name="Content Placeholder 7">
            <a:extLst>
              <a:ext uri="{FF2B5EF4-FFF2-40B4-BE49-F238E27FC236}">
                <a16:creationId xmlns:a16="http://schemas.microsoft.com/office/drawing/2014/main" id="{B363CEB7-1017-4646-BD6D-B74E76FAA0A5}"/>
              </a:ext>
            </a:extLst>
          </p:cNvPr>
          <p:cNvPicPr>
            <a:picLocks noGrp="1" noChangeAspect="1"/>
          </p:cNvPicPr>
          <p:nvPr>
            <p:ph idx="1"/>
          </p:nvPr>
        </p:nvPicPr>
        <p:blipFill rotWithShape="1">
          <a:blip r:embed="rId2"/>
          <a:srcRect l="4789" r="8178"/>
          <a:stretch/>
        </p:blipFill>
        <p:spPr>
          <a:xfrm>
            <a:off x="5139891" y="606392"/>
            <a:ext cx="6836110" cy="5262595"/>
          </a:xfrm>
          <a:noFill/>
          <a:ln>
            <a:solidFill>
              <a:schemeClr val="bg2">
                <a:lumMod val="75000"/>
              </a:schemeClr>
            </a:solidFill>
          </a:ln>
        </p:spPr>
      </p:pic>
      <p:sp>
        <p:nvSpPr>
          <p:cNvPr id="9" name="Rectangle 8">
            <a:extLst>
              <a:ext uri="{FF2B5EF4-FFF2-40B4-BE49-F238E27FC236}">
                <a16:creationId xmlns:a16="http://schemas.microsoft.com/office/drawing/2014/main" id="{F6F85A4D-8039-4A99-902E-9CAEBF6C7DEB}"/>
              </a:ext>
            </a:extLst>
          </p:cNvPr>
          <p:cNvSpPr/>
          <p:nvPr/>
        </p:nvSpPr>
        <p:spPr>
          <a:xfrm>
            <a:off x="432000" y="1568918"/>
            <a:ext cx="1955065" cy="12512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Rectangle 9">
            <a:extLst>
              <a:ext uri="{FF2B5EF4-FFF2-40B4-BE49-F238E27FC236}">
                <a16:creationId xmlns:a16="http://schemas.microsoft.com/office/drawing/2014/main" id="{DBA99882-9C1E-478F-B7A6-2B27602FAD67}"/>
              </a:ext>
            </a:extLst>
          </p:cNvPr>
          <p:cNvSpPr/>
          <p:nvPr/>
        </p:nvSpPr>
        <p:spPr>
          <a:xfrm>
            <a:off x="430398" y="1849922"/>
            <a:ext cx="2091421" cy="20505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Text Placeholder 5">
            <a:extLst>
              <a:ext uri="{FF2B5EF4-FFF2-40B4-BE49-F238E27FC236}">
                <a16:creationId xmlns:a16="http://schemas.microsoft.com/office/drawing/2014/main" id="{1D9506F6-762F-48C2-80E1-3D9BE378F3F5}"/>
              </a:ext>
            </a:extLst>
          </p:cNvPr>
          <p:cNvSpPr>
            <a:spLocks noGrp="1"/>
          </p:cNvSpPr>
          <p:nvPr>
            <p:ph type="body" sz="half" idx="2"/>
          </p:nvPr>
        </p:nvSpPr>
        <p:spPr>
          <a:xfrm>
            <a:off x="432000" y="1849922"/>
            <a:ext cx="4467259" cy="4019066"/>
          </a:xfrm>
        </p:spPr>
        <p:txBody>
          <a:bodyPr/>
          <a:lstStyle/>
          <a:p>
            <a:pPr algn="just"/>
            <a:r>
              <a:rPr lang="en-GB" sz="1050" b="1" dirty="0"/>
              <a:t>Analysis and Interpretation</a:t>
            </a:r>
            <a:endParaRPr lang="en-GB" sz="1050" dirty="0"/>
          </a:p>
          <a:p>
            <a:pPr marL="342900" indent="-342900" algn="just">
              <a:buFont typeface="+mj-lt"/>
              <a:buAutoNum type="arabicPeriod"/>
            </a:pPr>
            <a:r>
              <a:rPr lang="en-GB" sz="1050" b="1" dirty="0"/>
              <a:t>Married Clients:</a:t>
            </a:r>
            <a:r>
              <a:rPr lang="en-GB" sz="1050" dirty="0"/>
              <a:t> This group shows the highest subscription rates. They may have a greater focus on financial stability and future planning for their families, making them more inclined to invest in secure financial products.</a:t>
            </a:r>
          </a:p>
          <a:p>
            <a:pPr marL="342900" indent="-342900" algn="just">
              <a:buFont typeface="+mj-lt"/>
              <a:buAutoNum type="arabicPeriod"/>
            </a:pPr>
            <a:r>
              <a:rPr lang="en-GB" sz="1050" b="1" dirty="0"/>
              <a:t>Single Clients:</a:t>
            </a:r>
            <a:r>
              <a:rPr lang="en-GB" sz="1050" dirty="0"/>
              <a:t> Single clients have the lowest subscription rates, potentially due to different financial priorities or focusing on more immediate financial needs and personal investments.</a:t>
            </a:r>
          </a:p>
          <a:p>
            <a:pPr marL="342900" indent="-342900" algn="just">
              <a:buFont typeface="+mj-lt"/>
              <a:buAutoNum type="arabicPeriod"/>
            </a:pPr>
            <a:r>
              <a:rPr lang="en-GB" sz="1050" b="1" dirty="0"/>
              <a:t>Divorced Clients:</a:t>
            </a:r>
            <a:r>
              <a:rPr lang="en-GB" sz="1050" dirty="0"/>
              <a:t> This group's subscription rate is higher than that of single clients but lower than that of married clients, possibly reflecting a focus on rebuilding financial stability post-divorce.</a:t>
            </a:r>
          </a:p>
          <a:p>
            <a:pPr algn="just"/>
            <a:r>
              <a:rPr lang="en-GB" sz="1050" b="1" dirty="0"/>
              <a:t>Actionable Insights</a:t>
            </a:r>
            <a:endParaRPr lang="en-GB" sz="1050" dirty="0"/>
          </a:p>
          <a:p>
            <a:pPr marL="342900" indent="-342900" algn="just">
              <a:buFont typeface="+mj-lt"/>
              <a:buAutoNum type="arabicPeriod"/>
            </a:pPr>
            <a:r>
              <a:rPr lang="en-GB" sz="1050" b="1" dirty="0"/>
              <a:t>Focus on Married Clients:</a:t>
            </a:r>
            <a:r>
              <a:rPr lang="en-GB" sz="1050" dirty="0"/>
              <a:t> Create marketing strategies that emphasise financial stability and family security for married clients. Highlight benefits such as joint account advantages, long-term growth, and financial planning for children’s education.</a:t>
            </a:r>
          </a:p>
          <a:p>
            <a:pPr marL="342900" indent="-342900" algn="just">
              <a:buFont typeface="+mj-lt"/>
              <a:buAutoNum type="arabicPeriod"/>
            </a:pPr>
            <a:r>
              <a:rPr lang="en-GB" sz="1050" b="1" dirty="0"/>
              <a:t>Engage Single Clients:</a:t>
            </a:r>
            <a:r>
              <a:rPr lang="en-GB" sz="1050" dirty="0"/>
              <a:t> Develop targeted messaging for single clients that underscores the importance of individual financial independence and future planning. To capture their interest, offer attractive short-term deposit options or higher interest rates.</a:t>
            </a:r>
          </a:p>
          <a:p>
            <a:pPr marL="342900" indent="-342900" algn="just">
              <a:buFont typeface="+mj-lt"/>
              <a:buAutoNum type="arabicPeriod"/>
            </a:pPr>
            <a:r>
              <a:rPr lang="en-GB" sz="1050" b="1" dirty="0"/>
              <a:t>Divorced Clients:</a:t>
            </a:r>
            <a:r>
              <a:rPr lang="en-GB" sz="1050" dirty="0"/>
              <a:t> Tailor messages for divorced clients that focus on rebuilding and securing their financial future post-divorce.</a:t>
            </a:r>
          </a:p>
          <a:p>
            <a:pPr algn="just"/>
            <a:endParaRPr lang="en-IN" sz="1050" dirty="0"/>
          </a:p>
        </p:txBody>
      </p:sp>
      <p:sp>
        <p:nvSpPr>
          <p:cNvPr id="11" name="Rectangle 10">
            <a:extLst>
              <a:ext uri="{FF2B5EF4-FFF2-40B4-BE49-F238E27FC236}">
                <a16:creationId xmlns:a16="http://schemas.microsoft.com/office/drawing/2014/main" id="{5B5D3EF4-0120-4246-9434-DF7B13331D00}"/>
              </a:ext>
            </a:extLst>
          </p:cNvPr>
          <p:cNvSpPr/>
          <p:nvPr/>
        </p:nvSpPr>
        <p:spPr>
          <a:xfrm>
            <a:off x="9775824" y="6371350"/>
            <a:ext cx="1984136" cy="432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19593447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E4A4B1-D011-479D-881A-5B80C053A516}"/>
              </a:ext>
            </a:extLst>
          </p:cNvPr>
          <p:cNvSpPr>
            <a:spLocks noGrp="1"/>
          </p:cNvSpPr>
          <p:nvPr>
            <p:ph type="title"/>
          </p:nvPr>
        </p:nvSpPr>
        <p:spPr>
          <a:xfrm>
            <a:off x="432000" y="432000"/>
            <a:ext cx="3932037" cy="1054568"/>
          </a:xfrm>
        </p:spPr>
        <p:txBody>
          <a:bodyPr/>
          <a:lstStyle/>
          <a:p>
            <a:r>
              <a:rPr lang="en-IN" sz="3600" dirty="0"/>
              <a:t>Average Contact Duration by Method</a:t>
            </a:r>
          </a:p>
        </p:txBody>
      </p:sp>
      <p:sp>
        <p:nvSpPr>
          <p:cNvPr id="4" name="Slide Number Placeholder 3">
            <a:extLst>
              <a:ext uri="{FF2B5EF4-FFF2-40B4-BE49-F238E27FC236}">
                <a16:creationId xmlns:a16="http://schemas.microsoft.com/office/drawing/2014/main" id="{93A5BDA4-FD99-431D-A673-3C45EA1281B2}"/>
              </a:ext>
            </a:extLst>
          </p:cNvPr>
          <p:cNvSpPr>
            <a:spLocks noGrp="1"/>
          </p:cNvSpPr>
          <p:nvPr>
            <p:ph type="sldNum" sz="quarter" idx="33"/>
          </p:nvPr>
        </p:nvSpPr>
        <p:spPr/>
        <p:txBody>
          <a:bodyPr/>
          <a:lstStyle/>
          <a:p>
            <a:fld id="{19B51A1E-902D-48AF-9020-955120F399B6}" type="slidenum">
              <a:rPr lang="en-US" noProof="0" smtClean="0"/>
              <a:pPr/>
              <a:t>42</a:t>
            </a:fld>
            <a:endParaRPr lang="en-US" noProof="0" dirty="0"/>
          </a:p>
        </p:txBody>
      </p:sp>
      <p:pic>
        <p:nvPicPr>
          <p:cNvPr id="8" name="Content Placeholder 7">
            <a:extLst>
              <a:ext uri="{FF2B5EF4-FFF2-40B4-BE49-F238E27FC236}">
                <a16:creationId xmlns:a16="http://schemas.microsoft.com/office/drawing/2014/main" id="{B363CEB7-1017-4646-BD6D-B74E76FAA0A5}"/>
              </a:ext>
            </a:extLst>
          </p:cNvPr>
          <p:cNvPicPr>
            <a:picLocks noGrp="1" noChangeAspect="1"/>
          </p:cNvPicPr>
          <p:nvPr>
            <p:ph idx="1"/>
          </p:nvPr>
        </p:nvPicPr>
        <p:blipFill rotWithShape="1">
          <a:blip r:embed="rId2"/>
          <a:srcRect l="6008" r="7690"/>
          <a:stretch/>
        </p:blipFill>
        <p:spPr>
          <a:xfrm>
            <a:off x="4581625" y="606392"/>
            <a:ext cx="7394375" cy="5262595"/>
          </a:xfrm>
          <a:noFill/>
          <a:ln>
            <a:solidFill>
              <a:schemeClr val="bg2">
                <a:lumMod val="75000"/>
              </a:schemeClr>
            </a:solidFill>
          </a:ln>
        </p:spPr>
      </p:pic>
      <p:sp>
        <p:nvSpPr>
          <p:cNvPr id="9" name="Rectangle 8">
            <a:extLst>
              <a:ext uri="{FF2B5EF4-FFF2-40B4-BE49-F238E27FC236}">
                <a16:creationId xmlns:a16="http://schemas.microsoft.com/office/drawing/2014/main" id="{F6F85A4D-8039-4A99-902E-9CAEBF6C7DEB}"/>
              </a:ext>
            </a:extLst>
          </p:cNvPr>
          <p:cNvSpPr/>
          <p:nvPr/>
        </p:nvSpPr>
        <p:spPr>
          <a:xfrm>
            <a:off x="432000" y="1568918"/>
            <a:ext cx="1955065" cy="12512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Rectangle 9">
            <a:extLst>
              <a:ext uri="{FF2B5EF4-FFF2-40B4-BE49-F238E27FC236}">
                <a16:creationId xmlns:a16="http://schemas.microsoft.com/office/drawing/2014/main" id="{DBA99882-9C1E-478F-B7A6-2B27602FAD67}"/>
              </a:ext>
            </a:extLst>
          </p:cNvPr>
          <p:cNvSpPr/>
          <p:nvPr/>
        </p:nvSpPr>
        <p:spPr>
          <a:xfrm>
            <a:off x="430398" y="1849922"/>
            <a:ext cx="2091421" cy="20505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Text Placeholder 5">
            <a:extLst>
              <a:ext uri="{FF2B5EF4-FFF2-40B4-BE49-F238E27FC236}">
                <a16:creationId xmlns:a16="http://schemas.microsoft.com/office/drawing/2014/main" id="{1D9506F6-762F-48C2-80E1-3D9BE378F3F5}"/>
              </a:ext>
            </a:extLst>
          </p:cNvPr>
          <p:cNvSpPr>
            <a:spLocks noGrp="1"/>
          </p:cNvSpPr>
          <p:nvPr>
            <p:ph type="body" sz="half" idx="2"/>
          </p:nvPr>
        </p:nvSpPr>
        <p:spPr>
          <a:xfrm>
            <a:off x="432000" y="1849922"/>
            <a:ext cx="3932237" cy="4019066"/>
          </a:xfrm>
        </p:spPr>
        <p:txBody>
          <a:bodyPr/>
          <a:lstStyle/>
          <a:p>
            <a:pPr algn="just"/>
            <a:r>
              <a:rPr lang="en-GB" sz="1150" b="1" dirty="0"/>
              <a:t>Analysis and Interpretation</a:t>
            </a:r>
            <a:endParaRPr lang="en-GB" sz="1150" dirty="0"/>
          </a:p>
          <a:p>
            <a:pPr marL="342900" indent="-342900" algn="just">
              <a:buFont typeface="+mj-lt"/>
              <a:buAutoNum type="arabicPeriod"/>
            </a:pPr>
            <a:r>
              <a:rPr lang="en-GB" sz="1150" b="1" dirty="0"/>
              <a:t>Cellular Phone Contacts:</a:t>
            </a:r>
            <a:r>
              <a:rPr lang="en-GB" sz="1150" dirty="0"/>
              <a:t> These have longer average durations, suggesting that clients are more engaged or receptive when contacted via mobile phones. This could be due to the convenience and personal nature of cellular communication.</a:t>
            </a:r>
          </a:p>
          <a:p>
            <a:pPr marL="342900" indent="-342900" algn="just">
              <a:buFont typeface="+mj-lt"/>
              <a:buAutoNum type="arabicPeriod"/>
            </a:pPr>
            <a:r>
              <a:rPr lang="en-GB" sz="1150" b="1" dirty="0"/>
              <a:t>Unknown Contact Methods:</a:t>
            </a:r>
            <a:r>
              <a:rPr lang="en-GB" sz="1150" dirty="0"/>
              <a:t> These methods show shorter average durations, indicating less effective engagement. This could be due to less personalised or less effective communication strategies.</a:t>
            </a:r>
          </a:p>
          <a:p>
            <a:pPr algn="just"/>
            <a:r>
              <a:rPr lang="en-GB" sz="1150" b="1" dirty="0"/>
              <a:t>Actionable Insights</a:t>
            </a:r>
            <a:endParaRPr lang="en-GB" sz="1150" dirty="0"/>
          </a:p>
          <a:p>
            <a:pPr marL="342900" indent="-342900" algn="just">
              <a:buFont typeface="+mj-lt"/>
              <a:buAutoNum type="arabicPeriod"/>
            </a:pPr>
            <a:r>
              <a:rPr lang="en-GB" sz="1150" b="1" dirty="0"/>
              <a:t>Optimize Contact Methods:</a:t>
            </a:r>
            <a:r>
              <a:rPr lang="en-GB" sz="1150" dirty="0"/>
              <a:t> Due to their longer engagement times, allocate more resources to cell phone contacts, which could lead to higher conversion rates. Train call centre agents on effective communication techniques specific to cell phone interactions.</a:t>
            </a:r>
          </a:p>
          <a:p>
            <a:pPr marL="342900" indent="-342900" algn="just">
              <a:buFont typeface="+mj-lt"/>
              <a:buAutoNum type="arabicPeriod"/>
            </a:pPr>
            <a:r>
              <a:rPr lang="en-GB" sz="1150" b="1" dirty="0"/>
              <a:t>Evaluate and Improve Unknown Methods:</a:t>
            </a:r>
            <a:r>
              <a:rPr lang="en-GB" sz="1150" dirty="0"/>
              <a:t> Investigate why the "unknown" contact method has shorter durations. Improve training for agents using this method or consider phasing it out if it’s ineffective.</a:t>
            </a:r>
          </a:p>
          <a:p>
            <a:pPr algn="just"/>
            <a:endParaRPr lang="en-IN" sz="1150" dirty="0"/>
          </a:p>
        </p:txBody>
      </p:sp>
      <p:sp>
        <p:nvSpPr>
          <p:cNvPr id="11" name="Rectangle 10">
            <a:extLst>
              <a:ext uri="{FF2B5EF4-FFF2-40B4-BE49-F238E27FC236}">
                <a16:creationId xmlns:a16="http://schemas.microsoft.com/office/drawing/2014/main" id="{5B5D3EF4-0120-4246-9434-DF7B13331D00}"/>
              </a:ext>
            </a:extLst>
          </p:cNvPr>
          <p:cNvSpPr/>
          <p:nvPr/>
        </p:nvSpPr>
        <p:spPr>
          <a:xfrm>
            <a:off x="9775824" y="6371350"/>
            <a:ext cx="1984136" cy="432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186542175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E4A4B1-D011-479D-881A-5B80C053A516}"/>
              </a:ext>
            </a:extLst>
          </p:cNvPr>
          <p:cNvSpPr>
            <a:spLocks noGrp="1"/>
          </p:cNvSpPr>
          <p:nvPr>
            <p:ph type="title"/>
          </p:nvPr>
        </p:nvSpPr>
        <p:spPr>
          <a:xfrm>
            <a:off x="432000" y="432000"/>
            <a:ext cx="3932037" cy="1054568"/>
          </a:xfrm>
        </p:spPr>
        <p:txBody>
          <a:bodyPr/>
          <a:lstStyle/>
          <a:p>
            <a:r>
              <a:rPr lang="en-IN" sz="3600" dirty="0"/>
              <a:t>Subscription Rate by Housing Loans</a:t>
            </a:r>
          </a:p>
        </p:txBody>
      </p:sp>
      <p:sp>
        <p:nvSpPr>
          <p:cNvPr id="4" name="Slide Number Placeholder 3">
            <a:extLst>
              <a:ext uri="{FF2B5EF4-FFF2-40B4-BE49-F238E27FC236}">
                <a16:creationId xmlns:a16="http://schemas.microsoft.com/office/drawing/2014/main" id="{93A5BDA4-FD99-431D-A673-3C45EA1281B2}"/>
              </a:ext>
            </a:extLst>
          </p:cNvPr>
          <p:cNvSpPr>
            <a:spLocks noGrp="1"/>
          </p:cNvSpPr>
          <p:nvPr>
            <p:ph type="sldNum" sz="quarter" idx="33"/>
          </p:nvPr>
        </p:nvSpPr>
        <p:spPr/>
        <p:txBody>
          <a:bodyPr/>
          <a:lstStyle/>
          <a:p>
            <a:fld id="{19B51A1E-902D-48AF-9020-955120F399B6}" type="slidenum">
              <a:rPr lang="en-US" noProof="0" smtClean="0"/>
              <a:pPr/>
              <a:t>43</a:t>
            </a:fld>
            <a:endParaRPr lang="en-US" noProof="0" dirty="0"/>
          </a:p>
        </p:txBody>
      </p:sp>
      <p:pic>
        <p:nvPicPr>
          <p:cNvPr id="8" name="Content Placeholder 7">
            <a:extLst>
              <a:ext uri="{FF2B5EF4-FFF2-40B4-BE49-F238E27FC236}">
                <a16:creationId xmlns:a16="http://schemas.microsoft.com/office/drawing/2014/main" id="{B363CEB7-1017-4646-BD6D-B74E76FAA0A5}"/>
              </a:ext>
            </a:extLst>
          </p:cNvPr>
          <p:cNvPicPr>
            <a:picLocks noGrp="1" noChangeAspect="1"/>
          </p:cNvPicPr>
          <p:nvPr>
            <p:ph idx="1"/>
          </p:nvPr>
        </p:nvPicPr>
        <p:blipFill rotWithShape="1">
          <a:blip r:embed="rId2"/>
          <a:srcRect l="4979" r="8354"/>
          <a:stretch/>
        </p:blipFill>
        <p:spPr>
          <a:xfrm>
            <a:off x="4774131" y="606392"/>
            <a:ext cx="7201869" cy="5262595"/>
          </a:xfrm>
          <a:noFill/>
          <a:ln>
            <a:solidFill>
              <a:schemeClr val="bg2">
                <a:lumMod val="75000"/>
              </a:schemeClr>
            </a:solidFill>
          </a:ln>
        </p:spPr>
      </p:pic>
      <p:sp>
        <p:nvSpPr>
          <p:cNvPr id="9" name="Rectangle 8">
            <a:extLst>
              <a:ext uri="{FF2B5EF4-FFF2-40B4-BE49-F238E27FC236}">
                <a16:creationId xmlns:a16="http://schemas.microsoft.com/office/drawing/2014/main" id="{F6F85A4D-8039-4A99-902E-9CAEBF6C7DEB}"/>
              </a:ext>
            </a:extLst>
          </p:cNvPr>
          <p:cNvSpPr/>
          <p:nvPr/>
        </p:nvSpPr>
        <p:spPr>
          <a:xfrm>
            <a:off x="432000" y="1568918"/>
            <a:ext cx="1955065" cy="12512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Rectangle 9">
            <a:extLst>
              <a:ext uri="{FF2B5EF4-FFF2-40B4-BE49-F238E27FC236}">
                <a16:creationId xmlns:a16="http://schemas.microsoft.com/office/drawing/2014/main" id="{DBA99882-9C1E-478F-B7A6-2B27602FAD67}"/>
              </a:ext>
            </a:extLst>
          </p:cNvPr>
          <p:cNvSpPr/>
          <p:nvPr/>
        </p:nvSpPr>
        <p:spPr>
          <a:xfrm>
            <a:off x="430398" y="1849922"/>
            <a:ext cx="2091421" cy="20505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Text Placeholder 5">
            <a:extLst>
              <a:ext uri="{FF2B5EF4-FFF2-40B4-BE49-F238E27FC236}">
                <a16:creationId xmlns:a16="http://schemas.microsoft.com/office/drawing/2014/main" id="{1D9506F6-762F-48C2-80E1-3D9BE378F3F5}"/>
              </a:ext>
            </a:extLst>
          </p:cNvPr>
          <p:cNvSpPr>
            <a:spLocks noGrp="1"/>
          </p:cNvSpPr>
          <p:nvPr>
            <p:ph type="body" sz="half" idx="2"/>
          </p:nvPr>
        </p:nvSpPr>
        <p:spPr>
          <a:xfrm>
            <a:off x="432000" y="1849922"/>
            <a:ext cx="4062998" cy="4019066"/>
          </a:xfrm>
        </p:spPr>
        <p:txBody>
          <a:bodyPr/>
          <a:lstStyle/>
          <a:p>
            <a:pPr algn="just"/>
            <a:r>
              <a:rPr lang="en-GB" sz="1170" b="1" dirty="0"/>
              <a:t>Analysis and Interpretation</a:t>
            </a:r>
            <a:endParaRPr lang="en-GB" sz="1170" dirty="0"/>
          </a:p>
          <a:p>
            <a:pPr marL="342900" indent="-342900" algn="just">
              <a:buFont typeface="+mj-lt"/>
              <a:buAutoNum type="arabicPeriod"/>
            </a:pPr>
            <a:r>
              <a:rPr lang="en-GB" sz="1170" b="1" dirty="0"/>
              <a:t>Clients Without Housing Loans:</a:t>
            </a:r>
            <a:r>
              <a:rPr lang="en-GB" sz="1170" dirty="0"/>
              <a:t> These clients show higher subscription rates, possibly because they have more disposable income and fewer financial obligations, making them more likely to invest in term deposits.</a:t>
            </a:r>
          </a:p>
          <a:p>
            <a:pPr marL="342900" indent="-342900" algn="just">
              <a:buFont typeface="+mj-lt"/>
              <a:buAutoNum type="arabicPeriod"/>
            </a:pPr>
            <a:r>
              <a:rPr lang="en-GB" sz="1170" b="1" dirty="0"/>
              <a:t>Clients With Housing Loans:</a:t>
            </a:r>
            <a:r>
              <a:rPr lang="en-GB" sz="1170" dirty="0"/>
              <a:t> These clients are less likely to subscribe, likely due to their existing financial commitments and a focus on repaying their housing loans.</a:t>
            </a:r>
          </a:p>
          <a:p>
            <a:pPr algn="just"/>
            <a:r>
              <a:rPr lang="en-GB" sz="1170" b="1" dirty="0"/>
              <a:t>Actionable Insights</a:t>
            </a:r>
            <a:endParaRPr lang="en-GB" sz="1170" dirty="0"/>
          </a:p>
          <a:p>
            <a:pPr marL="342900" indent="-342900" algn="just">
              <a:buFont typeface="+mj-lt"/>
              <a:buAutoNum type="arabicPeriod"/>
            </a:pPr>
            <a:r>
              <a:rPr lang="en-GB" sz="1170" b="1" dirty="0"/>
              <a:t>Target Clients Without Housing Loans:</a:t>
            </a:r>
            <a:r>
              <a:rPr lang="en-GB" sz="1170" dirty="0"/>
              <a:t> Focus marketing efforts on clients without housing loans, highlighting the additional financial flexibility they have to invest in term deposits. Emphasise benefits such as saving for future home purchases or other large investments.</a:t>
            </a:r>
          </a:p>
          <a:p>
            <a:pPr marL="342900" indent="-342900" algn="just">
              <a:buFont typeface="+mj-lt"/>
              <a:buAutoNum type="arabicPeriod"/>
            </a:pPr>
            <a:r>
              <a:rPr lang="en-GB" sz="1170" b="1" dirty="0"/>
              <a:t>Address Housing Loan Concerns:</a:t>
            </a:r>
            <a:r>
              <a:rPr lang="en-GB" sz="1170" dirty="0"/>
              <a:t> Develop offers and messaging that address clients’ financial constraints with housing loans. Highlight how term deposits can be a secure way to grow savings while paying off a loan, possibly offering higher interest rates or flexible deposit terms.</a:t>
            </a:r>
          </a:p>
          <a:p>
            <a:pPr algn="just"/>
            <a:endParaRPr lang="en-IN" sz="1170" dirty="0"/>
          </a:p>
        </p:txBody>
      </p:sp>
      <p:sp>
        <p:nvSpPr>
          <p:cNvPr id="11" name="Rectangle 10">
            <a:extLst>
              <a:ext uri="{FF2B5EF4-FFF2-40B4-BE49-F238E27FC236}">
                <a16:creationId xmlns:a16="http://schemas.microsoft.com/office/drawing/2014/main" id="{5B5D3EF4-0120-4246-9434-DF7B13331D00}"/>
              </a:ext>
            </a:extLst>
          </p:cNvPr>
          <p:cNvSpPr/>
          <p:nvPr/>
        </p:nvSpPr>
        <p:spPr>
          <a:xfrm>
            <a:off x="9775824" y="6371350"/>
            <a:ext cx="1984136" cy="432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24349264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E4A4B1-D011-479D-881A-5B80C053A516}"/>
              </a:ext>
            </a:extLst>
          </p:cNvPr>
          <p:cNvSpPr>
            <a:spLocks noGrp="1"/>
          </p:cNvSpPr>
          <p:nvPr>
            <p:ph type="title"/>
          </p:nvPr>
        </p:nvSpPr>
        <p:spPr>
          <a:xfrm>
            <a:off x="432000" y="432000"/>
            <a:ext cx="3932037" cy="1054568"/>
          </a:xfrm>
        </p:spPr>
        <p:txBody>
          <a:bodyPr/>
          <a:lstStyle/>
          <a:p>
            <a:r>
              <a:rPr lang="en-IN" sz="3600" dirty="0"/>
              <a:t>Subscription Rate by Personal Loans</a:t>
            </a:r>
          </a:p>
        </p:txBody>
      </p:sp>
      <p:sp>
        <p:nvSpPr>
          <p:cNvPr id="4" name="Slide Number Placeholder 3">
            <a:extLst>
              <a:ext uri="{FF2B5EF4-FFF2-40B4-BE49-F238E27FC236}">
                <a16:creationId xmlns:a16="http://schemas.microsoft.com/office/drawing/2014/main" id="{93A5BDA4-FD99-431D-A673-3C45EA1281B2}"/>
              </a:ext>
            </a:extLst>
          </p:cNvPr>
          <p:cNvSpPr>
            <a:spLocks noGrp="1"/>
          </p:cNvSpPr>
          <p:nvPr>
            <p:ph type="sldNum" sz="quarter" idx="33"/>
          </p:nvPr>
        </p:nvSpPr>
        <p:spPr/>
        <p:txBody>
          <a:bodyPr/>
          <a:lstStyle/>
          <a:p>
            <a:fld id="{19B51A1E-902D-48AF-9020-955120F399B6}" type="slidenum">
              <a:rPr lang="en-US" noProof="0" smtClean="0"/>
              <a:pPr/>
              <a:t>44</a:t>
            </a:fld>
            <a:endParaRPr lang="en-US" noProof="0" dirty="0"/>
          </a:p>
        </p:txBody>
      </p:sp>
      <p:pic>
        <p:nvPicPr>
          <p:cNvPr id="8" name="Content Placeholder 7">
            <a:extLst>
              <a:ext uri="{FF2B5EF4-FFF2-40B4-BE49-F238E27FC236}">
                <a16:creationId xmlns:a16="http://schemas.microsoft.com/office/drawing/2014/main" id="{B363CEB7-1017-4646-BD6D-B74E76FAA0A5}"/>
              </a:ext>
            </a:extLst>
          </p:cNvPr>
          <p:cNvPicPr>
            <a:picLocks noGrp="1" noChangeAspect="1"/>
          </p:cNvPicPr>
          <p:nvPr>
            <p:ph idx="1"/>
          </p:nvPr>
        </p:nvPicPr>
        <p:blipFill rotWithShape="1">
          <a:blip r:embed="rId2"/>
          <a:srcRect l="4979" r="8354"/>
          <a:stretch/>
        </p:blipFill>
        <p:spPr>
          <a:xfrm>
            <a:off x="4581625" y="606392"/>
            <a:ext cx="7394375" cy="5262595"/>
          </a:xfrm>
          <a:noFill/>
          <a:ln>
            <a:solidFill>
              <a:schemeClr val="bg2">
                <a:lumMod val="75000"/>
              </a:schemeClr>
            </a:solidFill>
          </a:ln>
        </p:spPr>
      </p:pic>
      <p:sp>
        <p:nvSpPr>
          <p:cNvPr id="9" name="Rectangle 8">
            <a:extLst>
              <a:ext uri="{FF2B5EF4-FFF2-40B4-BE49-F238E27FC236}">
                <a16:creationId xmlns:a16="http://schemas.microsoft.com/office/drawing/2014/main" id="{F6F85A4D-8039-4A99-902E-9CAEBF6C7DEB}"/>
              </a:ext>
            </a:extLst>
          </p:cNvPr>
          <p:cNvSpPr/>
          <p:nvPr/>
        </p:nvSpPr>
        <p:spPr>
          <a:xfrm>
            <a:off x="432000" y="1568918"/>
            <a:ext cx="1955065" cy="12512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Rectangle 9">
            <a:extLst>
              <a:ext uri="{FF2B5EF4-FFF2-40B4-BE49-F238E27FC236}">
                <a16:creationId xmlns:a16="http://schemas.microsoft.com/office/drawing/2014/main" id="{DBA99882-9C1E-478F-B7A6-2B27602FAD67}"/>
              </a:ext>
            </a:extLst>
          </p:cNvPr>
          <p:cNvSpPr/>
          <p:nvPr/>
        </p:nvSpPr>
        <p:spPr>
          <a:xfrm>
            <a:off x="430398" y="1849922"/>
            <a:ext cx="2091421" cy="20505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Text Placeholder 5">
            <a:extLst>
              <a:ext uri="{FF2B5EF4-FFF2-40B4-BE49-F238E27FC236}">
                <a16:creationId xmlns:a16="http://schemas.microsoft.com/office/drawing/2014/main" id="{1D9506F6-762F-48C2-80E1-3D9BE378F3F5}"/>
              </a:ext>
            </a:extLst>
          </p:cNvPr>
          <p:cNvSpPr>
            <a:spLocks noGrp="1"/>
          </p:cNvSpPr>
          <p:nvPr>
            <p:ph type="body" sz="half" idx="2"/>
          </p:nvPr>
        </p:nvSpPr>
        <p:spPr>
          <a:xfrm>
            <a:off x="432000" y="1849922"/>
            <a:ext cx="3932237" cy="4019066"/>
          </a:xfrm>
        </p:spPr>
        <p:txBody>
          <a:bodyPr/>
          <a:lstStyle/>
          <a:p>
            <a:pPr algn="just"/>
            <a:r>
              <a:rPr lang="en-GB" sz="1180" b="1" dirty="0"/>
              <a:t>Analysis and Interpretation</a:t>
            </a:r>
            <a:endParaRPr lang="en-GB" sz="1180" dirty="0"/>
          </a:p>
          <a:p>
            <a:pPr marL="342900" indent="-342900" algn="just">
              <a:buFont typeface="+mj-lt"/>
              <a:buAutoNum type="arabicPeriod"/>
            </a:pPr>
            <a:r>
              <a:rPr lang="en-GB" sz="1180" b="1" dirty="0"/>
              <a:t>Clients Without Personal Loans:</a:t>
            </a:r>
            <a:r>
              <a:rPr lang="en-GB" sz="1180" dirty="0"/>
              <a:t> This group has higher subscription rates, indicating they have more disposable income, are potentially more financially stable, and are able to consider additional investments like term deposits.</a:t>
            </a:r>
          </a:p>
          <a:p>
            <a:pPr marL="342900" indent="-342900" algn="just">
              <a:buFont typeface="+mj-lt"/>
              <a:buAutoNum type="arabicPeriod"/>
            </a:pPr>
            <a:r>
              <a:rPr lang="en-GB" sz="1180" b="1" dirty="0"/>
              <a:t>Clients With Personal Loans:</a:t>
            </a:r>
            <a:r>
              <a:rPr lang="en-GB" sz="1180" dirty="0"/>
              <a:t> These clients have lower subscription rates, likely due to existing debt obligations and a focus on repaying their personal loans.</a:t>
            </a:r>
          </a:p>
          <a:p>
            <a:pPr algn="just"/>
            <a:r>
              <a:rPr lang="en-GB" sz="1180" b="1" dirty="0"/>
              <a:t>Actionable Insights:</a:t>
            </a:r>
            <a:endParaRPr lang="en-GB" sz="1180" dirty="0"/>
          </a:p>
          <a:p>
            <a:pPr marL="342900" indent="-342900" algn="just">
              <a:buFont typeface="+mj-lt"/>
              <a:buAutoNum type="arabicPeriod"/>
            </a:pPr>
            <a:r>
              <a:rPr lang="en-GB" sz="1180" b="1" dirty="0"/>
              <a:t>Focus on Clients Without Personal Loans:</a:t>
            </a:r>
            <a:r>
              <a:rPr lang="en-GB" sz="1180" dirty="0"/>
              <a:t> Develop marketing strategies targeting clients without personal loans, emphasising their financial freedom to invest in term deposits. Highlight benefits such as high returns and low risk.</a:t>
            </a:r>
          </a:p>
          <a:p>
            <a:pPr marL="342900" indent="-342900" algn="just">
              <a:buFont typeface="+mj-lt"/>
              <a:buAutoNum type="arabicPeriod"/>
            </a:pPr>
            <a:r>
              <a:rPr lang="en-GB" sz="1180" b="1" dirty="0"/>
              <a:t>Mitigate Personal Loan Impact:</a:t>
            </a:r>
            <a:r>
              <a:rPr lang="en-GB" sz="1180" dirty="0"/>
              <a:t> Create messaging that alleviates financial concerns for clients with personal loans. Offer special incentives such as higher interest rates or flexible deposit terms to help them see term deposits as a viable option despite their loan obligations.</a:t>
            </a:r>
          </a:p>
          <a:p>
            <a:pPr algn="just"/>
            <a:endParaRPr lang="en-IN" sz="1180" dirty="0"/>
          </a:p>
        </p:txBody>
      </p:sp>
      <p:sp>
        <p:nvSpPr>
          <p:cNvPr id="11" name="Rectangle 10">
            <a:extLst>
              <a:ext uri="{FF2B5EF4-FFF2-40B4-BE49-F238E27FC236}">
                <a16:creationId xmlns:a16="http://schemas.microsoft.com/office/drawing/2014/main" id="{5B5D3EF4-0120-4246-9434-DF7B13331D00}"/>
              </a:ext>
            </a:extLst>
          </p:cNvPr>
          <p:cNvSpPr/>
          <p:nvPr/>
        </p:nvSpPr>
        <p:spPr>
          <a:xfrm>
            <a:off x="9775824" y="6371350"/>
            <a:ext cx="1984136" cy="432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44736793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Placeholder 10" descr="Desk with computer, phone, books, etc.">
            <a:extLst>
              <a:ext uri="{FF2B5EF4-FFF2-40B4-BE49-F238E27FC236}">
                <a16:creationId xmlns:a16="http://schemas.microsoft.com/office/drawing/2014/main" id="{2E7ADBC3-DECA-9F4C-9289-9E43C727592F}"/>
              </a:ext>
            </a:extLst>
          </p:cNvPr>
          <p:cNvPicPr>
            <a:picLocks noGrp="1" noChangeAspect="1"/>
          </p:cNvPicPr>
          <p:nvPr>
            <p:ph type="pic" sz="quarter" idx="10"/>
          </p:nvPr>
        </p:nvPicPr>
        <p:blipFill>
          <a:blip r:embed="rId2" cstate="screen">
            <a:extLst>
              <a:ext uri="{28A0092B-C50C-407E-A947-70E740481C1C}">
                <a14:useLocalDpi xmlns:a14="http://schemas.microsoft.com/office/drawing/2010/main"/>
              </a:ext>
            </a:extLst>
          </a:blip>
          <a:srcRect/>
          <a:stretch>
            <a:fillRect/>
          </a:stretch>
        </p:blipFill>
        <p:spPr/>
      </p:pic>
      <p:sp>
        <p:nvSpPr>
          <p:cNvPr id="3" name="Title 2">
            <a:extLst>
              <a:ext uri="{FF2B5EF4-FFF2-40B4-BE49-F238E27FC236}">
                <a16:creationId xmlns:a16="http://schemas.microsoft.com/office/drawing/2014/main" id="{200B3D2B-613A-41BE-987D-E6A1324B456D}"/>
              </a:ext>
            </a:extLst>
          </p:cNvPr>
          <p:cNvSpPr>
            <a:spLocks noGrp="1"/>
          </p:cNvSpPr>
          <p:nvPr>
            <p:ph type="ctrTitle"/>
          </p:nvPr>
        </p:nvSpPr>
        <p:spPr/>
        <p:txBody>
          <a:bodyPr/>
          <a:lstStyle/>
          <a:p>
            <a:r>
              <a:rPr lang="en-US" sz="5400" dirty="0"/>
              <a:t>Summary and Conclusion</a:t>
            </a:r>
          </a:p>
        </p:txBody>
      </p:sp>
      <p:sp>
        <p:nvSpPr>
          <p:cNvPr id="14" name="Text Placeholder 13">
            <a:extLst>
              <a:ext uri="{FF2B5EF4-FFF2-40B4-BE49-F238E27FC236}">
                <a16:creationId xmlns:a16="http://schemas.microsoft.com/office/drawing/2014/main" id="{F278402B-CA7D-4F5B-B3FA-ED74AB3CFB6C}"/>
              </a:ext>
            </a:extLst>
          </p:cNvPr>
          <p:cNvSpPr>
            <a:spLocks noGrp="1"/>
          </p:cNvSpPr>
          <p:nvPr>
            <p:ph type="body" sz="quarter" idx="13"/>
          </p:nvPr>
        </p:nvSpPr>
        <p:spPr/>
        <p:txBody>
          <a:bodyPr/>
          <a:lstStyle/>
          <a:p>
            <a:r>
              <a:rPr lang="en-US" dirty="0"/>
              <a:t>Overview of All the Observations Obtained and Final Conclusion</a:t>
            </a:r>
          </a:p>
        </p:txBody>
      </p:sp>
      <p:sp>
        <p:nvSpPr>
          <p:cNvPr id="5" name="Slide Number Placeholder 4">
            <a:extLst>
              <a:ext uri="{FF2B5EF4-FFF2-40B4-BE49-F238E27FC236}">
                <a16:creationId xmlns:a16="http://schemas.microsoft.com/office/drawing/2014/main" id="{BDD5A594-D852-43BB-B591-E9D9027253BD}"/>
              </a:ext>
            </a:extLst>
          </p:cNvPr>
          <p:cNvSpPr>
            <a:spLocks noGrp="1"/>
          </p:cNvSpPr>
          <p:nvPr>
            <p:ph type="sldNum" sz="quarter" idx="12"/>
          </p:nvPr>
        </p:nvSpPr>
        <p:spPr>
          <a:solidFill>
            <a:schemeClr val="tx1">
              <a:lumMod val="95000"/>
              <a:lumOff val="5000"/>
            </a:schemeClr>
          </a:solidFill>
        </p:spPr>
        <p:txBody>
          <a:bodyPr/>
          <a:lstStyle/>
          <a:p>
            <a:fld id="{19B51A1E-902D-48AF-9020-955120F399B6}" type="slidenum">
              <a:rPr lang="en-US" smtClean="0"/>
              <a:pPr/>
              <a:t>45</a:t>
            </a:fld>
            <a:endParaRPr lang="en-US" dirty="0"/>
          </a:p>
        </p:txBody>
      </p:sp>
      <p:sp>
        <p:nvSpPr>
          <p:cNvPr id="6" name="Rectangle 5">
            <a:extLst>
              <a:ext uri="{FF2B5EF4-FFF2-40B4-BE49-F238E27FC236}">
                <a16:creationId xmlns:a16="http://schemas.microsoft.com/office/drawing/2014/main" id="{B6F72168-50E2-48A8-8A5C-83A912118E7A}"/>
              </a:ext>
            </a:extLst>
          </p:cNvPr>
          <p:cNvSpPr/>
          <p:nvPr/>
        </p:nvSpPr>
        <p:spPr>
          <a:xfrm>
            <a:off x="9775824" y="6371350"/>
            <a:ext cx="1984136" cy="432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385488693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7441B0-786B-4C17-97E3-898158C23428}"/>
              </a:ext>
            </a:extLst>
          </p:cNvPr>
          <p:cNvSpPr>
            <a:spLocks noGrp="1"/>
          </p:cNvSpPr>
          <p:nvPr>
            <p:ph type="title"/>
          </p:nvPr>
        </p:nvSpPr>
        <p:spPr/>
        <p:txBody>
          <a:bodyPr/>
          <a:lstStyle/>
          <a:p>
            <a:r>
              <a:rPr lang="en-IN" dirty="0"/>
              <a:t>Summary and Conclusion</a:t>
            </a:r>
          </a:p>
        </p:txBody>
      </p:sp>
      <p:sp>
        <p:nvSpPr>
          <p:cNvPr id="3" name="Content Placeholder 2">
            <a:extLst>
              <a:ext uri="{FF2B5EF4-FFF2-40B4-BE49-F238E27FC236}">
                <a16:creationId xmlns:a16="http://schemas.microsoft.com/office/drawing/2014/main" id="{C172B9BF-407C-4314-8BBF-4E4E2DAFF53B}"/>
              </a:ext>
            </a:extLst>
          </p:cNvPr>
          <p:cNvSpPr>
            <a:spLocks noGrp="1"/>
          </p:cNvSpPr>
          <p:nvPr>
            <p:ph idx="1"/>
          </p:nvPr>
        </p:nvSpPr>
        <p:spPr>
          <a:xfrm>
            <a:off x="432000" y="1008000"/>
            <a:ext cx="10194291" cy="5183250"/>
          </a:xfrm>
        </p:spPr>
        <p:txBody>
          <a:bodyPr/>
          <a:lstStyle/>
          <a:p>
            <a:pPr marL="0" indent="0" algn="just">
              <a:lnSpc>
                <a:spcPct val="100000"/>
              </a:lnSpc>
              <a:buNone/>
            </a:pPr>
            <a:r>
              <a:rPr lang="en-GB" sz="1600" dirty="0"/>
              <a:t>This project aimed to predict whether a client would subscribe to a term deposit based on data from a Portuguese banking institution's direct marketing campaigns. The goal was to optimise marketing strategies and improve conversion rates by analysing various client attributes and campaign details. Key findings include that the </a:t>
            </a:r>
            <a:r>
              <a:rPr lang="en-GB" sz="1600" b="1" dirty="0"/>
              <a:t>average age</a:t>
            </a:r>
            <a:r>
              <a:rPr lang="en-GB" sz="1600" dirty="0"/>
              <a:t> of clients is </a:t>
            </a:r>
            <a:r>
              <a:rPr lang="en-GB" sz="1600" b="1" dirty="0"/>
              <a:t>40 years</a:t>
            </a:r>
            <a:r>
              <a:rPr lang="en-GB" sz="1600" dirty="0"/>
              <a:t>, with a significant portion being older than </a:t>
            </a:r>
            <a:r>
              <a:rPr lang="en-GB" sz="1600" b="1" dirty="0"/>
              <a:t>55</a:t>
            </a:r>
            <a:r>
              <a:rPr lang="en-GB" sz="1600" dirty="0"/>
              <a:t>. Additionally, the </a:t>
            </a:r>
            <a:r>
              <a:rPr lang="en-GB" sz="1600" b="1" dirty="0"/>
              <a:t>average balance</a:t>
            </a:r>
            <a:r>
              <a:rPr lang="en-GB" sz="1600" dirty="0"/>
              <a:t> of clients is relatively low, with a wide range of values, indicating financial diversity among the client base. Furthermore, the </a:t>
            </a:r>
            <a:r>
              <a:rPr lang="en-GB" sz="1600" b="1" dirty="0"/>
              <a:t>average duration of contact</a:t>
            </a:r>
            <a:r>
              <a:rPr lang="en-GB" sz="1600" dirty="0"/>
              <a:t> is within industry standards, though some calls are excessively long, and the term deposit subscription rate is </a:t>
            </a:r>
            <a:r>
              <a:rPr lang="en-GB" sz="1600" b="1" dirty="0"/>
              <a:t>11.71%</a:t>
            </a:r>
            <a:r>
              <a:rPr lang="en-GB" sz="1600" dirty="0"/>
              <a:t>, which aligns with industry expectations but indicates room for improvement.</a:t>
            </a:r>
          </a:p>
          <a:p>
            <a:pPr marL="0" indent="0" algn="just">
              <a:lnSpc>
                <a:spcPct val="100000"/>
              </a:lnSpc>
              <a:buNone/>
            </a:pPr>
            <a:r>
              <a:rPr lang="en-GB" sz="1600" dirty="0"/>
              <a:t>To improve campaign effectiveness, </a:t>
            </a:r>
            <a:r>
              <a:rPr lang="en-GB" sz="1600" b="1" dirty="0"/>
              <a:t>targeted marketing</a:t>
            </a:r>
            <a:r>
              <a:rPr lang="en-GB" sz="1600" dirty="0"/>
              <a:t> for older clients (</a:t>
            </a:r>
            <a:r>
              <a:rPr lang="en-GB" sz="1600" b="1" dirty="0"/>
              <a:t>55+</a:t>
            </a:r>
            <a:r>
              <a:rPr lang="en-GB" sz="1600" dirty="0"/>
              <a:t>) should be developed, enhancing their digital literacy and engagement to yield better conversion rates. Additionally, offering </a:t>
            </a:r>
            <a:r>
              <a:rPr lang="en-GB" sz="1600" b="1" dirty="0"/>
              <a:t>personalised financial advisory services</a:t>
            </a:r>
            <a:r>
              <a:rPr lang="en-GB" sz="1600" dirty="0"/>
              <a:t> to clients with high balances can help retain them, while assisting clients with negative balances can improve their financial health. </a:t>
            </a:r>
            <a:r>
              <a:rPr lang="en-GB" sz="1600" b="1" dirty="0"/>
              <a:t>Optimising contact strategies</a:t>
            </a:r>
            <a:r>
              <a:rPr lang="en-GB" sz="1600" dirty="0"/>
              <a:t> by analysing the effectiveness of call durations and the optimal number of contacts can prevent client fatigue while maximising conversions. Designing </a:t>
            </a:r>
            <a:r>
              <a:rPr lang="en-GB" sz="1600" b="1" dirty="0"/>
              <a:t>specialised financial products and marketing campaigns</a:t>
            </a:r>
            <a:r>
              <a:rPr lang="en-GB" sz="1600" dirty="0"/>
              <a:t> tailored to different client segments based on marital status, job type, and education level will address their specific needs and improve engagement.</a:t>
            </a:r>
          </a:p>
          <a:p>
            <a:pPr marL="0" indent="0" algn="just">
              <a:lnSpc>
                <a:spcPct val="100000"/>
              </a:lnSpc>
              <a:buNone/>
            </a:pPr>
            <a:r>
              <a:rPr lang="en-GB" sz="1600" b="1" dirty="0"/>
              <a:t>Improving data quality</a:t>
            </a:r>
            <a:r>
              <a:rPr lang="en-GB" sz="1600" dirty="0"/>
              <a:t> by investigating and updating unknown or missing client information (e.g., job types and contact types) will enhance segmentation and targeting accuracy. Learning from past campaigns by analysing successful strategies and replicating effective approaches can improve the current campaign's performance. By implementing these insights and recommendations, the bank can enhance its </a:t>
            </a:r>
            <a:r>
              <a:rPr lang="en-GB" sz="1600" b="1" dirty="0"/>
              <a:t>marketing efficiency</a:t>
            </a:r>
            <a:r>
              <a:rPr lang="en-GB" sz="1600" dirty="0"/>
              <a:t>, improve client </a:t>
            </a:r>
            <a:r>
              <a:rPr lang="en-GB" sz="1600" b="1" dirty="0"/>
              <a:t>conversion rates</a:t>
            </a:r>
            <a:r>
              <a:rPr lang="en-GB" sz="1600" dirty="0"/>
              <a:t> for term deposits, and achieve better overall campaign outcomes.</a:t>
            </a:r>
          </a:p>
        </p:txBody>
      </p:sp>
      <p:sp>
        <p:nvSpPr>
          <p:cNvPr id="5" name="Slide Number Placeholder 4">
            <a:extLst>
              <a:ext uri="{FF2B5EF4-FFF2-40B4-BE49-F238E27FC236}">
                <a16:creationId xmlns:a16="http://schemas.microsoft.com/office/drawing/2014/main" id="{1954F7A8-4ECB-465F-A826-B78E27084A3B}"/>
              </a:ext>
            </a:extLst>
          </p:cNvPr>
          <p:cNvSpPr>
            <a:spLocks noGrp="1"/>
          </p:cNvSpPr>
          <p:nvPr>
            <p:ph type="sldNum" sz="quarter" idx="33"/>
          </p:nvPr>
        </p:nvSpPr>
        <p:spPr/>
        <p:txBody>
          <a:bodyPr/>
          <a:lstStyle/>
          <a:p>
            <a:fld id="{19B51A1E-902D-48AF-9020-955120F399B6}" type="slidenum">
              <a:rPr lang="en-US" noProof="0" smtClean="0"/>
              <a:pPr/>
              <a:t>46</a:t>
            </a:fld>
            <a:endParaRPr lang="en-US" noProof="0" dirty="0"/>
          </a:p>
        </p:txBody>
      </p:sp>
      <p:sp>
        <p:nvSpPr>
          <p:cNvPr id="6" name="Rectangle 5">
            <a:extLst>
              <a:ext uri="{FF2B5EF4-FFF2-40B4-BE49-F238E27FC236}">
                <a16:creationId xmlns:a16="http://schemas.microsoft.com/office/drawing/2014/main" id="{A7111E82-0313-47F9-8A37-5FCA7B7254BB}"/>
              </a:ext>
            </a:extLst>
          </p:cNvPr>
          <p:cNvSpPr/>
          <p:nvPr/>
        </p:nvSpPr>
        <p:spPr>
          <a:xfrm>
            <a:off x="9775824" y="6371350"/>
            <a:ext cx="1984136" cy="432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165859799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2" name="Picture Placeholder 31" descr="hand clapping">
            <a:extLst>
              <a:ext uri="{FF2B5EF4-FFF2-40B4-BE49-F238E27FC236}">
                <a16:creationId xmlns:a16="http://schemas.microsoft.com/office/drawing/2014/main" id="{AAB6EE12-FEF8-FB41-A909-0DA61D7725C7}"/>
              </a:ext>
            </a:extLst>
          </p:cNvPr>
          <p:cNvPicPr>
            <a:picLocks noGrp="1" noChangeAspect="1"/>
          </p:cNvPicPr>
          <p:nvPr>
            <p:ph type="pic" sz="quarter" idx="10"/>
          </p:nvPr>
        </p:nvPicPr>
        <p:blipFill>
          <a:blip r:embed="rId2" cstate="screen">
            <a:extLst>
              <a:ext uri="{28A0092B-C50C-407E-A947-70E740481C1C}">
                <a14:useLocalDpi xmlns:a14="http://schemas.microsoft.com/office/drawing/2010/main"/>
              </a:ext>
            </a:extLst>
          </a:blip>
          <a:srcRect/>
          <a:stretch>
            <a:fillRect/>
          </a:stretch>
        </p:blipFill>
        <p:spPr/>
      </p:pic>
      <p:sp>
        <p:nvSpPr>
          <p:cNvPr id="14" name="Title 13">
            <a:extLst>
              <a:ext uri="{FF2B5EF4-FFF2-40B4-BE49-F238E27FC236}">
                <a16:creationId xmlns:a16="http://schemas.microsoft.com/office/drawing/2014/main" id="{6C38D7A9-9299-4108-BB08-026F4B9CAE7B}"/>
              </a:ext>
            </a:extLst>
          </p:cNvPr>
          <p:cNvSpPr>
            <a:spLocks noGrp="1"/>
          </p:cNvSpPr>
          <p:nvPr>
            <p:ph type="ctrTitle"/>
          </p:nvPr>
        </p:nvSpPr>
        <p:spPr/>
        <p:txBody>
          <a:bodyPr/>
          <a:lstStyle/>
          <a:p>
            <a:r>
              <a:rPr lang="en-US" dirty="0"/>
              <a:t>Thank You</a:t>
            </a:r>
          </a:p>
        </p:txBody>
      </p:sp>
      <p:sp>
        <p:nvSpPr>
          <p:cNvPr id="4" name="Text Placeholder 3">
            <a:extLst>
              <a:ext uri="{FF2B5EF4-FFF2-40B4-BE49-F238E27FC236}">
                <a16:creationId xmlns:a16="http://schemas.microsoft.com/office/drawing/2014/main" id="{60828E04-9C2A-4859-8050-C2DF67A249CB}"/>
              </a:ext>
            </a:extLst>
          </p:cNvPr>
          <p:cNvSpPr>
            <a:spLocks noGrp="1"/>
          </p:cNvSpPr>
          <p:nvPr>
            <p:ph type="body" sz="quarter" idx="15"/>
          </p:nvPr>
        </p:nvSpPr>
        <p:spPr>
          <a:solidFill>
            <a:schemeClr val="tx1">
              <a:lumMod val="75000"/>
              <a:lumOff val="25000"/>
            </a:schemeClr>
          </a:solidFill>
        </p:spPr>
        <p:txBody>
          <a:bodyPr/>
          <a:lstStyle/>
          <a:p>
            <a:r>
              <a:rPr lang="en-US" dirty="0"/>
              <a:t>Bhavya Sinha</a:t>
            </a:r>
          </a:p>
        </p:txBody>
      </p:sp>
      <p:pic>
        <p:nvPicPr>
          <p:cNvPr id="8" name="Graphic 7" descr="User" title="Icon - Presenter Name">
            <a:extLst>
              <a:ext uri="{FF2B5EF4-FFF2-40B4-BE49-F238E27FC236}">
                <a16:creationId xmlns:a16="http://schemas.microsoft.com/office/drawing/2014/main" id="{111541C4-DB03-4E53-994D-499C7D73C4DF}"/>
              </a:ext>
            </a:extLst>
          </p:cNvPr>
          <p:cNvPicPr>
            <a:picLocks noChangeAspect="1"/>
          </p:cNvPicPr>
          <p:nvPr/>
        </p:nvPicPr>
        <p:blipFill>
          <a:blip r:embed="rId3" cstate="screen">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11485495" y="4006655"/>
            <a:ext cx="218900" cy="218900"/>
          </a:xfrm>
          <a:prstGeom prst="rect">
            <a:avLst/>
          </a:prstGeom>
        </p:spPr>
      </p:pic>
      <p:sp>
        <p:nvSpPr>
          <p:cNvPr id="5" name="Text Placeholder 4">
            <a:extLst>
              <a:ext uri="{FF2B5EF4-FFF2-40B4-BE49-F238E27FC236}">
                <a16:creationId xmlns:a16="http://schemas.microsoft.com/office/drawing/2014/main" id="{11265965-2271-4C1C-BD0A-6F85F80FF9A6}"/>
              </a:ext>
            </a:extLst>
          </p:cNvPr>
          <p:cNvSpPr>
            <a:spLocks noGrp="1"/>
          </p:cNvSpPr>
          <p:nvPr>
            <p:ph type="body" sz="quarter" idx="16"/>
          </p:nvPr>
        </p:nvSpPr>
        <p:spPr>
          <a:solidFill>
            <a:schemeClr val="tx1">
              <a:lumMod val="75000"/>
              <a:lumOff val="25000"/>
            </a:schemeClr>
          </a:solidFill>
        </p:spPr>
        <p:txBody>
          <a:bodyPr/>
          <a:lstStyle/>
          <a:p>
            <a:r>
              <a:rPr lang="en-US" dirty="0"/>
              <a:t>+91 9818443695</a:t>
            </a:r>
          </a:p>
        </p:txBody>
      </p:sp>
      <p:pic>
        <p:nvPicPr>
          <p:cNvPr id="10" name="Graphic 9" descr="Smart Phone" title="Icon - Presenter Phone Number">
            <a:extLst>
              <a:ext uri="{FF2B5EF4-FFF2-40B4-BE49-F238E27FC236}">
                <a16:creationId xmlns:a16="http://schemas.microsoft.com/office/drawing/2014/main" id="{A29DE31C-E099-4579-BB03-675E0A40C5F2}"/>
              </a:ext>
            </a:extLst>
          </p:cNvPr>
          <p:cNvPicPr>
            <a:picLocks noChangeAspect="1"/>
          </p:cNvPicPr>
          <p:nvPr/>
        </p:nvPicPr>
        <p:blipFill>
          <a:blip r:embed="rId5" cstate="screen">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11485495" y="4355103"/>
            <a:ext cx="218900" cy="218900"/>
          </a:xfrm>
          <a:prstGeom prst="rect">
            <a:avLst/>
          </a:prstGeom>
        </p:spPr>
      </p:pic>
      <p:sp>
        <p:nvSpPr>
          <p:cNvPr id="6" name="Text Placeholder 5">
            <a:extLst>
              <a:ext uri="{FF2B5EF4-FFF2-40B4-BE49-F238E27FC236}">
                <a16:creationId xmlns:a16="http://schemas.microsoft.com/office/drawing/2014/main" id="{50A3BCC3-A277-4C0B-9EBA-EB53990D8EBD}"/>
              </a:ext>
            </a:extLst>
          </p:cNvPr>
          <p:cNvSpPr>
            <a:spLocks noGrp="1"/>
          </p:cNvSpPr>
          <p:nvPr>
            <p:ph type="body" sz="quarter" idx="17"/>
          </p:nvPr>
        </p:nvSpPr>
        <p:spPr>
          <a:solidFill>
            <a:schemeClr val="tx1">
              <a:lumMod val="75000"/>
              <a:lumOff val="25000"/>
            </a:schemeClr>
          </a:solidFill>
        </p:spPr>
        <p:txBody>
          <a:bodyPr/>
          <a:lstStyle/>
          <a:p>
            <a:r>
              <a:rPr lang="en-US" dirty="0"/>
              <a:t>bhavya3154@outlook.com</a:t>
            </a:r>
          </a:p>
        </p:txBody>
      </p:sp>
      <p:pic>
        <p:nvPicPr>
          <p:cNvPr id="9" name="Graphic 8" descr="Envelope" title="Icon Presenter Email">
            <a:extLst>
              <a:ext uri="{FF2B5EF4-FFF2-40B4-BE49-F238E27FC236}">
                <a16:creationId xmlns:a16="http://schemas.microsoft.com/office/drawing/2014/main" id="{773C1382-ACE1-460F-A1B6-AB761A7D2E6B}"/>
              </a:ext>
            </a:extLst>
          </p:cNvPr>
          <p:cNvPicPr>
            <a:picLocks noChangeAspect="1"/>
          </p:cNvPicPr>
          <p:nvPr/>
        </p:nvPicPr>
        <p:blipFill>
          <a:blip r:embed="rId7" cstate="screen">
            <a:extLst>
              <a:ext uri="{28A0092B-C50C-407E-A947-70E740481C1C}">
                <a14:useLocalDpi xmlns:a14="http://schemas.microsoft.com/office/drawing/2010/main"/>
              </a:ext>
              <a:ext uri="{96DAC541-7B7A-43D3-8B79-37D633B846F1}">
                <asvg:svgBlip xmlns:asvg="http://schemas.microsoft.com/office/drawing/2016/SVG/main" r:embed="rId8"/>
              </a:ext>
            </a:extLst>
          </a:blip>
          <a:stretch>
            <a:fillRect/>
          </a:stretch>
        </p:blipFill>
        <p:spPr>
          <a:xfrm>
            <a:off x="11485495" y="4703551"/>
            <a:ext cx="218900" cy="218900"/>
          </a:xfrm>
          <a:prstGeom prst="rect">
            <a:avLst/>
          </a:prstGeom>
        </p:spPr>
      </p:pic>
      <p:sp>
        <p:nvSpPr>
          <p:cNvPr id="16" name="Text Placeholder 15">
            <a:extLst>
              <a:ext uri="{FF2B5EF4-FFF2-40B4-BE49-F238E27FC236}">
                <a16:creationId xmlns:a16="http://schemas.microsoft.com/office/drawing/2014/main" id="{FD8A1232-50A8-4535-AAF9-7F4180EAA0DD}"/>
              </a:ext>
            </a:extLst>
          </p:cNvPr>
          <p:cNvSpPr>
            <a:spLocks noGrp="1"/>
          </p:cNvSpPr>
          <p:nvPr>
            <p:ph type="body" sz="quarter" idx="18"/>
          </p:nvPr>
        </p:nvSpPr>
        <p:spPr>
          <a:solidFill>
            <a:schemeClr val="tx1">
              <a:lumMod val="75000"/>
              <a:lumOff val="25000"/>
            </a:schemeClr>
          </a:solidFill>
        </p:spPr>
        <p:txBody>
          <a:bodyPr/>
          <a:lstStyle/>
          <a:p>
            <a:r>
              <a:rPr lang="en-US" dirty="0">
                <a:hlinkClick r:id="rId9"/>
              </a:rPr>
              <a:t>LinkedIn</a:t>
            </a:r>
            <a:endParaRPr lang="en-US" dirty="0"/>
          </a:p>
        </p:txBody>
      </p:sp>
      <p:pic>
        <p:nvPicPr>
          <p:cNvPr id="11" name="Graphic 10" descr="Link">
            <a:extLst>
              <a:ext uri="{FF2B5EF4-FFF2-40B4-BE49-F238E27FC236}">
                <a16:creationId xmlns:a16="http://schemas.microsoft.com/office/drawing/2014/main" id="{0718E6E0-05A2-479C-AEA8-1A385EB73474}"/>
              </a:ext>
            </a:extLst>
          </p:cNvPr>
          <p:cNvPicPr>
            <a:picLocks noChangeAspect="1"/>
          </p:cNvPicPr>
          <p:nvPr/>
        </p:nvPicPr>
        <p:blipFill>
          <a:blip r:embed="rId10" cstate="screen">
            <a:extLst>
              <a:ext uri="{28A0092B-C50C-407E-A947-70E740481C1C}">
                <a14:useLocalDpi xmlns:a14="http://schemas.microsoft.com/office/drawing/2010/main"/>
              </a:ext>
              <a:ext uri="{96DAC541-7B7A-43D3-8B79-37D633B846F1}">
                <asvg:svgBlip xmlns:asvg="http://schemas.microsoft.com/office/drawing/2016/SVG/main" r:embed="rId11"/>
              </a:ext>
            </a:extLst>
          </a:blip>
          <a:stretch>
            <a:fillRect/>
          </a:stretch>
        </p:blipFill>
        <p:spPr>
          <a:xfrm>
            <a:off x="11472552" y="5040763"/>
            <a:ext cx="244786" cy="244786"/>
          </a:xfrm>
          <a:prstGeom prst="rect">
            <a:avLst/>
          </a:prstGeom>
        </p:spPr>
      </p:pic>
      <p:sp>
        <p:nvSpPr>
          <p:cNvPr id="12" name="Slide Number Placeholder 11">
            <a:extLst>
              <a:ext uri="{FF2B5EF4-FFF2-40B4-BE49-F238E27FC236}">
                <a16:creationId xmlns:a16="http://schemas.microsoft.com/office/drawing/2014/main" id="{91814EC9-246A-4C6E-941E-5774FE72F08E}"/>
              </a:ext>
            </a:extLst>
          </p:cNvPr>
          <p:cNvSpPr>
            <a:spLocks noGrp="1"/>
          </p:cNvSpPr>
          <p:nvPr>
            <p:ph type="sldNum" sz="quarter" idx="20"/>
          </p:nvPr>
        </p:nvSpPr>
        <p:spPr>
          <a:solidFill>
            <a:schemeClr val="tx1">
              <a:lumMod val="95000"/>
              <a:lumOff val="5000"/>
            </a:schemeClr>
          </a:solidFill>
        </p:spPr>
        <p:txBody>
          <a:bodyPr/>
          <a:lstStyle/>
          <a:p>
            <a:fld id="{19B51A1E-902D-48AF-9020-955120F399B6}" type="slidenum">
              <a:rPr lang="en-US" smtClean="0"/>
              <a:pPr/>
              <a:t>47</a:t>
            </a:fld>
            <a:endParaRPr lang="en-US" dirty="0"/>
          </a:p>
        </p:txBody>
      </p:sp>
      <p:sp>
        <p:nvSpPr>
          <p:cNvPr id="13" name="Rectangle 12">
            <a:extLst>
              <a:ext uri="{FF2B5EF4-FFF2-40B4-BE49-F238E27FC236}">
                <a16:creationId xmlns:a16="http://schemas.microsoft.com/office/drawing/2014/main" id="{21F316A9-F64D-41AA-9FE2-41CDD65B73DA}"/>
              </a:ext>
            </a:extLst>
          </p:cNvPr>
          <p:cNvSpPr/>
          <p:nvPr/>
        </p:nvSpPr>
        <p:spPr>
          <a:xfrm>
            <a:off x="9775824" y="6371350"/>
            <a:ext cx="1984136" cy="432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4153678306"/>
      </p:ext>
    </p:extLst>
  </p:cSld>
  <p:clrMapOvr>
    <a:masterClrMapping/>
  </p:clrMapOvr>
</p:sld>
</file>

<file path=ppt/theme/theme1.xml><?xml version="1.0" encoding="utf-8"?>
<a:theme xmlns:a="http://schemas.openxmlformats.org/drawingml/2006/main" name="Custom">
  <a:themeElements>
    <a:clrScheme name="Custom 129">
      <a:dk1>
        <a:sysClr val="windowText" lastClr="000000"/>
      </a:dk1>
      <a:lt1>
        <a:srgbClr val="FFFFFF"/>
      </a:lt1>
      <a:dk2>
        <a:srgbClr val="3F3F3F"/>
      </a:dk2>
      <a:lt2>
        <a:srgbClr val="F2F2F2"/>
      </a:lt2>
      <a:accent1>
        <a:srgbClr val="25C6E3"/>
      </a:accent1>
      <a:accent2>
        <a:srgbClr val="E80554"/>
      </a:accent2>
      <a:accent3>
        <a:srgbClr val="A9E26F"/>
      </a:accent3>
      <a:accent4>
        <a:srgbClr val="EAD000"/>
      </a:accent4>
      <a:accent5>
        <a:srgbClr val="1A0F49"/>
      </a:accent5>
      <a:accent6>
        <a:srgbClr val="FF4A01"/>
      </a:accent6>
      <a:hlink>
        <a:srgbClr val="25C6E3"/>
      </a:hlink>
      <a:folHlink>
        <a:srgbClr val="25C6E3"/>
      </a:folHlink>
    </a:clrScheme>
    <a:fontScheme name="Custom 149">
      <a:majorFont>
        <a:latin typeface="Corbel"/>
        <a:ea typeface=""/>
        <a:cs typeface=""/>
      </a:majorFont>
      <a:minorFont>
        <a:latin typeface="Candar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TF16411250_Bright business presentation_AAS_v3" id="{675E8371-EC70-4345-8B64-A71003B56298}" vid="{0F92AA19-00D6-4C71-B13F-219D7994A0B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MediaServiceKeyPoints xmlns="71af3243-3dd4-4a8d-8c0d-dd76da1f02a5" xsi:nil="true"/>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7" ma:contentTypeDescription="Create a new document." ma:contentTypeScope="" ma:versionID="c6f9a84f66a9c8b9a21755b9ffafb945">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27df39e3e7036dff54f89ddd5805ce72"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BF90D0D0-7C1D-47FF-A2F0-9937AA567A3D}">
  <ds:schemaRefs>
    <ds:schemaRef ds:uri="http://schemas.microsoft.com/office/2006/metadata/properties"/>
    <ds:schemaRef ds:uri="http://schemas.microsoft.com/office/infopath/2007/PartnerControls"/>
    <ds:schemaRef ds:uri="71af3243-3dd4-4a8d-8c0d-dd76da1f02a5"/>
    <ds:schemaRef ds:uri="http://schemas.microsoft.com/sharepoint/v3"/>
    <ds:schemaRef ds:uri="230e9df3-be65-4c73-a93b-d1236ebd677e"/>
  </ds:schemaRefs>
</ds:datastoreItem>
</file>

<file path=customXml/itemProps2.xml><?xml version="1.0" encoding="utf-8"?>
<ds:datastoreItem xmlns:ds="http://schemas.openxmlformats.org/officeDocument/2006/customXml" ds:itemID="{B8E15EA0-2F38-456B-B156-038699A5D17F}">
  <ds:schemaRefs>
    <ds:schemaRef ds:uri="http://schemas.microsoft.com/sharepoint/v3/contenttype/forms"/>
  </ds:schemaRefs>
</ds:datastoreItem>
</file>

<file path=customXml/itemProps3.xml><?xml version="1.0" encoding="utf-8"?>
<ds:datastoreItem xmlns:ds="http://schemas.openxmlformats.org/officeDocument/2006/customXml" ds:itemID="{1C245E38-7A2C-4D38-96FA-24EAC5F220C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Bright business presentation</Template>
  <TotalTime>855</TotalTime>
  <Words>7359</Words>
  <Application>Microsoft Office PowerPoint</Application>
  <PresentationFormat>Widescreen</PresentationFormat>
  <Paragraphs>477</Paragraphs>
  <Slides>47</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47</vt:i4>
      </vt:variant>
    </vt:vector>
  </HeadingPairs>
  <TitlesOfParts>
    <vt:vector size="54" baseType="lpstr">
      <vt:lpstr>Arial</vt:lpstr>
      <vt:lpstr>Calibri</vt:lpstr>
      <vt:lpstr>Candara</vt:lpstr>
      <vt:lpstr>Corbel</vt:lpstr>
      <vt:lpstr>Symbol</vt:lpstr>
      <vt:lpstr>Times New Roman</vt:lpstr>
      <vt:lpstr>Custom</vt:lpstr>
      <vt:lpstr>Term  Deposit  Subscription  Prediction</vt:lpstr>
      <vt:lpstr>About the Project</vt:lpstr>
      <vt:lpstr>The Dataset</vt:lpstr>
      <vt:lpstr>Summary Statistics &amp; Analysis</vt:lpstr>
      <vt:lpstr>Summary Statistics</vt:lpstr>
      <vt:lpstr>Insights – Industry Figures vs Figures in Hand</vt:lpstr>
      <vt:lpstr>Deriving Preliminary Observations</vt:lpstr>
      <vt:lpstr>Analysis, Interpretation and Recommendations</vt:lpstr>
      <vt:lpstr>Primary Visualisations</vt:lpstr>
      <vt:lpstr>Distribution of Clients by Age</vt:lpstr>
      <vt:lpstr>Distribution of Clients by Job Type</vt:lpstr>
      <vt:lpstr>Distribution of Clients by Marital Status</vt:lpstr>
      <vt:lpstr>Distribution of Clients by Education Level</vt:lpstr>
      <vt:lpstr>Clients with Credit in Default</vt:lpstr>
      <vt:lpstr>Average Annual Balance </vt:lpstr>
      <vt:lpstr>Clients with Housing Loans</vt:lpstr>
      <vt:lpstr>Clients with Personal Loans</vt:lpstr>
      <vt:lpstr>Communication Channels Used</vt:lpstr>
      <vt:lpstr>Distribution of Last Contact Day</vt:lpstr>
      <vt:lpstr>Distribution of Last Contact Month</vt:lpstr>
      <vt:lpstr>Duration of the Last Contact</vt:lpstr>
      <vt:lpstr>Number of Contacts During the Campaign</vt:lpstr>
      <vt:lpstr>Number of Days Since Last Contact</vt:lpstr>
      <vt:lpstr>Number of Contacts Before the Campaign</vt:lpstr>
      <vt:lpstr>Outcomes of the Previous Campaign</vt:lpstr>
      <vt:lpstr>Clients Subscribed to Term Deposit</vt:lpstr>
      <vt:lpstr>Correlation Matrix Heatmap</vt:lpstr>
      <vt:lpstr>Correlation Matrix Heatmap</vt:lpstr>
      <vt:lpstr>Additional Visualisations</vt:lpstr>
      <vt:lpstr>Age vs Subscription to Term Deposit</vt:lpstr>
      <vt:lpstr>Education Level vs Term Deposit</vt:lpstr>
      <vt:lpstr>Job Type vs  Term Deposit</vt:lpstr>
      <vt:lpstr>Subscription Rate by Month</vt:lpstr>
      <vt:lpstr>Contract Duration vs Term Deposit</vt:lpstr>
      <vt:lpstr>Balance vs Term Deposit</vt:lpstr>
      <vt:lpstr>Multiple Loans vs Term Deposit</vt:lpstr>
      <vt:lpstr>Contact Method vs Term Deposit</vt:lpstr>
      <vt:lpstr>Average Balance by Job Type</vt:lpstr>
      <vt:lpstr>Subscription Rate by Age Group</vt:lpstr>
      <vt:lpstr>Subscription Rate by Education Level</vt:lpstr>
      <vt:lpstr>Subscription Rate by Marital Status</vt:lpstr>
      <vt:lpstr>Average Contact Duration by Method</vt:lpstr>
      <vt:lpstr>Subscription Rate by Housing Loans</vt:lpstr>
      <vt:lpstr>Subscription Rate by Personal Loans</vt:lpstr>
      <vt:lpstr>Summary and Conclusion</vt:lpstr>
      <vt:lpstr>Summary and Conclusion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Banking Dataset Analysis</dc:title>
  <dc:creator>HP</dc:creator>
  <cp:lastModifiedBy>Bhavya Sinha</cp:lastModifiedBy>
  <cp:revision>47</cp:revision>
  <dcterms:created xsi:type="dcterms:W3CDTF">2024-07-29T17:54:51Z</dcterms:created>
  <dcterms:modified xsi:type="dcterms:W3CDTF">2025-12-14T20:05:11Z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